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0" r:id="rId2"/>
    <p:sldMasterId id="2147483674" r:id="rId3"/>
  </p:sldMasterIdLst>
  <p:notesMasterIdLst>
    <p:notesMasterId r:id="rId16"/>
  </p:notesMasterIdLst>
  <p:sldIdLst>
    <p:sldId id="256" r:id="rId4"/>
    <p:sldId id="262" r:id="rId5"/>
    <p:sldId id="263" r:id="rId6"/>
    <p:sldId id="261" r:id="rId7"/>
    <p:sldId id="275" r:id="rId8"/>
    <p:sldId id="309" r:id="rId9"/>
    <p:sldId id="723" r:id="rId10"/>
    <p:sldId id="266" r:id="rId11"/>
    <p:sldId id="260" r:id="rId12"/>
    <p:sldId id="308" r:id="rId13"/>
    <p:sldId id="724" r:id="rId14"/>
    <p:sldId id="72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89"/>
    <p:restoredTop sz="87671"/>
  </p:normalViewPr>
  <p:slideViewPr>
    <p:cSldViewPr snapToGrid="0" snapToObjects="1">
      <p:cViewPr varScale="1">
        <p:scale>
          <a:sx n="111" d="100"/>
          <a:sy n="111" d="100"/>
        </p:scale>
        <p:origin x="1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-69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A2E994-B0ED-0A4E-A831-9F7B66D696A3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1A4D2B-9145-8640-AE21-E479860AD7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155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25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13A5-C14E-F6BD-A34C-7C56FB2E4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3F5AD-5752-1BFC-BC96-7A78906F8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F77A9A-D939-C36F-6EE0-C3547940E0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4682D-0770-1CF5-70B2-A3BDAE6A2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126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BBE84-E970-D18A-A564-9818E8D57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737B8-F037-ABBD-DAAD-1C6118A4B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8A398-12D4-BC7D-AAB5-165CE96917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9928F-C93E-5A04-93CC-552CA293A6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47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904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668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261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67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43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70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056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30BBD-B0DA-BFE4-7C8E-05B966116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4C5B1-53AC-6EC9-9694-1822E23E5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411ED-9554-8F7F-9B6D-97BB2280C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70EB-E393-EADB-C874-D9D0C3559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01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EDD83-A4BC-1865-3CDA-7568982C4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ED5A7-EE6D-1F87-A8CB-B442B0D91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17B26E-498C-79D3-B9A9-4460C3C9F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Updated 2024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11B44-F6AA-F42F-F671-65C7595C9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1A4D2B-9145-8640-AE21-E479860AD72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0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No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24709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Boats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626597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Turtle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91310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eafood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864681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Fish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en-US" dirty="0"/>
              <a:t>July 19, 2012</a:t>
            </a:r>
          </a:p>
        </p:txBody>
      </p:sp>
    </p:spTree>
    <p:extLst>
      <p:ext uri="{BB962C8B-B14F-4D97-AF65-F5344CB8AC3E}">
        <p14:creationId xmlns:p14="http://schemas.microsoft.com/office/powerpoint/2010/main" val="2678529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Dark">
    <p:bg>
      <p:bgPr>
        <a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269317" y="2707458"/>
            <a:ext cx="7313083" cy="122443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18067" y="3118591"/>
            <a:ext cx="1725084" cy="752475"/>
          </a:xfrm>
        </p:spPr>
        <p:txBody>
          <a:bodyPr lIns="0" tIns="0" rIns="0" bIns="0">
            <a:norm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Regional Unit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4269317" y="4282303"/>
            <a:ext cx="7313083" cy="577850"/>
          </a:xfrm>
        </p:spPr>
        <p:txBody>
          <a:bodyPr>
            <a:normAutofit/>
          </a:bodyPr>
          <a:lstStyle>
            <a:lvl1pPr>
              <a:defRPr sz="18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dirty="0"/>
              <a:t>July 19, 2012</a:t>
            </a:r>
          </a:p>
        </p:txBody>
      </p:sp>
      <p:sp>
        <p:nvSpPr>
          <p:cNvPr id="7" name="Freeform 6"/>
          <p:cNvSpPr/>
          <p:nvPr/>
        </p:nvSpPr>
        <p:spPr>
          <a:xfrm>
            <a:off x="-12253" y="4417161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965149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DE65052-80B5-D141-90BA-19CA8E22EBCD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F4A1433-DF31-E847-87B2-2D278BA6D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613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DE65052-80B5-D141-90BA-19CA8E22EBCD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F4A1433-DF31-E847-87B2-2D278BA6D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3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70BC3-F8B0-AB46-907C-AD258F352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60836-6EFD-9544-9200-5470F99F8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01848-9FC8-AA44-A1AF-40D764705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5052-80B5-D141-90BA-19CA8E22EBCD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FB5FD-7D8B-D045-92A0-F7EF5FC97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2942A-35E5-DC4A-B220-4DA941DF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A1433-DF31-E847-87B2-2D278BA6D1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6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3FFE5A4-DFEE-4EDF-87CD-A33ADA52845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6C6FAA7-E426-4F7E-8C8A-64E11EFE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9892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3FFE5A4-DFEE-4EDF-87CD-A33ADA528450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16C6FAA7-E426-4F7E-8C8A-64E11EFE5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0290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E5C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 flipH="1" flipV="1">
            <a:off x="-1" y="-24487"/>
            <a:ext cx="12184781" cy="2515079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  <a:gd name="connsiteX0" fmla="*/ 2887 w 9170673"/>
              <a:gd name="connsiteY0" fmla="*/ 2375696 h 2508024"/>
              <a:gd name="connsiteX1" fmla="*/ 9170673 w 9170673"/>
              <a:gd name="connsiteY1" fmla="*/ 0 h 2508024"/>
              <a:gd name="connsiteX2" fmla="*/ 9169295 w 9170673"/>
              <a:gd name="connsiteY2" fmla="*/ 2508024 h 2508024"/>
              <a:gd name="connsiteX3" fmla="*/ 0 w 9170673"/>
              <a:gd name="connsiteY3" fmla="*/ 2457785 h 2508024"/>
              <a:gd name="connsiteX4" fmla="*/ 2887 w 9170673"/>
              <a:gd name="connsiteY4" fmla="*/ 2375696 h 2508024"/>
              <a:gd name="connsiteX0" fmla="*/ 0 w 9167786"/>
              <a:gd name="connsiteY0" fmla="*/ 2375696 h 2508024"/>
              <a:gd name="connsiteX1" fmla="*/ 9167786 w 9167786"/>
              <a:gd name="connsiteY1" fmla="*/ 0 h 2508024"/>
              <a:gd name="connsiteX2" fmla="*/ 9166408 w 9167786"/>
              <a:gd name="connsiteY2" fmla="*/ 2508024 h 2508024"/>
              <a:gd name="connsiteX3" fmla="*/ 4169 w 9167786"/>
              <a:gd name="connsiteY3" fmla="*/ 2500118 h 2508024"/>
              <a:gd name="connsiteX4" fmla="*/ 0 w 9167786"/>
              <a:gd name="connsiteY4" fmla="*/ 2375696 h 2508024"/>
              <a:gd name="connsiteX0" fmla="*/ 0 w 9166452"/>
              <a:gd name="connsiteY0" fmla="*/ 2375696 h 2508024"/>
              <a:gd name="connsiteX1" fmla="*/ 9061952 w 9166452"/>
              <a:gd name="connsiteY1" fmla="*/ 0 h 2508024"/>
              <a:gd name="connsiteX2" fmla="*/ 9166408 w 9166452"/>
              <a:gd name="connsiteY2" fmla="*/ 2508024 h 2508024"/>
              <a:gd name="connsiteX3" fmla="*/ 4169 w 9166452"/>
              <a:gd name="connsiteY3" fmla="*/ 2500118 h 2508024"/>
              <a:gd name="connsiteX4" fmla="*/ 0 w 9166452"/>
              <a:gd name="connsiteY4" fmla="*/ 2375696 h 2508024"/>
              <a:gd name="connsiteX0" fmla="*/ 0 w 9166808"/>
              <a:gd name="connsiteY0" fmla="*/ 2382751 h 2515079"/>
              <a:gd name="connsiteX1" fmla="*/ 9160729 w 9166808"/>
              <a:gd name="connsiteY1" fmla="*/ 0 h 2515079"/>
              <a:gd name="connsiteX2" fmla="*/ 9166408 w 9166808"/>
              <a:gd name="connsiteY2" fmla="*/ 2515079 h 2515079"/>
              <a:gd name="connsiteX3" fmla="*/ 4169 w 9166808"/>
              <a:gd name="connsiteY3" fmla="*/ 2507173 h 2515079"/>
              <a:gd name="connsiteX4" fmla="*/ 0 w 9166808"/>
              <a:gd name="connsiteY4" fmla="*/ 2382751 h 2515079"/>
              <a:gd name="connsiteX0" fmla="*/ 9943 w 9162640"/>
              <a:gd name="connsiteY0" fmla="*/ 2382751 h 2515079"/>
              <a:gd name="connsiteX1" fmla="*/ 9156561 w 9162640"/>
              <a:gd name="connsiteY1" fmla="*/ 0 h 2515079"/>
              <a:gd name="connsiteX2" fmla="*/ 9162240 w 9162640"/>
              <a:gd name="connsiteY2" fmla="*/ 2515079 h 2515079"/>
              <a:gd name="connsiteX3" fmla="*/ 1 w 9162640"/>
              <a:gd name="connsiteY3" fmla="*/ 2507173 h 2515079"/>
              <a:gd name="connsiteX4" fmla="*/ 9943 w 9162640"/>
              <a:gd name="connsiteY4" fmla="*/ 2382751 h 2515079"/>
              <a:gd name="connsiteX0" fmla="*/ 0 w 9152697"/>
              <a:gd name="connsiteY0" fmla="*/ 2382751 h 2515079"/>
              <a:gd name="connsiteX1" fmla="*/ 9146618 w 9152697"/>
              <a:gd name="connsiteY1" fmla="*/ 0 h 2515079"/>
              <a:gd name="connsiteX2" fmla="*/ 9152297 w 9152697"/>
              <a:gd name="connsiteY2" fmla="*/ 2515079 h 2515079"/>
              <a:gd name="connsiteX3" fmla="*/ 187614 w 9152697"/>
              <a:gd name="connsiteY3" fmla="*/ 2507173 h 2515079"/>
              <a:gd name="connsiteX4" fmla="*/ 0 w 9152697"/>
              <a:gd name="connsiteY4" fmla="*/ 2382751 h 2515079"/>
              <a:gd name="connsiteX0" fmla="*/ 0 w 9068030"/>
              <a:gd name="connsiteY0" fmla="*/ 2382751 h 2515079"/>
              <a:gd name="connsiteX1" fmla="*/ 9061951 w 9068030"/>
              <a:gd name="connsiteY1" fmla="*/ 0 h 2515079"/>
              <a:gd name="connsiteX2" fmla="*/ 9067630 w 9068030"/>
              <a:gd name="connsiteY2" fmla="*/ 2515079 h 2515079"/>
              <a:gd name="connsiteX3" fmla="*/ 102947 w 9068030"/>
              <a:gd name="connsiteY3" fmla="*/ 2507173 h 2515079"/>
              <a:gd name="connsiteX4" fmla="*/ 0 w 9068030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173503 w 9138586"/>
              <a:gd name="connsiteY3" fmla="*/ 2507173 h 2515079"/>
              <a:gd name="connsiteX4" fmla="*/ 0 w 9138586"/>
              <a:gd name="connsiteY4" fmla="*/ 2382751 h 2515079"/>
              <a:gd name="connsiteX0" fmla="*/ 0 w 9138586"/>
              <a:gd name="connsiteY0" fmla="*/ 2382751 h 2515079"/>
              <a:gd name="connsiteX1" fmla="*/ 9132507 w 9138586"/>
              <a:gd name="connsiteY1" fmla="*/ 0 h 2515079"/>
              <a:gd name="connsiteX2" fmla="*/ 9138186 w 9138586"/>
              <a:gd name="connsiteY2" fmla="*/ 2515079 h 2515079"/>
              <a:gd name="connsiteX3" fmla="*/ 4170 w 9138586"/>
              <a:gd name="connsiteY3" fmla="*/ 2507173 h 2515079"/>
              <a:gd name="connsiteX4" fmla="*/ 0 w 9138586"/>
              <a:gd name="connsiteY4" fmla="*/ 2382751 h 2515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38586" h="2515079">
                <a:moveTo>
                  <a:pt x="0" y="2382751"/>
                </a:moveTo>
                <a:cubicBezTo>
                  <a:pt x="20661" y="2379422"/>
                  <a:pt x="7306149" y="2502055"/>
                  <a:pt x="9132507" y="0"/>
                </a:cubicBezTo>
                <a:cubicBezTo>
                  <a:pt x="9129925" y="819774"/>
                  <a:pt x="9140768" y="1695305"/>
                  <a:pt x="9138186" y="2515079"/>
                </a:cubicBezTo>
                <a:lnTo>
                  <a:pt x="4170" y="2507173"/>
                </a:lnTo>
                <a:cubicBezTo>
                  <a:pt x="4169" y="2465011"/>
                  <a:pt x="1" y="2424913"/>
                  <a:pt x="0" y="2382751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599" y="457169"/>
            <a:ext cx="10972800" cy="772250"/>
          </a:xfrm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5623"/>
            <a:ext cx="10972800" cy="1500187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011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>
          <a:xfrm flipH="1" flipV="1">
            <a:off x="-25423" y="-30696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1">
              <a:alpha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599" y="457200"/>
            <a:ext cx="10972800" cy="7722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algn="l">
              <a:defRPr sz="4000" b="1" cap="none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5654"/>
            <a:ext cx="10972800" cy="15001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t" anchorCtr="0"/>
          <a:lstStyle>
            <a:lvl1pPr marL="0" indent="0" algn="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466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8909" y="1141666"/>
            <a:ext cx="7313491" cy="139847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8910" y="2631404"/>
            <a:ext cx="7313489" cy="1277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Freeform 6"/>
          <p:cNvSpPr/>
          <p:nvPr/>
        </p:nvSpPr>
        <p:spPr>
          <a:xfrm>
            <a:off x="-12253" y="4417161"/>
            <a:ext cx="12227564" cy="2457785"/>
          </a:xfrm>
          <a:custGeom>
            <a:avLst/>
            <a:gdLst>
              <a:gd name="connsiteX0" fmla="*/ 0 w 10289745"/>
              <a:gd name="connsiteY0" fmla="*/ 2348314 h 2694297"/>
              <a:gd name="connsiteX1" fmla="*/ 9145997 w 10289745"/>
              <a:gd name="connsiteY1" fmla="*/ 81 h 2694297"/>
              <a:gd name="connsiteX2" fmla="*/ 9145997 w 10289745"/>
              <a:gd name="connsiteY2" fmla="*/ 2436173 h 2694297"/>
              <a:gd name="connsiteX3" fmla="*/ 0 w 10289745"/>
              <a:gd name="connsiteY3" fmla="*/ 2348314 h 2694297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0 w 10289745"/>
              <a:gd name="connsiteY0" fmla="*/ 2348233 h 2694216"/>
              <a:gd name="connsiteX1" fmla="*/ 9145997 w 10289745"/>
              <a:gd name="connsiteY1" fmla="*/ 0 h 2694216"/>
              <a:gd name="connsiteX2" fmla="*/ 9145997 w 10289745"/>
              <a:gd name="connsiteY2" fmla="*/ 2436092 h 2694216"/>
              <a:gd name="connsiteX3" fmla="*/ 0 w 10289745"/>
              <a:gd name="connsiteY3" fmla="*/ 2348233 h 2694216"/>
              <a:gd name="connsiteX0" fmla="*/ 2 w 10271923"/>
              <a:gd name="connsiteY0" fmla="*/ 1961048 h 2259210"/>
              <a:gd name="connsiteX1" fmla="*/ 9115022 w 10271923"/>
              <a:gd name="connsiteY1" fmla="*/ 0 h 2259210"/>
              <a:gd name="connsiteX2" fmla="*/ 9145999 w 10271923"/>
              <a:gd name="connsiteY2" fmla="*/ 2048907 h 2259210"/>
              <a:gd name="connsiteX3" fmla="*/ 2 w 10271923"/>
              <a:gd name="connsiteY3" fmla="*/ 1961048 h 2259210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2 w 10302372"/>
              <a:gd name="connsiteY0" fmla="*/ 2355976 h 2702917"/>
              <a:gd name="connsiteX1" fmla="*/ 9169232 w 10302372"/>
              <a:gd name="connsiteY1" fmla="*/ 0 h 2702917"/>
              <a:gd name="connsiteX2" fmla="*/ 9145999 w 10302372"/>
              <a:gd name="connsiteY2" fmla="*/ 2443835 h 2702917"/>
              <a:gd name="connsiteX3" fmla="*/ 2 w 10302372"/>
              <a:gd name="connsiteY3" fmla="*/ 2355976 h 2702917"/>
              <a:gd name="connsiteX0" fmla="*/ 1 w 10359948"/>
              <a:gd name="connsiteY0" fmla="*/ 2534080 h 2803153"/>
              <a:gd name="connsiteX1" fmla="*/ 9223441 w 10359948"/>
              <a:gd name="connsiteY1" fmla="*/ 0 h 2803153"/>
              <a:gd name="connsiteX2" fmla="*/ 9200208 w 10359948"/>
              <a:gd name="connsiteY2" fmla="*/ 2443835 h 2803153"/>
              <a:gd name="connsiteX3" fmla="*/ 1 w 10359948"/>
              <a:gd name="connsiteY3" fmla="*/ 2534080 h 2803153"/>
              <a:gd name="connsiteX0" fmla="*/ 2 w 10302373"/>
              <a:gd name="connsiteY0" fmla="*/ 2371463 h 2710654"/>
              <a:gd name="connsiteX1" fmla="*/ 9169233 w 10302373"/>
              <a:gd name="connsiteY1" fmla="*/ 0 h 2710654"/>
              <a:gd name="connsiteX2" fmla="*/ 9146000 w 10302373"/>
              <a:gd name="connsiteY2" fmla="*/ 2443835 h 2710654"/>
              <a:gd name="connsiteX3" fmla="*/ 2 w 10302373"/>
              <a:gd name="connsiteY3" fmla="*/ 2371463 h 2710654"/>
              <a:gd name="connsiteX0" fmla="*/ 22101 w 10324472"/>
              <a:gd name="connsiteY0" fmla="*/ 2371463 h 2601940"/>
              <a:gd name="connsiteX1" fmla="*/ 9191332 w 10324472"/>
              <a:gd name="connsiteY1" fmla="*/ 0 h 2601940"/>
              <a:gd name="connsiteX2" fmla="*/ 9168099 w 10324472"/>
              <a:gd name="connsiteY2" fmla="*/ 2443835 h 2601940"/>
              <a:gd name="connsiteX3" fmla="*/ 22101 w 10324472"/>
              <a:gd name="connsiteY3" fmla="*/ 2371463 h 2601940"/>
              <a:gd name="connsiteX0" fmla="*/ 454248 w 10756619"/>
              <a:gd name="connsiteY0" fmla="*/ 2371463 h 2635640"/>
              <a:gd name="connsiteX1" fmla="*/ 9623479 w 10756619"/>
              <a:gd name="connsiteY1" fmla="*/ 0 h 2635640"/>
              <a:gd name="connsiteX2" fmla="*/ 9600246 w 10756619"/>
              <a:gd name="connsiteY2" fmla="*/ 2443835 h 2635640"/>
              <a:gd name="connsiteX3" fmla="*/ 2243166 w 10756619"/>
              <a:gd name="connsiteY3" fmla="*/ 2466974 h 2635640"/>
              <a:gd name="connsiteX4" fmla="*/ 454248 w 10756619"/>
              <a:gd name="connsiteY4" fmla="*/ 2371463 h 2635640"/>
              <a:gd name="connsiteX0" fmla="*/ 1153431 w 11456764"/>
              <a:gd name="connsiteY0" fmla="*/ 2371463 h 2641277"/>
              <a:gd name="connsiteX1" fmla="*/ 10322662 w 11456764"/>
              <a:gd name="connsiteY1" fmla="*/ 0 h 2641277"/>
              <a:gd name="connsiteX2" fmla="*/ 10299429 w 11456764"/>
              <a:gd name="connsiteY2" fmla="*/ 2443835 h 2641277"/>
              <a:gd name="connsiteX3" fmla="*/ 1137944 w 11456764"/>
              <a:gd name="connsiteY3" fmla="*/ 2482461 h 2641277"/>
              <a:gd name="connsiteX4" fmla="*/ 1153431 w 11456764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641277"/>
              <a:gd name="connsiteX1" fmla="*/ 9184718 w 10318820"/>
              <a:gd name="connsiteY1" fmla="*/ 0 h 2641277"/>
              <a:gd name="connsiteX2" fmla="*/ 9161485 w 10318820"/>
              <a:gd name="connsiteY2" fmla="*/ 2443835 h 2641277"/>
              <a:gd name="connsiteX3" fmla="*/ 0 w 10318820"/>
              <a:gd name="connsiteY3" fmla="*/ 2482461 h 2641277"/>
              <a:gd name="connsiteX4" fmla="*/ 15487 w 10318820"/>
              <a:gd name="connsiteY4" fmla="*/ 2371463 h 2641277"/>
              <a:gd name="connsiteX0" fmla="*/ 15487 w 10318820"/>
              <a:gd name="connsiteY0" fmla="*/ 2371463 h 2482461"/>
              <a:gd name="connsiteX1" fmla="*/ 9184718 w 10318820"/>
              <a:gd name="connsiteY1" fmla="*/ 0 h 2482461"/>
              <a:gd name="connsiteX2" fmla="*/ 9161485 w 10318820"/>
              <a:gd name="connsiteY2" fmla="*/ 2443835 h 2482461"/>
              <a:gd name="connsiteX3" fmla="*/ 0 w 10318820"/>
              <a:gd name="connsiteY3" fmla="*/ 2482461 h 2482461"/>
              <a:gd name="connsiteX4" fmla="*/ 15487 w 10318820"/>
              <a:gd name="connsiteY4" fmla="*/ 2371463 h 2482461"/>
              <a:gd name="connsiteX0" fmla="*/ 15487 w 10252186"/>
              <a:gd name="connsiteY0" fmla="*/ 2371463 h 2482461"/>
              <a:gd name="connsiteX1" fmla="*/ 9184718 w 10252186"/>
              <a:gd name="connsiteY1" fmla="*/ 0 h 2482461"/>
              <a:gd name="connsiteX2" fmla="*/ 9022088 w 10252186"/>
              <a:gd name="connsiteY2" fmla="*/ 2242499 h 2482461"/>
              <a:gd name="connsiteX3" fmla="*/ 0 w 10252186"/>
              <a:gd name="connsiteY3" fmla="*/ 2482461 h 2482461"/>
              <a:gd name="connsiteX4" fmla="*/ 15487 w 10252186"/>
              <a:gd name="connsiteY4" fmla="*/ 2371463 h 2482461"/>
              <a:gd name="connsiteX0" fmla="*/ 15487 w 10311181"/>
              <a:gd name="connsiteY0" fmla="*/ 2371463 h 2482461"/>
              <a:gd name="connsiteX1" fmla="*/ 9184718 w 10311181"/>
              <a:gd name="connsiteY1" fmla="*/ 0 h 2482461"/>
              <a:gd name="connsiteX2" fmla="*/ 9145996 w 10311181"/>
              <a:gd name="connsiteY2" fmla="*/ 2443835 h 2482461"/>
              <a:gd name="connsiteX3" fmla="*/ 0 w 10311181"/>
              <a:gd name="connsiteY3" fmla="*/ 2482461 h 2482461"/>
              <a:gd name="connsiteX4" fmla="*/ 15487 w 10311181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45996 w 9184718"/>
              <a:gd name="connsiteY2" fmla="*/ 2443835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15487 w 9184718"/>
              <a:gd name="connsiteY0" fmla="*/ 2371463 h 2482461"/>
              <a:gd name="connsiteX1" fmla="*/ 9184718 w 9184718"/>
              <a:gd name="connsiteY1" fmla="*/ 0 h 2482461"/>
              <a:gd name="connsiteX2" fmla="*/ 9176973 w 9184718"/>
              <a:gd name="connsiteY2" fmla="*/ 2459323 h 2482461"/>
              <a:gd name="connsiteX3" fmla="*/ 0 w 9184718"/>
              <a:gd name="connsiteY3" fmla="*/ 2482461 h 2482461"/>
              <a:gd name="connsiteX4" fmla="*/ 15487 w 9184718"/>
              <a:gd name="connsiteY4" fmla="*/ 2371463 h 2482461"/>
              <a:gd name="connsiteX0" fmla="*/ 0 w 9215696"/>
              <a:gd name="connsiteY0" fmla="*/ 2371463 h 2482461"/>
              <a:gd name="connsiteX1" fmla="*/ 9215696 w 9215696"/>
              <a:gd name="connsiteY1" fmla="*/ 0 h 2482461"/>
              <a:gd name="connsiteX2" fmla="*/ 9207951 w 9215696"/>
              <a:gd name="connsiteY2" fmla="*/ 2459323 h 2482461"/>
              <a:gd name="connsiteX3" fmla="*/ 30978 w 9215696"/>
              <a:gd name="connsiteY3" fmla="*/ 2482461 h 2482461"/>
              <a:gd name="connsiteX4" fmla="*/ 0 w 9215696"/>
              <a:gd name="connsiteY4" fmla="*/ 2371463 h 2482461"/>
              <a:gd name="connsiteX0" fmla="*/ 0 w 9215696"/>
              <a:gd name="connsiteY0" fmla="*/ 2371463 h 2497949"/>
              <a:gd name="connsiteX1" fmla="*/ 9215696 w 9215696"/>
              <a:gd name="connsiteY1" fmla="*/ 0 h 2497949"/>
              <a:gd name="connsiteX2" fmla="*/ 9207951 w 9215696"/>
              <a:gd name="connsiteY2" fmla="*/ 2459323 h 2497949"/>
              <a:gd name="connsiteX3" fmla="*/ 2 w 9215696"/>
              <a:gd name="connsiteY3" fmla="*/ 2497949 h 2497949"/>
              <a:gd name="connsiteX4" fmla="*/ 0 w 9215696"/>
              <a:gd name="connsiteY4" fmla="*/ 2371463 h 2497949"/>
              <a:gd name="connsiteX0" fmla="*/ 0 w 9215696"/>
              <a:gd name="connsiteY0" fmla="*/ 2371463 h 2474718"/>
              <a:gd name="connsiteX1" fmla="*/ 9215696 w 9215696"/>
              <a:gd name="connsiteY1" fmla="*/ 0 h 2474718"/>
              <a:gd name="connsiteX2" fmla="*/ 9207951 w 9215696"/>
              <a:gd name="connsiteY2" fmla="*/ 2459323 h 2474718"/>
              <a:gd name="connsiteX3" fmla="*/ 30979 w 9215696"/>
              <a:gd name="connsiteY3" fmla="*/ 2474718 h 2474718"/>
              <a:gd name="connsiteX4" fmla="*/ 0 w 9215696"/>
              <a:gd name="connsiteY4" fmla="*/ 2371463 h 2474718"/>
              <a:gd name="connsiteX0" fmla="*/ 0 w 9208117"/>
              <a:gd name="connsiteY0" fmla="*/ 2371463 h 2474718"/>
              <a:gd name="connsiteX1" fmla="*/ 9184719 w 9208117"/>
              <a:gd name="connsiteY1" fmla="*/ 0 h 2474718"/>
              <a:gd name="connsiteX2" fmla="*/ 9207951 w 9208117"/>
              <a:gd name="connsiteY2" fmla="*/ 2459323 h 2474718"/>
              <a:gd name="connsiteX3" fmla="*/ 30979 w 9208117"/>
              <a:gd name="connsiteY3" fmla="*/ 2474718 h 2474718"/>
              <a:gd name="connsiteX4" fmla="*/ 0 w 9208117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15020 w 9184719"/>
              <a:gd name="connsiteY2" fmla="*/ 2381886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84719"/>
              <a:gd name="connsiteY0" fmla="*/ 2371463 h 2474718"/>
              <a:gd name="connsiteX1" fmla="*/ 9184719 w 9184719"/>
              <a:gd name="connsiteY1" fmla="*/ 0 h 2474718"/>
              <a:gd name="connsiteX2" fmla="*/ 9169230 w 9184719"/>
              <a:gd name="connsiteY2" fmla="*/ 2451580 h 2474718"/>
              <a:gd name="connsiteX3" fmla="*/ 30979 w 9184719"/>
              <a:gd name="connsiteY3" fmla="*/ 2474718 h 2474718"/>
              <a:gd name="connsiteX4" fmla="*/ 0 w 9184719"/>
              <a:gd name="connsiteY4" fmla="*/ 2371463 h 2474718"/>
              <a:gd name="connsiteX0" fmla="*/ 0 w 9167786"/>
              <a:gd name="connsiteY0" fmla="*/ 2375696 h 2474718"/>
              <a:gd name="connsiteX1" fmla="*/ 9167786 w 9167786"/>
              <a:gd name="connsiteY1" fmla="*/ 0 h 2474718"/>
              <a:gd name="connsiteX2" fmla="*/ 9152297 w 9167786"/>
              <a:gd name="connsiteY2" fmla="*/ 2451580 h 2474718"/>
              <a:gd name="connsiteX3" fmla="*/ 14046 w 9167786"/>
              <a:gd name="connsiteY3" fmla="*/ 2474718 h 2474718"/>
              <a:gd name="connsiteX4" fmla="*/ 0 w 9167786"/>
              <a:gd name="connsiteY4" fmla="*/ 2375696 h 2474718"/>
              <a:gd name="connsiteX0" fmla="*/ 2887 w 9170673"/>
              <a:gd name="connsiteY0" fmla="*/ 2375696 h 2474718"/>
              <a:gd name="connsiteX1" fmla="*/ 9170673 w 9170673"/>
              <a:gd name="connsiteY1" fmla="*/ 0 h 2474718"/>
              <a:gd name="connsiteX2" fmla="*/ 9155184 w 9170673"/>
              <a:gd name="connsiteY2" fmla="*/ 2451580 h 2474718"/>
              <a:gd name="connsiteX3" fmla="*/ 0 w 9170673"/>
              <a:gd name="connsiteY3" fmla="*/ 2474718 h 2474718"/>
              <a:gd name="connsiteX4" fmla="*/ 2887 w 9170673"/>
              <a:gd name="connsiteY4" fmla="*/ 2375696 h 2474718"/>
              <a:gd name="connsiteX0" fmla="*/ 2887 w 9170673"/>
              <a:gd name="connsiteY0" fmla="*/ 2375696 h 2457785"/>
              <a:gd name="connsiteX1" fmla="*/ 9170673 w 9170673"/>
              <a:gd name="connsiteY1" fmla="*/ 0 h 2457785"/>
              <a:gd name="connsiteX2" fmla="*/ 9155184 w 9170673"/>
              <a:gd name="connsiteY2" fmla="*/ 2451580 h 2457785"/>
              <a:gd name="connsiteX3" fmla="*/ 0 w 9170673"/>
              <a:gd name="connsiteY3" fmla="*/ 2457785 h 2457785"/>
              <a:gd name="connsiteX4" fmla="*/ 2887 w 9170673"/>
              <a:gd name="connsiteY4" fmla="*/ 2375696 h 245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673" h="2457785">
                <a:moveTo>
                  <a:pt x="2887" y="2375696"/>
                </a:moveTo>
                <a:cubicBezTo>
                  <a:pt x="23548" y="2372367"/>
                  <a:pt x="7344315" y="2502055"/>
                  <a:pt x="9170673" y="0"/>
                </a:cubicBezTo>
                <a:cubicBezTo>
                  <a:pt x="9168091" y="819774"/>
                  <a:pt x="9157766" y="1631806"/>
                  <a:pt x="9155184" y="2451580"/>
                </a:cubicBezTo>
                <a:lnTo>
                  <a:pt x="0" y="2457785"/>
                </a:lnTo>
                <a:cubicBezTo>
                  <a:pt x="-1" y="2415623"/>
                  <a:pt x="2888" y="2417858"/>
                  <a:pt x="2887" y="2375696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554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 algn="r" defTabSz="457200" rtl="0" eaLnBrk="1" latinLnBrk="0" hangingPunct="1">
        <a:lnSpc>
          <a:spcPct val="80000"/>
        </a:lnSpc>
        <a:spcBef>
          <a:spcPct val="0"/>
        </a:spcBef>
        <a:buNone/>
        <a:defRPr sz="44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07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0" y="6355081"/>
            <a:ext cx="8534401" cy="50291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NOAA-Fisheries-horizontal.png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72" y="6419089"/>
            <a:ext cx="2191920" cy="38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055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chemeClr val="accent1"/>
          </a:solidFill>
          <a:latin typeface="+mj-lt"/>
          <a:ea typeface="+mj-ea"/>
          <a:cs typeface="Arial Narrow Bold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67601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07294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48000" y="6355081"/>
            <a:ext cx="8534401" cy="502919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U.S. Department of Commerce | National Oceanic and Atmospheric Administration | NOAA Fisheries | Page </a:t>
            </a:r>
            <a:fld id="{632D3AEB-7CBE-3049-91AC-335C6B4F5BF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674" y="6419089"/>
            <a:ext cx="2191917" cy="38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098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b="1" i="0" kern="1200">
          <a:solidFill>
            <a:srgbClr val="FFFFFF"/>
          </a:solidFill>
          <a:latin typeface="+mj-lt"/>
          <a:ea typeface="+mj-ea"/>
          <a:cs typeface="Arial Narrow Bold"/>
        </a:defRPr>
      </a:lvl1pPr>
    </p:titleStyle>
    <p:bodyStyle>
      <a:lvl1pPr marL="0" indent="0" algn="r" defTabSz="457200" rtl="0" eaLnBrk="1" latinLnBrk="0" hangingPunct="1">
        <a:spcBef>
          <a:spcPct val="20000"/>
        </a:spcBef>
        <a:buFont typeface="Arial"/>
        <a:buNone/>
        <a:defRPr sz="20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BE1D0-11B8-8345-91DD-DA00A52441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120094"/>
          </a:xfrm>
        </p:spPr>
        <p:txBody>
          <a:bodyPr>
            <a:noAutofit/>
          </a:bodyPr>
          <a:lstStyle/>
          <a:p>
            <a:pPr algn="ctr"/>
            <a:r>
              <a:rPr lang="en-US" sz="4800" dirty="0"/>
              <a:t>2026 Tanner Crab CIE Review </a:t>
            </a:r>
            <a:br>
              <a:rPr lang="en-US" sz="4800" dirty="0"/>
            </a:br>
            <a:r>
              <a:rPr lang="en-US" sz="4800" dirty="0"/>
              <a:t>Management and Tier Considerations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3B8582-F632-314D-8EF2-647B54A375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William Stockhausen</a:t>
            </a:r>
          </a:p>
          <a:p>
            <a:r>
              <a:rPr lang="en-US" dirty="0">
                <a:solidFill>
                  <a:schemeClr val="accent1"/>
                </a:solidFill>
              </a:rPr>
              <a:t>AFSC/NMFS/NOAA</a:t>
            </a:r>
          </a:p>
        </p:txBody>
      </p:sp>
    </p:spTree>
    <p:extLst>
      <p:ext uri="{BB962C8B-B14F-4D97-AF65-F5344CB8AC3E}">
        <p14:creationId xmlns:p14="http://schemas.microsoft.com/office/powerpoint/2010/main" val="149345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5BF1E-8B68-1C86-44E3-1A5D0CEC0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A19804-2C53-5C3C-954D-215DE0D1C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46" y="233083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Crab Management Tiers 1-4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204CC7-746F-4C24-91F2-A6595184C4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0"/>
          <a:stretch>
            <a:fillRect/>
          </a:stretch>
        </p:blipFill>
        <p:spPr>
          <a:xfrm>
            <a:off x="5509549" y="1159282"/>
            <a:ext cx="6579242" cy="39798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A1C802-61B7-7C06-D8C7-B9186F45510A}"/>
                  </a:ext>
                </a:extLst>
              </p:cNvPr>
              <p:cNvSpPr txBox="1"/>
              <p:nvPr/>
            </p:nvSpPr>
            <p:spPr>
              <a:xfrm>
                <a:off x="103208" y="880215"/>
                <a:ext cx="5171256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Tier 3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 reliable S-R relationship but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can estimate proxies for F</a:t>
                </a:r>
                <a:r>
                  <a:rPr lang="en-US" baseline="-25000" dirty="0"/>
                  <a:t>MSY</a:t>
                </a:r>
                <a:r>
                  <a:rPr lang="en-US" dirty="0"/>
                  <a:t> and </a:t>
                </a:r>
                <a:r>
                  <a:rPr lang="en-US" i="1" dirty="0"/>
                  <a:t>B</a:t>
                </a:r>
                <a:r>
                  <a:rPr lang="en-US" i="1" baseline="-25000" dirty="0"/>
                  <a:t>MSY </a:t>
                </a:r>
                <a:r>
                  <a:rPr lang="en-US" dirty="0"/>
                  <a:t> 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proxies are SPR-related quantities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i="1" dirty="0"/>
                  <a:t>B</a:t>
                </a:r>
                <a:r>
                  <a:rPr lang="en-US" i="1" baseline="-25000" dirty="0"/>
                  <a:t>MSY</a:t>
                </a:r>
                <a:r>
                  <a:rPr lang="en-US" dirty="0"/>
                  <a:t>=</a:t>
                </a:r>
                <a:r>
                  <a:rPr lang="en-US" i="1" dirty="0"/>
                  <a:t>B</a:t>
                </a:r>
                <a:r>
                  <a:rPr lang="en-US" i="1" baseline="-25000" dirty="0"/>
                  <a:t>35%</a:t>
                </a:r>
                <a:r>
                  <a:rPr lang="en-US" i="1" dirty="0"/>
                  <a:t>=0.35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i="1" dirty="0"/>
                  <a:t>B</a:t>
                </a:r>
                <a:r>
                  <a:rPr lang="en-US" i="1" baseline="-25000" dirty="0"/>
                  <a:t>100</a:t>
                </a:r>
                <a:r>
                  <a:rPr lang="en-US" i="1" dirty="0"/>
                  <a:t>=0.35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US" i="1" dirty="0"/>
                  <a:t>SPR</a:t>
                </a:r>
                <a:r>
                  <a:rPr lang="en-US" i="1" baseline="-25000" dirty="0"/>
                  <a:t>100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</a:t>
                </a:r>
                <a:r>
                  <a:rPr lang="en-US" baseline="-25000" dirty="0"/>
                  <a:t>MSY</a:t>
                </a:r>
                <a:r>
                  <a:rPr lang="en-US" dirty="0"/>
                  <a:t>=F</a:t>
                </a:r>
                <a:r>
                  <a:rPr lang="en-US" baseline="-25000" dirty="0"/>
                  <a:t>35%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originally developed for groundfish (Clark, 1983)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OFL accounts for all losses not attributable to </a:t>
                </a:r>
                <a:r>
                  <a:rPr lang="en-US" i="1" dirty="0"/>
                  <a:t>M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i="1" dirty="0" err="1"/>
                  <a:t>maxABC</a:t>
                </a:r>
                <a:r>
                  <a:rPr lang="en-US" dirty="0"/>
                  <a:t> determined by p* = p(OFL&gt;OFL</a:t>
                </a:r>
                <a:r>
                  <a:rPr lang="en-US" baseline="-25000" dirty="0"/>
                  <a:t>TRUE</a:t>
                </a:r>
                <a:r>
                  <a:rPr lang="en-US" dirty="0"/>
                  <a:t>) = 0.49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ABC typically determined by applying a buffer to OFL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4A1C802-61B7-7C06-D8C7-B9186F455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08" y="880215"/>
                <a:ext cx="5171256" cy="2862322"/>
              </a:xfrm>
              <a:prstGeom prst="rect">
                <a:avLst/>
              </a:prstGeom>
              <a:blipFill>
                <a:blip r:embed="rId4"/>
                <a:stretch>
                  <a:fillRect l="-980" t="-885" b="-2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73F449-3142-E4DD-37FF-45FC627E0AE1}"/>
                  </a:ext>
                </a:extLst>
              </p:cNvPr>
              <p:cNvSpPr txBox="1"/>
              <p:nvPr/>
            </p:nvSpPr>
            <p:spPr>
              <a:xfrm>
                <a:off x="103208" y="3946460"/>
                <a:ext cx="5545238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Tier 4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life-history and recruitment info do not rise to Tier 3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 but reliable estimates of current survey biomass and </a:t>
                </a:r>
                <a:r>
                  <a:rPr lang="en-US" i="1" dirty="0"/>
                  <a:t>M</a:t>
                </a:r>
                <a:r>
                  <a:rPr lang="en-US" dirty="0"/>
                  <a:t> do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proxies are: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</a:t>
                </a:r>
                <a:r>
                  <a:rPr lang="en-US" baseline="-25000" dirty="0"/>
                  <a:t>MSY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</m:t>
                    </m:r>
                  </m:oMath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i="1" dirty="0"/>
                  <a:t>B</a:t>
                </a:r>
                <a:r>
                  <a:rPr lang="en-US" i="1" baseline="-25000" dirty="0"/>
                  <a:t>MSY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473F449-3142-E4DD-37FF-45FC627E0A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08" y="3946460"/>
                <a:ext cx="5545238" cy="2031325"/>
              </a:xfrm>
              <a:prstGeom prst="rect">
                <a:avLst/>
              </a:prstGeom>
              <a:blipFill>
                <a:blip r:embed="rId5"/>
                <a:stretch>
                  <a:fillRect l="-915" t="-1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5882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7F77C-1785-E4BE-33E4-CC666E703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5A818B-D831-BE0E-727A-107FF414F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46" y="233083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Tier 4 Backup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744D4B-D607-ADE9-745D-A3962EB4F2D1}"/>
                  </a:ext>
                </a:extLst>
              </p:cNvPr>
              <p:cNvSpPr txBox="1"/>
              <p:nvPr/>
            </p:nvSpPr>
            <p:spPr>
              <a:xfrm>
                <a:off x="218746" y="732406"/>
                <a:ext cx="535842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M = 0.23 yr</a:t>
                </a:r>
                <a:r>
                  <a:rPr lang="en-US" sz="2000" i="1" dirty="0"/>
                  <a:t>-1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i="1" dirty="0"/>
                  <a:t>B</a:t>
                </a:r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lang="en-US" sz="2000" dirty="0"/>
                  <a:t> based on </a:t>
                </a:r>
                <a:r>
                  <a:rPr lang="en-US" sz="2000" dirty="0" err="1"/>
                  <a:t>rema</a:t>
                </a:r>
                <a:r>
                  <a:rPr lang="en-US" sz="2000" dirty="0"/>
                  <a:t>-smoothed “vulnerable” biomass time series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Potential averaging times for “vulnerable” biomass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highlight>
                      <a:srgbClr val="00FF00"/>
                    </a:highlight>
                  </a:rPr>
                  <a:t>1982-2024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1975-1980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1975-2024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1987-95, 2006-09, 2013-15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2005-09, 2013-15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744D4B-D607-ADE9-745D-A3962EB4F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46" y="732406"/>
                <a:ext cx="5358425" cy="2862322"/>
              </a:xfrm>
              <a:prstGeom prst="rect">
                <a:avLst/>
              </a:prstGeom>
              <a:blipFill>
                <a:blip r:embed="rId3"/>
                <a:stretch>
                  <a:fillRect l="-1182" t="-881" b="-2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5F893DEB-8EAE-0560-1CDA-3E45A62769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9732" y="3593655"/>
            <a:ext cx="4286644" cy="29060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1B1192-1711-B1BF-2A6E-5E82FF7A9E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7881" y="3456758"/>
            <a:ext cx="1825056" cy="10263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D138F0-E5FC-14DF-4FF8-00CF66CF4A82}"/>
              </a:ext>
            </a:extLst>
          </p:cNvPr>
          <p:cNvSpPr txBox="1"/>
          <p:nvPr/>
        </p:nvSpPr>
        <p:spPr>
          <a:xfrm rot="16200000">
            <a:off x="6893004" y="1684695"/>
            <a:ext cx="862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vulnerable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9C7E1B-A0F4-30F6-2906-5B64D649E008}"/>
              </a:ext>
            </a:extLst>
          </p:cNvPr>
          <p:cNvSpPr txBox="1"/>
          <p:nvPr/>
        </p:nvSpPr>
        <p:spPr>
          <a:xfrm rot="16200000">
            <a:off x="6837007" y="4242504"/>
            <a:ext cx="862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vulnerable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400C81-6BBB-4AF8-EFD3-D9A3EC9704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5061" y="233083"/>
            <a:ext cx="4221316" cy="31101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8F8704-3213-0DEE-509A-90C6BCA53C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0485" y="3649679"/>
            <a:ext cx="6930562" cy="17410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EBB630-C298-3110-6A10-03210C888040}"/>
              </a:ext>
            </a:extLst>
          </p:cNvPr>
          <p:cNvSpPr txBox="1"/>
          <p:nvPr/>
        </p:nvSpPr>
        <p:spPr>
          <a:xfrm>
            <a:off x="4976355" y="5341999"/>
            <a:ext cx="2111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biomass units: 1000’s 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1D9E0A-9694-DFE0-B8BD-5752B4645EA2}"/>
              </a:ext>
            </a:extLst>
          </p:cNvPr>
          <p:cNvSpPr/>
          <p:nvPr/>
        </p:nvSpPr>
        <p:spPr>
          <a:xfrm>
            <a:off x="218746" y="4520184"/>
            <a:ext cx="6737639" cy="307577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169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E78E6-0269-8A46-B92D-8B092A92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746" y="233083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Tier 3 Assessment Model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9A8462F-5DBA-F24D-B525-7F903477256A}"/>
              </a:ext>
            </a:extLst>
          </p:cNvPr>
          <p:cNvSpPr txBox="1"/>
          <p:nvPr/>
        </p:nvSpPr>
        <p:spPr>
          <a:xfrm>
            <a:off x="218746" y="732406"/>
            <a:ext cx="5525872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Size-structured, two-sex model with terminal molt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Survey data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NMFS EBS shelf survey: 1975-present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BSFRF 2013-2018 side-by-side haul studies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growth data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male maturity data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Fishery data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directed fishery (areas combined)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000" dirty="0"/>
              <a:t>retained catch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000" dirty="0"/>
              <a:t>total catch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bycatch in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000" dirty="0"/>
              <a:t>snow crab fishery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000" dirty="0"/>
              <a:t>BBRKC fishery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sz="2000" dirty="0"/>
              <a:t>groundfish fisheries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Estimates: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Annual recruitment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Annual numbers-at-size (M,F)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mature biomass (MMB, MFB)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6137A-C0CC-E346-8142-0E246A30A89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89649" y="254595"/>
            <a:ext cx="5430644" cy="611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916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E78E6-0269-8A46-B92D-8B092A92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70" y="202436"/>
            <a:ext cx="8669355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Assessment time frames: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64A53B-36D8-E241-3B3A-93B763335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61" y="1083051"/>
            <a:ext cx="12008078" cy="469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16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E78E6-0269-8A46-B92D-8B092A92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40" y="191926"/>
            <a:ext cx="8669355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Assessment time frames: model processes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4D10F7-B386-DAD6-0663-CA4A4937B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88" y="1042074"/>
            <a:ext cx="12065304" cy="4724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40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DB14E6C-22A7-A95A-B46B-DD6DCFFA3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991" y="243629"/>
            <a:ext cx="4795725" cy="637074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079517-0589-9E80-53ED-E7806E285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23" y="136524"/>
            <a:ext cx="2554854" cy="676014"/>
          </a:xfrm>
        </p:spPr>
        <p:txBody>
          <a:bodyPr>
            <a:noAutofit/>
          </a:bodyPr>
          <a:lstStyle/>
          <a:p>
            <a:r>
              <a:rPr lang="en-US" sz="2800" dirty="0"/>
              <a:t>Life History Data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F09A6B-F0B5-130A-D689-B5D2DC31E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5B5F9-95AB-F6E5-A145-40E4BA80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C6FAA7-E426-4F7E-8C8A-64E11EFE5471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965F21-E923-F19B-8C19-5171F2A604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982" y="132285"/>
            <a:ext cx="3707917" cy="65018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CCFE5C-73A4-811A-2E78-D196B708A65C}"/>
              </a:ext>
            </a:extLst>
          </p:cNvPr>
          <p:cNvSpPr txBox="1"/>
          <p:nvPr/>
        </p:nvSpPr>
        <p:spPr>
          <a:xfrm>
            <a:off x="4522758" y="223877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growth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B20345-8B88-672B-B541-540937BFB1B4}"/>
              </a:ext>
            </a:extLst>
          </p:cNvPr>
          <p:cNvSpPr txBox="1"/>
          <p:nvPr/>
        </p:nvSpPr>
        <p:spPr>
          <a:xfrm>
            <a:off x="8608480" y="39211"/>
            <a:ext cx="1922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male maturity ogives</a:t>
            </a:r>
          </a:p>
        </p:txBody>
      </p:sp>
    </p:spTree>
    <p:extLst>
      <p:ext uri="{BB962C8B-B14F-4D97-AF65-F5344CB8AC3E}">
        <p14:creationId xmlns:p14="http://schemas.microsoft.com/office/powerpoint/2010/main" val="2783338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E78E6-0269-8A46-B92D-8B092A92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897" y="168977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NMFS EBS Survey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141A86-D8E0-D96C-F837-6D2B4260A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521" y="811661"/>
            <a:ext cx="9207559" cy="27307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A9B7A7-BC19-6DA0-BA98-655DF129B2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989" y="3527026"/>
            <a:ext cx="9277753" cy="25751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9C96AD-39DC-7C2A-6330-F8662635E69F}"/>
              </a:ext>
            </a:extLst>
          </p:cNvPr>
          <p:cNvSpPr txBox="1"/>
          <p:nvPr/>
        </p:nvSpPr>
        <p:spPr>
          <a:xfrm>
            <a:off x="5613722" y="429176"/>
            <a:ext cx="4697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IPM: Industry-preferred males (&gt; 125 mm, 5 inch CW)</a:t>
            </a:r>
          </a:p>
        </p:txBody>
      </p:sp>
    </p:spTree>
    <p:extLst>
      <p:ext uri="{BB962C8B-B14F-4D97-AF65-F5344CB8AC3E}">
        <p14:creationId xmlns:p14="http://schemas.microsoft.com/office/powerpoint/2010/main" val="25639815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51041DD-6E1B-7983-CE7F-F9F126C3B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227" y="521107"/>
            <a:ext cx="7304398" cy="529173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2CE78E6-0269-8A46-B92D-8B092A92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26" y="260908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OFLs and ABCs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A7A708-F2D4-8B65-E7E0-08E624F70A51}"/>
              </a:ext>
            </a:extLst>
          </p:cNvPr>
          <p:cNvSpPr txBox="1"/>
          <p:nvPr/>
        </p:nvSpPr>
        <p:spPr>
          <a:xfrm>
            <a:off x="7133749" y="781307"/>
            <a:ext cx="24778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Total Catch Mortality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997331-0BD3-C956-AAC9-08E38ED9943C}"/>
              </a:ext>
            </a:extLst>
          </p:cNvPr>
          <p:cNvSpPr txBox="1"/>
          <p:nvPr/>
        </p:nvSpPr>
        <p:spPr>
          <a:xfrm>
            <a:off x="261230" y="1338264"/>
            <a:ext cx="264527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vertical lines: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upper end: federal OFL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lower end: federal ABC</a:t>
            </a:r>
          </a:p>
        </p:txBody>
      </p:sp>
    </p:spTree>
    <p:extLst>
      <p:ext uri="{BB962C8B-B14F-4D97-AF65-F5344CB8AC3E}">
        <p14:creationId xmlns:p14="http://schemas.microsoft.com/office/powerpoint/2010/main" val="1911682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E78E6-0269-8A46-B92D-8B092A920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230" y="214796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OFLs, ABCs, and TACs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412AC8-7578-2008-6738-69A751212D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986" y="1338264"/>
            <a:ext cx="8729502" cy="418147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140AC3-46A8-7823-7FE7-076A29471008}"/>
              </a:ext>
            </a:extLst>
          </p:cNvPr>
          <p:cNvSpPr txBox="1"/>
          <p:nvPr/>
        </p:nvSpPr>
        <p:spPr>
          <a:xfrm>
            <a:off x="261230" y="1338264"/>
            <a:ext cx="264527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vertical lines: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upper end: federal OFL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lower end: federal ABC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triangles: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combined State TAC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92523E-6028-1C30-85CC-8D738319EC18}"/>
              </a:ext>
            </a:extLst>
          </p:cNvPr>
          <p:cNvSpPr txBox="1"/>
          <p:nvPr/>
        </p:nvSpPr>
        <p:spPr>
          <a:xfrm>
            <a:off x="3618142" y="1475788"/>
            <a:ext cx="29578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Retained Catch Mortality</a:t>
            </a:r>
          </a:p>
        </p:txBody>
      </p:sp>
    </p:spTree>
    <p:extLst>
      <p:ext uri="{BB962C8B-B14F-4D97-AF65-F5344CB8AC3E}">
        <p14:creationId xmlns:p14="http://schemas.microsoft.com/office/powerpoint/2010/main" val="420611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E2F29-DF31-367E-F2C2-2E7EA26BE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3A5700-CF3D-E43C-9A76-8F3A00460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26" y="260908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Retained catch and effort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F995E4-C268-10C5-D6F6-29277587B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0078" y="853649"/>
            <a:ext cx="6451922" cy="49469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E4C379-01DD-B4E1-8D98-4273048CBF60}"/>
              </a:ext>
            </a:extLst>
          </p:cNvPr>
          <p:cNvSpPr txBox="1"/>
          <p:nvPr/>
        </p:nvSpPr>
        <p:spPr>
          <a:xfrm>
            <a:off x="1608881" y="2476982"/>
            <a:ext cx="2190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8 from TAC setting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878F5B-1C9B-5201-CD9A-8CBD72628CC5}"/>
              </a:ext>
            </a:extLst>
          </p:cNvPr>
          <p:cNvSpPr txBox="1"/>
          <p:nvPr/>
        </p:nvSpPr>
        <p:spPr>
          <a:xfrm>
            <a:off x="9363919" y="6374741"/>
            <a:ext cx="2584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Courtesy of Ben Daly, ADFG</a:t>
            </a:r>
          </a:p>
        </p:txBody>
      </p:sp>
    </p:spTree>
    <p:extLst>
      <p:ext uri="{BB962C8B-B14F-4D97-AF65-F5344CB8AC3E}">
        <p14:creationId xmlns:p14="http://schemas.microsoft.com/office/powerpoint/2010/main" val="488418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7040D-26BC-5CD8-66D2-609CD08F8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195329-C940-668C-109E-774ABE06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726" y="260908"/>
            <a:ext cx="7886700" cy="52039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+mn-lt"/>
              </a:rPr>
              <a:t>State Harvest Strategy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51739C-81FD-74AB-5F12-1C631762260A}"/>
              </a:ext>
            </a:extLst>
          </p:cNvPr>
          <p:cNvSpPr txBox="1"/>
          <p:nvPr/>
        </p:nvSpPr>
        <p:spPr>
          <a:xfrm>
            <a:off x="9363919" y="6374741"/>
            <a:ext cx="2584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Courtesy of Ben Daly, ADFG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49BEC26-4661-FF7D-9B43-89C7E4B135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003" y="1035951"/>
            <a:ext cx="7092845" cy="50523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7BAC90-7C3B-DD02-D4D0-59B1B55D6886}"/>
              </a:ext>
            </a:extLst>
          </p:cNvPr>
          <p:cNvSpPr txBox="1"/>
          <p:nvPr/>
        </p:nvSpPr>
        <p:spPr>
          <a:xfrm>
            <a:off x="266945" y="1180618"/>
            <a:ext cx="427105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Exploitation rates on MMB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5% lower bound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20% upper bound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Applied by State area (E/W 166W)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“Floating” control rule determined by female biomass (entire EBS)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Additional considerations: caps on exploitation rate for “exploitable” legal males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100% new shell crab &gt; 5in CW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 40%  old shell crab &gt; 5 in CW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cap: 50% by weight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Requires: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MFB for entire EBS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MMB by E/W 166W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5” male abundance by shell condition E/W 166W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Avg weight of 5” males E/W 166W</a:t>
            </a:r>
          </a:p>
        </p:txBody>
      </p:sp>
    </p:spTree>
    <p:extLst>
      <p:ext uri="{BB962C8B-B14F-4D97-AF65-F5344CB8AC3E}">
        <p14:creationId xmlns:p14="http://schemas.microsoft.com/office/powerpoint/2010/main" val="1667341341"/>
      </p:ext>
    </p:extLst>
  </p:cSld>
  <p:clrMapOvr>
    <a:masterClrMapping/>
  </p:clrMapOvr>
</p:sld>
</file>

<file path=ppt/theme/theme1.xml><?xml version="1.0" encoding="utf-8"?>
<a:theme xmlns:a="http://schemas.openxmlformats.org/drawingml/2006/main" name="NOAA_Fisheri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nerCrab.2019SAFE.CPTMeeting.Presentation.pptx" id="{C07FF72A-A7FA-5944-985E-CB62F0F337AD}" vid="{470F256F-5A14-804C-905B-CD7FB444AA38}"/>
    </a:ext>
  </a:extLst>
</a:theme>
</file>

<file path=ppt/theme/theme2.xml><?xml version="1.0" encoding="utf-8"?>
<a:theme xmlns:a="http://schemas.openxmlformats.org/drawingml/2006/main" name="NOAA Fisheries Content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nerCrab.2019SAFE.CPTMeeting.Presentation.pptx" id="{C07FF72A-A7FA-5944-985E-CB62F0F337AD}" vid="{3CE7A497-1B99-8F40-8A5A-0E3D0E28E34C}"/>
    </a:ext>
  </a:extLst>
</a:theme>
</file>

<file path=ppt/theme/theme3.xml><?xml version="1.0" encoding="utf-8"?>
<a:theme xmlns:a="http://schemas.openxmlformats.org/drawingml/2006/main" name="NOAA Divider Slides">
  <a:themeElements>
    <a:clrScheme name="Custom 11">
      <a:dk1>
        <a:sysClr val="windowText" lastClr="000000"/>
      </a:dk1>
      <a:lt1>
        <a:sysClr val="window" lastClr="FFFFFF"/>
      </a:lt1>
      <a:dk2>
        <a:srgbClr val="00467F"/>
      </a:dk2>
      <a:lt2>
        <a:srgbClr val="CCE7EA"/>
      </a:lt2>
      <a:accent1>
        <a:srgbClr val="008998"/>
      </a:accent1>
      <a:accent2>
        <a:srgbClr val="CC9C4A"/>
      </a:accent2>
      <a:accent3>
        <a:srgbClr val="EA7125"/>
      </a:accent3>
      <a:accent4>
        <a:srgbClr val="738539"/>
      </a:accent4>
      <a:accent5>
        <a:srgbClr val="9C552D"/>
      </a:accent5>
      <a:accent6>
        <a:srgbClr val="C0311A"/>
      </a:accent6>
      <a:hlink>
        <a:srgbClr val="0000FF"/>
      </a:hlink>
      <a:folHlink>
        <a:srgbClr val="800080"/>
      </a:folHlink>
    </a:clrScheme>
    <a:fontScheme name="Horizon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annerCrab.2019SAFE.CPTMeeting.Presentation.pptx" id="{C07FF72A-A7FA-5944-985E-CB62F0F337AD}" vid="{1D527E59-2320-884A-9981-A0E29823F6D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NOAA_Fisheries</Template>
  <TotalTime>19742</TotalTime>
  <Words>488</Words>
  <Application>Microsoft Macintosh PowerPoint</Application>
  <PresentationFormat>Widescreen</PresentationFormat>
  <Paragraphs>114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Narrow</vt:lpstr>
      <vt:lpstr>Calibri</vt:lpstr>
      <vt:lpstr>Cambria Math</vt:lpstr>
      <vt:lpstr>NOAA_Fisheries</vt:lpstr>
      <vt:lpstr>NOAA Fisheries Content Slides</vt:lpstr>
      <vt:lpstr>NOAA Divider Slides</vt:lpstr>
      <vt:lpstr>2026 Tanner Crab CIE Review  Management and Tier Considerations</vt:lpstr>
      <vt:lpstr>Crab Management Tiers 1-4</vt:lpstr>
      <vt:lpstr>Tier 4 Backup Model</vt:lpstr>
      <vt:lpstr>Tier 3 Assessment Model</vt:lpstr>
      <vt:lpstr>Assessment time frames: data</vt:lpstr>
      <vt:lpstr>Assessment time frames: model processes</vt:lpstr>
      <vt:lpstr>Life History Data</vt:lpstr>
      <vt:lpstr>NMFS EBS Survey Data</vt:lpstr>
      <vt:lpstr>OFLs and ABCs</vt:lpstr>
      <vt:lpstr>OFLs, ABCs, and TACs</vt:lpstr>
      <vt:lpstr>Retained catch and effort</vt:lpstr>
      <vt:lpstr>State Harvest Strategy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 Tanner Crab Stock Assessment</dc:title>
  <dc:creator>William Stockhausen</dc:creator>
  <cp:lastModifiedBy>William Stockhausen</cp:lastModifiedBy>
  <cp:revision>180</cp:revision>
  <cp:lastPrinted>2019-09-09T15:27:44Z</cp:lastPrinted>
  <dcterms:created xsi:type="dcterms:W3CDTF">2021-09-13T01:24:40Z</dcterms:created>
  <dcterms:modified xsi:type="dcterms:W3CDTF">2026-05-19T20:18:16Z</dcterms:modified>
</cp:coreProperties>
</file>