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91" r:id="rId2"/>
    <p:sldId id="292" r:id="rId3"/>
    <p:sldId id="301" r:id="rId4"/>
    <p:sldId id="293" r:id="rId5"/>
    <p:sldId id="294" r:id="rId6"/>
    <p:sldId id="295" r:id="rId7"/>
    <p:sldId id="296" r:id="rId8"/>
    <p:sldId id="297" r:id="rId9"/>
    <p:sldId id="300" r:id="rId10"/>
    <p:sldId id="298" r:id="rId11"/>
    <p:sldId id="299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4" roundtripDataSignature="AMtx7mghQE9sZMfmL64FPsteMvJdIyGM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1B7E75-D881-42AB-B32E-6D0456126510}">
  <a:tblStyle styleId="{261B7E75-D881-42AB-B32E-6D04561265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6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6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af0311381_0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g3daf0311381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af0311381_0_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g3daf0311381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>
          <a:extLst>
            <a:ext uri="{FF2B5EF4-FFF2-40B4-BE49-F238E27FC236}">
              <a16:creationId xmlns:a16="http://schemas.microsoft.com/office/drawing/2014/main" id="{1E06B96F-C789-059B-8F69-3E41E2C8E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af0311381_0_96:notes">
            <a:extLst>
              <a:ext uri="{FF2B5EF4-FFF2-40B4-BE49-F238E27FC236}">
                <a16:creationId xmlns:a16="http://schemas.microsoft.com/office/drawing/2014/main" id="{05F7768A-484A-FD59-A569-1A76AFC225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g3daf0311381_0_96:notes">
            <a:extLst>
              <a:ext uri="{FF2B5EF4-FFF2-40B4-BE49-F238E27FC236}">
                <a16:creationId xmlns:a16="http://schemas.microsoft.com/office/drawing/2014/main" id="{F4AC376B-BD15-0697-8636-8DD43EB57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2632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daf0311381_0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g3daf0311381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dc51a48e20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g3dc51a48e2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dc51a48e20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g3dc51a48e20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dc51a48e20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g3dc51a48e2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dc51a48e20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g3dc51a48e2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>
          <a:extLst>
            <a:ext uri="{FF2B5EF4-FFF2-40B4-BE49-F238E27FC236}">
              <a16:creationId xmlns:a16="http://schemas.microsoft.com/office/drawing/2014/main" id="{EF07878E-BDD4-CBE7-3306-85C5E444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af0311381_0_96:notes">
            <a:extLst>
              <a:ext uri="{FF2B5EF4-FFF2-40B4-BE49-F238E27FC236}">
                <a16:creationId xmlns:a16="http://schemas.microsoft.com/office/drawing/2014/main" id="{22695447-6FE6-745D-0539-D27CBABFF9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g3daf0311381_0_96:notes">
            <a:extLst>
              <a:ext uri="{FF2B5EF4-FFF2-40B4-BE49-F238E27FC236}">
                <a16:creationId xmlns:a16="http://schemas.microsoft.com/office/drawing/2014/main" id="{F6D747C7-D4B4-C5A9-AE84-F2CBDA529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6156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daf0311381_0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g3daf0311381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daf0311381_0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g3daf0311381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774924" y="1523260"/>
            <a:ext cx="5199369" cy="433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6217709" y="1523260"/>
            <a:ext cx="5210216" cy="433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5"/>
          <p:cNvSpPr>
            <a:spLocks noGrp="1"/>
          </p:cNvSpPr>
          <p:nvPr>
            <p:ph type="pic" idx="3"/>
          </p:nvPr>
        </p:nvSpPr>
        <p:spPr>
          <a:xfrm>
            <a:off x="334901" y="5681499"/>
            <a:ext cx="1016439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5"/>
          <p:cNvSpPr/>
          <p:nvPr/>
        </p:nvSpPr>
        <p:spPr>
          <a:xfrm>
            <a:off x="597457" y="599726"/>
            <a:ext cx="10991499" cy="8357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9" cy="63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Verdana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1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Verdana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603529" y="5565058"/>
            <a:ext cx="10984943" cy="8357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774925" y="3036573"/>
            <a:ext cx="10653001" cy="150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774925" y="4541417"/>
            <a:ext cx="1065300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7"/>
          <p:cNvSpPr>
            <a:spLocks noGrp="1"/>
          </p:cNvSpPr>
          <p:nvPr>
            <p:ph type="pic" idx="2"/>
          </p:nvPr>
        </p:nvSpPr>
        <p:spPr>
          <a:xfrm>
            <a:off x="334901" y="5681499"/>
            <a:ext cx="1016439" cy="91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18"/>
          <p:cNvSpPr>
            <a:spLocks noGrp="1"/>
          </p:cNvSpPr>
          <p:nvPr>
            <p:ph type="pic" idx="2"/>
          </p:nvPr>
        </p:nvSpPr>
        <p:spPr>
          <a:xfrm>
            <a:off x="334901" y="5681499"/>
            <a:ext cx="1016439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18"/>
          <p:cNvSpPr/>
          <p:nvPr/>
        </p:nvSpPr>
        <p:spPr>
          <a:xfrm>
            <a:off x="597457" y="599726"/>
            <a:ext cx="10991499" cy="8357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9" cy="63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603529" y="5141973"/>
            <a:ext cx="10984943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775137" y="5262296"/>
            <a:ext cx="4715500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Arial"/>
              <a:buNone/>
              <a:defRPr sz="2000" b="0">
                <a:solidFill>
                  <a:srgbClr val="2D58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body" idx="1"/>
          </p:nvPr>
        </p:nvSpPr>
        <p:spPr>
          <a:xfrm>
            <a:off x="595199" y="601200"/>
            <a:ext cx="1098720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840"/>
              <a:buNone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687103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9"/>
          <p:cNvSpPr>
            <a:spLocks noGrp="1"/>
          </p:cNvSpPr>
          <p:nvPr>
            <p:ph type="pic" idx="3"/>
          </p:nvPr>
        </p:nvSpPr>
        <p:spPr>
          <a:xfrm>
            <a:off x="334901" y="5681499"/>
            <a:ext cx="1016439" cy="91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774923" y="4693389"/>
            <a:ext cx="10653003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0"/>
          <p:cNvSpPr>
            <a:spLocks noGrp="1"/>
          </p:cNvSpPr>
          <p:nvPr>
            <p:ph type="pic" idx="2"/>
          </p:nvPr>
        </p:nvSpPr>
        <p:spPr>
          <a:xfrm>
            <a:off x="597458" y="599725"/>
            <a:ext cx="10984941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774923" y="5260127"/>
            <a:ext cx="10653003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20"/>
          <p:cNvSpPr>
            <a:spLocks noGrp="1"/>
          </p:cNvSpPr>
          <p:nvPr>
            <p:ph type="pic" idx="3"/>
          </p:nvPr>
        </p:nvSpPr>
        <p:spPr>
          <a:xfrm>
            <a:off x="334901" y="5681499"/>
            <a:ext cx="1016439" cy="91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Vertical Text">
  <p:cSld name="1_Title and Vertical 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21"/>
          <p:cNvSpPr>
            <a:spLocks noGrp="1"/>
          </p:cNvSpPr>
          <p:nvPr>
            <p:ph type="pic" idx="2"/>
          </p:nvPr>
        </p:nvSpPr>
        <p:spPr>
          <a:xfrm>
            <a:off x="334901" y="5681499"/>
            <a:ext cx="1016439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1"/>
          <p:cNvSpPr/>
          <p:nvPr/>
        </p:nvSpPr>
        <p:spPr>
          <a:xfrm>
            <a:off x="597457" y="599726"/>
            <a:ext cx="10991499" cy="8357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9" cy="63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Vertical Title and Text">
  <p:cSld name="1_Vertical Title and 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/>
          <p:nvPr/>
        </p:nvSpPr>
        <p:spPr>
          <a:xfrm>
            <a:off x="8839201" y="599725"/>
            <a:ext cx="2743199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2635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22"/>
          <p:cNvSpPr>
            <a:spLocks noGrp="1"/>
          </p:cNvSpPr>
          <p:nvPr>
            <p:ph type="pic" idx="2"/>
          </p:nvPr>
        </p:nvSpPr>
        <p:spPr>
          <a:xfrm>
            <a:off x="334901" y="5681499"/>
            <a:ext cx="1016439" cy="91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>
  <p:cSld name="2_Section Header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/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 sz="2700" b="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70"/>
              </a:spcBef>
              <a:spcAft>
                <a:spcPts val="0"/>
              </a:spcAft>
              <a:buSzPts val="1242"/>
              <a:buNone/>
              <a:defRPr sz="135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42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66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66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23"/>
          <p:cNvSpPr>
            <a:spLocks noGrp="1"/>
          </p:cNvSpPr>
          <p:nvPr>
            <p:ph type="pic" idx="2"/>
          </p:nvPr>
        </p:nvSpPr>
        <p:spPr>
          <a:xfrm>
            <a:off x="334901" y="5681499"/>
            <a:ext cx="1027289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3"/>
          <p:cNvSpPr>
            <a:spLocks noGrp="1"/>
          </p:cNvSpPr>
          <p:nvPr>
            <p:ph type="pic" idx="3"/>
          </p:nvPr>
        </p:nvSpPr>
        <p:spPr>
          <a:xfrm>
            <a:off x="10832453" y="5900199"/>
            <a:ext cx="504203" cy="51129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24"/>
          <p:cNvSpPr>
            <a:spLocks noGrp="1"/>
          </p:cNvSpPr>
          <p:nvPr>
            <p:ph type="pic" idx="2"/>
          </p:nvPr>
        </p:nvSpPr>
        <p:spPr>
          <a:xfrm>
            <a:off x="334901" y="5681499"/>
            <a:ext cx="1027289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4"/>
          <p:cNvSpPr>
            <a:spLocks noGrp="1"/>
          </p:cNvSpPr>
          <p:nvPr>
            <p:ph type="pic" idx="3"/>
          </p:nvPr>
        </p:nvSpPr>
        <p:spPr>
          <a:xfrm>
            <a:off x="10832453" y="5900199"/>
            <a:ext cx="504203" cy="511293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4"/>
          <p:cNvSpPr/>
          <p:nvPr/>
        </p:nvSpPr>
        <p:spPr>
          <a:xfrm>
            <a:off x="597457" y="599726"/>
            <a:ext cx="10991499" cy="8357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9" cy="63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25"/>
          <p:cNvSpPr>
            <a:spLocks noGrp="1"/>
          </p:cNvSpPr>
          <p:nvPr>
            <p:ph type="pic" idx="2"/>
          </p:nvPr>
        </p:nvSpPr>
        <p:spPr>
          <a:xfrm>
            <a:off x="334901" y="5681499"/>
            <a:ext cx="1027289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5"/>
          <p:cNvSpPr>
            <a:spLocks noGrp="1"/>
          </p:cNvSpPr>
          <p:nvPr>
            <p:ph type="pic" idx="3"/>
          </p:nvPr>
        </p:nvSpPr>
        <p:spPr>
          <a:xfrm>
            <a:off x="10832453" y="5900199"/>
            <a:ext cx="504203" cy="51129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 with Caption">
  <p:cSld name="2_Content with Caption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1500"/>
              <a:buFont typeface="Verdana"/>
              <a:buNone/>
              <a:defRPr sz="1500" b="0"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6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16230" algn="l">
              <a:spcBef>
                <a:spcPts val="300"/>
              </a:spcBef>
              <a:spcAft>
                <a:spcPts val="0"/>
              </a:spcAft>
              <a:buSzPts val="1380"/>
              <a:buChar char="◼"/>
              <a:defRPr sz="1500">
                <a:solidFill>
                  <a:schemeClr val="dk2"/>
                </a:solidFill>
              </a:defRPr>
            </a:lvl1pPr>
            <a:lvl2pPr marL="914400" lvl="1" indent="-307467" algn="l">
              <a:spcBef>
                <a:spcPts val="600"/>
              </a:spcBef>
              <a:spcAft>
                <a:spcPts val="0"/>
              </a:spcAft>
              <a:buSzPts val="1242"/>
              <a:buChar char="◼"/>
              <a:defRPr sz="1350">
                <a:solidFill>
                  <a:schemeClr val="dk2"/>
                </a:solidFill>
              </a:defRPr>
            </a:lvl2pPr>
            <a:lvl3pPr marL="1371600" lvl="2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 sz="1200">
                <a:solidFill>
                  <a:schemeClr val="dk2"/>
                </a:solidFill>
              </a:defRPr>
            </a:lvl3pPr>
            <a:lvl4pPr marL="1828800" lvl="3" indent="-289941" algn="l">
              <a:spcBef>
                <a:spcPts val="60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4pPr>
            <a:lvl5pPr marL="2286000" lvl="4" indent="-289941" algn="l">
              <a:spcBef>
                <a:spcPts val="60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5pPr>
            <a:lvl6pPr marL="2743200" lvl="5" indent="-289941" algn="l">
              <a:spcBef>
                <a:spcPts val="60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6pPr>
            <a:lvl7pPr marL="3200400" lvl="6" indent="-289941" algn="l">
              <a:spcBef>
                <a:spcPts val="60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7pPr>
            <a:lvl8pPr marL="3657600" lvl="7" indent="-289941" algn="l">
              <a:spcBef>
                <a:spcPts val="600"/>
              </a:spcBef>
              <a:spcAft>
                <a:spcPts val="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8pPr>
            <a:lvl9pPr marL="4114800" lvl="8" indent="-289941" algn="l">
              <a:spcBef>
                <a:spcPts val="600"/>
              </a:spcBef>
              <a:spcAft>
                <a:spcPts val="600"/>
              </a:spcAft>
              <a:buSzPts val="966"/>
              <a:buChar char="◼"/>
              <a:defRPr sz="105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body" idx="2"/>
          </p:nvPr>
        </p:nvSpPr>
        <p:spPr>
          <a:xfrm>
            <a:off x="5740824" y="5262298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165"/>
              </a:spcBef>
              <a:spcAft>
                <a:spcPts val="0"/>
              </a:spcAft>
              <a:buSzPts val="759"/>
              <a:buNone/>
              <a:defRPr sz="825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759"/>
              <a:buNone/>
              <a:defRPr sz="825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690"/>
              <a:buNone/>
              <a:defRPr sz="75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21"/>
              <a:buNone/>
              <a:defRPr sz="675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21"/>
              <a:buNone/>
              <a:defRPr sz="675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21"/>
              <a:buNone/>
              <a:defRPr sz="675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21"/>
              <a:buNone/>
              <a:defRPr sz="675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21"/>
              <a:buNone/>
              <a:defRPr sz="675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21"/>
              <a:buNone/>
              <a:defRPr sz="675"/>
            </a:lvl9pPr>
          </a:lstStyle>
          <a:p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26"/>
          <p:cNvSpPr>
            <a:spLocks noGrp="1"/>
          </p:cNvSpPr>
          <p:nvPr>
            <p:ph type="pic" idx="3"/>
          </p:nvPr>
        </p:nvSpPr>
        <p:spPr>
          <a:xfrm>
            <a:off x="334901" y="5681499"/>
            <a:ext cx="1027289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26"/>
          <p:cNvSpPr>
            <a:spLocks noGrp="1"/>
          </p:cNvSpPr>
          <p:nvPr>
            <p:ph type="pic" idx="4"/>
          </p:nvPr>
        </p:nvSpPr>
        <p:spPr>
          <a:xfrm>
            <a:off x="10832453" y="5900199"/>
            <a:ext cx="504203" cy="51129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icture with Caption">
  <p:cSld name="2_Picture with Caption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Verdana"/>
              <a:buNone/>
              <a:defRPr sz="18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7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27"/>
          <p:cNvSpPr txBox="1">
            <a:spLocks noGrp="1"/>
          </p:cNvSpPr>
          <p:nvPr>
            <p:ph type="body" idx="1"/>
          </p:nvPr>
        </p:nvSpPr>
        <p:spPr>
          <a:xfrm>
            <a:off x="581193" y="5260129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80"/>
              </a:spcBef>
              <a:spcAft>
                <a:spcPts val="0"/>
              </a:spcAft>
              <a:buSzPts val="828"/>
              <a:buNone/>
              <a:defRPr sz="9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690"/>
              <a:buNone/>
              <a:defRPr sz="75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21"/>
              <a:buNone/>
              <a:defRPr sz="675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21"/>
              <a:buNone/>
              <a:defRPr sz="675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21"/>
              <a:buNone/>
              <a:defRPr sz="675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21"/>
              <a:buNone/>
              <a:defRPr sz="675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21"/>
              <a:buNone/>
              <a:defRPr sz="675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21"/>
              <a:buNone/>
              <a:defRPr sz="675"/>
            </a:lvl9pPr>
          </a:lstStyle>
          <a:p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27"/>
          <p:cNvSpPr>
            <a:spLocks noGrp="1"/>
          </p:cNvSpPr>
          <p:nvPr>
            <p:ph type="pic" idx="3"/>
          </p:nvPr>
        </p:nvSpPr>
        <p:spPr>
          <a:xfrm>
            <a:off x="334901" y="5681499"/>
            <a:ext cx="1027289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27"/>
          <p:cNvSpPr>
            <a:spLocks noGrp="1"/>
          </p:cNvSpPr>
          <p:nvPr>
            <p:ph type="pic" idx="4"/>
          </p:nvPr>
        </p:nvSpPr>
        <p:spPr>
          <a:xfrm>
            <a:off x="10832453" y="5900199"/>
            <a:ext cx="504203" cy="51129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Vertical Text">
  <p:cSld name="2_Title and Vertical 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body" idx="1"/>
          </p:nvPr>
        </p:nvSpPr>
        <p:spPr>
          <a:xfrm rot="5400000">
            <a:off x="3933655" y="-1635473"/>
            <a:ext cx="4335538" cy="1065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8"/>
          <p:cNvSpPr>
            <a:spLocks noGrp="1"/>
          </p:cNvSpPr>
          <p:nvPr>
            <p:ph type="pic" idx="2"/>
          </p:nvPr>
        </p:nvSpPr>
        <p:spPr>
          <a:xfrm>
            <a:off x="334901" y="5681499"/>
            <a:ext cx="1027289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28"/>
          <p:cNvSpPr>
            <a:spLocks noGrp="1"/>
          </p:cNvSpPr>
          <p:nvPr>
            <p:ph type="pic" idx="3"/>
          </p:nvPr>
        </p:nvSpPr>
        <p:spPr>
          <a:xfrm>
            <a:off x="10832453" y="5900199"/>
            <a:ext cx="504203" cy="511293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28"/>
          <p:cNvSpPr/>
          <p:nvPr/>
        </p:nvSpPr>
        <p:spPr>
          <a:xfrm>
            <a:off x="597457" y="599726"/>
            <a:ext cx="10991499" cy="8357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8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9" cy="63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Vertical Title and Text">
  <p:cSld name="2_Vertical Title and Tex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/>
          <p:nvPr/>
        </p:nvSpPr>
        <p:spPr>
          <a:xfrm>
            <a:off x="8839202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/>
          </p:nvPr>
        </p:nvSpPr>
        <p:spPr>
          <a:xfrm rot="5400000">
            <a:off x="7249747" y="2265183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body" idx="1"/>
          </p:nvPr>
        </p:nvSpPr>
        <p:spPr>
          <a:xfrm rot="5400000">
            <a:off x="2131528" y="-680875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dt" idx="10"/>
          </p:nvPr>
        </p:nvSpPr>
        <p:spPr>
          <a:xfrm>
            <a:off x="8993674" y="5956139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ftr" idx="11"/>
          </p:nvPr>
        </p:nvSpPr>
        <p:spPr>
          <a:xfrm>
            <a:off x="774925" y="5951813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sldNum" idx="12"/>
          </p:nvPr>
        </p:nvSpPr>
        <p:spPr>
          <a:xfrm>
            <a:off x="10446616" y="5956139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29"/>
          <p:cNvSpPr>
            <a:spLocks noGrp="1"/>
          </p:cNvSpPr>
          <p:nvPr>
            <p:ph type="pic" idx="2"/>
          </p:nvPr>
        </p:nvSpPr>
        <p:spPr>
          <a:xfrm>
            <a:off x="334901" y="5681499"/>
            <a:ext cx="1013733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29"/>
          <p:cNvSpPr>
            <a:spLocks noGrp="1"/>
          </p:cNvSpPr>
          <p:nvPr>
            <p:ph type="pic" idx="3"/>
          </p:nvPr>
        </p:nvSpPr>
        <p:spPr>
          <a:xfrm>
            <a:off x="8203904" y="5900199"/>
            <a:ext cx="504203" cy="51129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0fa834715_0_110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g3e0fa834715_0_110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298704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6pPr>
            <a:lvl7pPr marL="3200400" lvl="6" indent="-298704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7pPr>
            <a:lvl8pPr marL="3657600" lvl="7" indent="-298704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8pPr>
            <a:lvl9pPr marL="4114800" lvl="8" indent="-298704">
              <a:spcBef>
                <a:spcPts val="600"/>
              </a:spcBef>
              <a:spcAft>
                <a:spcPts val="600"/>
              </a:spcAft>
              <a:buSzPts val="1104"/>
              <a:buChar char="◼"/>
              <a:defRPr/>
            </a:lvl9pPr>
          </a:lstStyle>
          <a:p>
            <a:endParaRPr/>
          </a:p>
        </p:txBody>
      </p:sp>
      <p:sp>
        <p:nvSpPr>
          <p:cNvPr id="225" name="Google Shape;225;g3e0fa834715_0_110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  <a:defRPr sz="2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2072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10388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0538131" y="5960314"/>
            <a:ext cx="461820" cy="34811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daf0311381_0_96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i="1" dirty="0" err="1"/>
              <a:t>Chionoecetes</a:t>
            </a:r>
            <a:r>
              <a:rPr lang="en-US" i="1" dirty="0"/>
              <a:t> spp.</a:t>
            </a:r>
            <a:r>
              <a:rPr lang="en-US" dirty="0"/>
              <a:t> hybrids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7AAA4D-6F6F-7614-7864-80573B419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51483"/>
            <a:ext cx="7772400" cy="46775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daf0311381_0_10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32" name="Google Shape;632;g3daf0311381_0_102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dirty="0"/>
              <a:t>Hybrids in survey data</a:t>
            </a:r>
            <a:endParaRPr dirty="0"/>
          </a:p>
        </p:txBody>
      </p:sp>
      <p:pic>
        <p:nvPicPr>
          <p:cNvPr id="633" name="Google Shape;633;g3daf0311381_0_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06" y="1469875"/>
            <a:ext cx="3758770" cy="523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daf0311381_0_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428" y="1925750"/>
            <a:ext cx="3334150" cy="403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g3daf0311381_0_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9049" y="3375475"/>
            <a:ext cx="6953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g3daf0311381_0_1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45207" y="1469875"/>
            <a:ext cx="4308292" cy="523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g3daf0311381_0_10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89300" y="1573525"/>
            <a:ext cx="1009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g3daf0311381_0_102"/>
          <p:cNvSpPr txBox="1"/>
          <p:nvPr/>
        </p:nvSpPr>
        <p:spPr>
          <a:xfrm>
            <a:off x="9750700" y="1436275"/>
            <a:ext cx="807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Males</a:t>
            </a:r>
            <a:endParaRPr sz="1300" b="1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>
          <a:extLst>
            <a:ext uri="{FF2B5EF4-FFF2-40B4-BE49-F238E27FC236}">
              <a16:creationId xmlns:a16="http://schemas.microsoft.com/office/drawing/2014/main" id="{84870C06-2597-FCBC-5292-BD88CCD24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daf0311381_0_96">
            <a:extLst>
              <a:ext uri="{FF2B5EF4-FFF2-40B4-BE49-F238E27FC236}">
                <a16:creationId xmlns:a16="http://schemas.microsoft.com/office/drawing/2014/main" id="{90DB539D-9031-04C8-4CF2-83BCB08C18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i="1" dirty="0" err="1"/>
              <a:t>Chionoecetes</a:t>
            </a:r>
            <a:r>
              <a:rPr lang="en-US" i="1" dirty="0"/>
              <a:t> spp.</a:t>
            </a:r>
            <a:r>
              <a:rPr lang="en-US" dirty="0"/>
              <a:t> hybrids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1D5B17-60E6-062A-C861-B67D6AF91D4F}"/>
              </a:ext>
            </a:extLst>
          </p:cNvPr>
          <p:cNvSpPr txBox="1"/>
          <p:nvPr/>
        </p:nvSpPr>
        <p:spPr>
          <a:xfrm>
            <a:off x="850605" y="1658679"/>
            <a:ext cx="105546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Tanner + snow crab cross-species mating produces hybrids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NMFS survey classifies all as “hybrids”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ADFG classifies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Tanner-like (minority): “M”-shaped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episotme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red eyes, other snow crab-like features (carapace shape,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snow-like (majority): Not Tanner-like, but with other Tanner features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Legally, hybrids do not exist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Tanner crab: “M”-shaped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episotme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red eyes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snow crab: all other </a:t>
            </a:r>
            <a:r>
              <a:rPr lang="en-US" sz="1800" i="1" dirty="0" err="1">
                <a:latin typeface="Calibri" panose="020F0502020204030204" pitchFamily="34" charset="0"/>
                <a:cs typeface="Calibri" panose="020F0502020204030204" pitchFamily="34" charset="0"/>
              </a:rPr>
              <a:t>Chionoecetes</a:t>
            </a:r>
            <a:endParaRPr lang="en-US" sz="18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29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daf0311381_0_10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44" name="Google Shape;644;g3daf0311381_0_108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dirty="0"/>
              <a:t>Hybrids in fishery data</a:t>
            </a:r>
            <a:endParaRPr dirty="0"/>
          </a:p>
        </p:txBody>
      </p:sp>
      <p:pic>
        <p:nvPicPr>
          <p:cNvPr id="645" name="Google Shape;645;g3daf0311381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300" y="1577550"/>
            <a:ext cx="7755525" cy="507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dc51a48e20_0_1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651" name="Google Shape;651;g3dc51a48e20_0_14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dirty="0"/>
              <a:t>Hybrids: total catch data</a:t>
            </a:r>
            <a:endParaRPr dirty="0"/>
          </a:p>
        </p:txBody>
      </p:sp>
      <p:pic>
        <p:nvPicPr>
          <p:cNvPr id="652" name="Google Shape;652;g3dc51a48e20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200" y="1469875"/>
            <a:ext cx="8072559" cy="523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dc51a48e20_0_3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658" name="Google Shape;658;g3dc51a48e20_0_35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dirty="0"/>
              <a:t>Hybrids: retained catch data</a:t>
            </a:r>
            <a:endParaRPr dirty="0"/>
          </a:p>
        </p:txBody>
      </p:sp>
      <p:pic>
        <p:nvPicPr>
          <p:cNvPr id="659" name="Google Shape;659;g3dc51a48e20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813" y="1469875"/>
            <a:ext cx="8026372" cy="52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dc51a48e20_0_2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665" name="Google Shape;665;g3dc51a48e20_0_21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dirty="0"/>
              <a:t>Hybrids: total catch data</a:t>
            </a:r>
            <a:endParaRPr dirty="0"/>
          </a:p>
        </p:txBody>
      </p:sp>
      <p:pic>
        <p:nvPicPr>
          <p:cNvPr id="666" name="Google Shape;666;g3dc51a48e20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2625" y="1448325"/>
            <a:ext cx="8020413" cy="5235725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g3dc51a48e20_0_21"/>
          <p:cNvSpPr/>
          <p:nvPr/>
        </p:nvSpPr>
        <p:spPr>
          <a:xfrm>
            <a:off x="3660475" y="2325475"/>
            <a:ext cx="6342600" cy="915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8" name="Google Shape;668;g3dc51a48e20_0_21"/>
          <p:cNvSpPr/>
          <p:nvPr/>
        </p:nvSpPr>
        <p:spPr>
          <a:xfrm>
            <a:off x="2068775" y="3240475"/>
            <a:ext cx="4046400" cy="915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9" name="Google Shape;669;g3dc51a48e20_0_21"/>
          <p:cNvSpPr/>
          <p:nvPr/>
        </p:nvSpPr>
        <p:spPr>
          <a:xfrm>
            <a:off x="4805025" y="4140800"/>
            <a:ext cx="3840300" cy="822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70" name="Google Shape;670;g3dc51a48e20_0_21"/>
          <p:cNvSpPr txBox="1"/>
          <p:nvPr/>
        </p:nvSpPr>
        <p:spPr>
          <a:xfrm>
            <a:off x="10149150" y="2275075"/>
            <a:ext cx="1275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directed fisheries closed</a:t>
            </a:r>
            <a:endParaRPr sz="18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71" name="Google Shape;671;g3dc51a48e20_0_21"/>
          <p:cNvSpPr/>
          <p:nvPr/>
        </p:nvSpPr>
        <p:spPr>
          <a:xfrm>
            <a:off x="4895875" y="5021317"/>
            <a:ext cx="1275300" cy="822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72" name="Google Shape;672;g3dc51a48e20_0_21"/>
          <p:cNvSpPr/>
          <p:nvPr/>
        </p:nvSpPr>
        <p:spPr>
          <a:xfrm>
            <a:off x="8622811" y="5029026"/>
            <a:ext cx="1275300" cy="822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g3dc51a48e20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2150" y="1418350"/>
            <a:ext cx="8274774" cy="53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g3dc51a48e20_0_4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79" name="Google Shape;679;g3dc51a48e20_0_42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dirty="0"/>
              <a:t>Hybrids: retained catch data</a:t>
            </a:r>
            <a:endParaRPr dirty="0"/>
          </a:p>
        </p:txBody>
      </p:sp>
      <p:sp>
        <p:nvSpPr>
          <p:cNvPr id="680" name="Google Shape;680;g3dc51a48e20_0_42"/>
          <p:cNvSpPr/>
          <p:nvPr/>
        </p:nvSpPr>
        <p:spPr>
          <a:xfrm>
            <a:off x="2293750" y="2325475"/>
            <a:ext cx="7943100" cy="915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1" name="Google Shape;681;g3dc51a48e20_0_42"/>
          <p:cNvSpPr/>
          <p:nvPr/>
        </p:nvSpPr>
        <p:spPr>
          <a:xfrm>
            <a:off x="2217875" y="3240475"/>
            <a:ext cx="1362600" cy="915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2" name="Google Shape;682;g3dc51a48e20_0_42"/>
          <p:cNvSpPr/>
          <p:nvPr/>
        </p:nvSpPr>
        <p:spPr>
          <a:xfrm>
            <a:off x="2217875" y="4218000"/>
            <a:ext cx="3976200" cy="822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3" name="Google Shape;683;g3dc51a48e20_0_42"/>
          <p:cNvSpPr txBox="1"/>
          <p:nvPr/>
        </p:nvSpPr>
        <p:spPr>
          <a:xfrm>
            <a:off x="10230654" y="2275075"/>
            <a:ext cx="1275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directed fisheries closed</a:t>
            </a:r>
            <a:endParaRPr sz="18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4" name="Google Shape;684;g3dc51a48e20_0_42"/>
          <p:cNvSpPr/>
          <p:nvPr/>
        </p:nvSpPr>
        <p:spPr>
          <a:xfrm>
            <a:off x="2217875" y="5102800"/>
            <a:ext cx="1362600" cy="822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5" name="Google Shape;685;g3dc51a48e20_0_42"/>
          <p:cNvSpPr/>
          <p:nvPr/>
        </p:nvSpPr>
        <p:spPr>
          <a:xfrm>
            <a:off x="6194124" y="5133825"/>
            <a:ext cx="1362600" cy="822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6" name="Google Shape;686;g3dc51a48e20_0_42"/>
          <p:cNvSpPr txBox="1"/>
          <p:nvPr/>
        </p:nvSpPr>
        <p:spPr>
          <a:xfrm>
            <a:off x="10281100" y="1565425"/>
            <a:ext cx="160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1997?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>
          <a:extLst>
            <a:ext uri="{FF2B5EF4-FFF2-40B4-BE49-F238E27FC236}">
              <a16:creationId xmlns:a16="http://schemas.microsoft.com/office/drawing/2014/main" id="{11AE52BD-A21A-4D53-F463-002D39926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daf0311381_0_96">
            <a:extLst>
              <a:ext uri="{FF2B5EF4-FFF2-40B4-BE49-F238E27FC236}">
                <a16:creationId xmlns:a16="http://schemas.microsoft.com/office/drawing/2014/main" id="{3578BD7B-9FA0-12D1-9443-84A4D6F3B4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25" name="Google Shape;625;g3daf0311381_0_96">
            <a:extLst>
              <a:ext uri="{FF2B5EF4-FFF2-40B4-BE49-F238E27FC236}">
                <a16:creationId xmlns:a16="http://schemas.microsoft.com/office/drawing/2014/main" id="{20F428DF-AD53-0126-0B49-97761AD32B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Tanner crab model sensitivity runs</a:t>
            </a:r>
            <a:endParaRPr/>
          </a:p>
        </p:txBody>
      </p:sp>
      <p:sp>
        <p:nvSpPr>
          <p:cNvPr id="626" name="Google Shape;626;g3daf0311381_0_96">
            <a:extLst>
              <a:ext uri="{FF2B5EF4-FFF2-40B4-BE49-F238E27FC236}">
                <a16:creationId xmlns:a16="http://schemas.microsoft.com/office/drawing/2014/main" id="{5EE6006D-856B-A7A6-9D8D-CF7C8B678CFD}"/>
              </a:ext>
            </a:extLst>
          </p:cNvPr>
          <p:cNvSpPr txBox="1"/>
          <p:nvPr/>
        </p:nvSpPr>
        <p:spPr>
          <a:xfrm>
            <a:off x="226375" y="1782025"/>
            <a:ext cx="11521800" cy="39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marR="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▪"/>
            </a:pPr>
            <a:r>
              <a:rPr lang="en-US" sz="1900">
                <a:latin typeface="Verdana"/>
                <a:ea typeface="Verdana"/>
                <a:cs typeface="Verdana"/>
                <a:sym typeface="Verdana"/>
              </a:rPr>
              <a:t>2025 assessment model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marL="914400" marR="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▪"/>
            </a:pPr>
            <a:r>
              <a:rPr lang="en-US" sz="1900">
                <a:latin typeface="Verdana"/>
                <a:ea typeface="Verdana"/>
                <a:cs typeface="Verdana"/>
                <a:sym typeface="Verdana"/>
              </a:rPr>
              <a:t>2025AM + (Hybrid+Tanner) survey data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marL="1371600" marR="0" lvl="2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■"/>
            </a:pPr>
            <a:r>
              <a:rPr lang="en-US" sz="1900">
                <a:latin typeface="Verdana"/>
                <a:ea typeface="Verdana"/>
                <a:cs typeface="Verdana"/>
                <a:sym typeface="Verdana"/>
              </a:rPr>
              <a:t>all hybrids treated as Tanner crab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▪"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2025AM + (Hybrid+Tanner) fishery data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371600" lvl="2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■"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all hybrids in ADFG at-sea observer coverage treated as Tanner crab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371600" lvl="2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■"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all hybrids in retained catch size comps treated as Tanner crab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371600" lvl="2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■"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retained catch </a:t>
            </a:r>
            <a:r>
              <a:rPr lang="en-US" sz="19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not</a:t>
            </a: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apportioned between hybrids and species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▪"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2025AM + (Hybrid+Tanner) survey + fishery data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846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daf0311381_0_11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692" name="Google Shape;692;g3daf0311381_0_114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Tanner crab model sensitivity runs: estimated capture rates</a:t>
            </a:r>
            <a:endParaRPr/>
          </a:p>
        </p:txBody>
      </p:sp>
      <p:pic>
        <p:nvPicPr>
          <p:cNvPr id="693" name="Google Shape;693;g3daf0311381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114" y="1469875"/>
            <a:ext cx="4337478" cy="523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g3daf0311381_0_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1989" y="1469875"/>
            <a:ext cx="5265873" cy="523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daf0311381_0_12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700" name="Google Shape;700;g3daf0311381_0_120"/>
          <p:cNvSpPr txBox="1">
            <a:spLocks noGrp="1"/>
          </p:cNvSpPr>
          <p:nvPr>
            <p:ph type="title"/>
          </p:nvPr>
        </p:nvSpPr>
        <p:spPr>
          <a:xfrm>
            <a:off x="774923" y="687475"/>
            <a:ext cx="10106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Tanner crab model sensitivity runs: management quantities</a:t>
            </a:r>
            <a:endParaRPr/>
          </a:p>
        </p:txBody>
      </p:sp>
      <p:pic>
        <p:nvPicPr>
          <p:cNvPr id="701" name="Google Shape;701;g3daf0311381_0_120"/>
          <p:cNvPicPr preferRelativeResize="0"/>
          <p:nvPr/>
        </p:nvPicPr>
        <p:blipFill rotWithShape="1">
          <a:blip r:embed="rId3">
            <a:alphaModFix/>
          </a:blip>
          <a:srcRect r="12862" b="49311"/>
          <a:stretch/>
        </p:blipFill>
        <p:spPr>
          <a:xfrm>
            <a:off x="65681" y="1941300"/>
            <a:ext cx="5838069" cy="3670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g3daf0311381_0_120"/>
          <p:cNvPicPr preferRelativeResize="0"/>
          <p:nvPr/>
        </p:nvPicPr>
        <p:blipFill rotWithShape="1">
          <a:blip r:embed="rId3">
            <a:alphaModFix/>
          </a:blip>
          <a:srcRect t="50266" r="12388"/>
          <a:stretch/>
        </p:blipFill>
        <p:spPr>
          <a:xfrm>
            <a:off x="5903750" y="1941300"/>
            <a:ext cx="5982025" cy="3670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g3daf0311381_0_120"/>
          <p:cNvPicPr preferRelativeResize="0"/>
          <p:nvPr/>
        </p:nvPicPr>
        <p:blipFill rotWithShape="1">
          <a:blip r:embed="rId3">
            <a:alphaModFix/>
          </a:blip>
          <a:srcRect l="87112" t="69304" b="18589"/>
          <a:stretch/>
        </p:blipFill>
        <p:spPr>
          <a:xfrm>
            <a:off x="8817450" y="5691887"/>
            <a:ext cx="880025" cy="89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g3daf0311381_0_120"/>
          <p:cNvPicPr preferRelativeResize="0"/>
          <p:nvPr/>
        </p:nvPicPr>
        <p:blipFill rotWithShape="1">
          <a:blip r:embed="rId3">
            <a:alphaModFix/>
          </a:blip>
          <a:srcRect l="87741" t="18483" b="67486"/>
          <a:stretch/>
        </p:blipFill>
        <p:spPr>
          <a:xfrm>
            <a:off x="3014500" y="5612225"/>
            <a:ext cx="794249" cy="98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221</Words>
  <Application>Microsoft Macintosh PowerPoint</Application>
  <PresentationFormat>Widescreen</PresentationFormat>
  <Paragraphs>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Noto Sans Symbols</vt:lpstr>
      <vt:lpstr>Arial</vt:lpstr>
      <vt:lpstr>Verdana</vt:lpstr>
      <vt:lpstr>Gill Sans</vt:lpstr>
      <vt:lpstr>Dividend</vt:lpstr>
      <vt:lpstr>Chionoecetes spp. hybrids</vt:lpstr>
      <vt:lpstr>Hybrids in survey data</vt:lpstr>
      <vt:lpstr>Chionoecetes spp. hybrids</vt:lpstr>
      <vt:lpstr>Hybrids in fishery data</vt:lpstr>
      <vt:lpstr>Hybrids: total catch data</vt:lpstr>
      <vt:lpstr>Hybrids: retained catch data</vt:lpstr>
      <vt:lpstr>Hybrids: total catch data</vt:lpstr>
      <vt:lpstr>Hybrids: retained catch data</vt:lpstr>
      <vt:lpstr>Tanner crab model sensitivity runs</vt:lpstr>
      <vt:lpstr>Tanner crab model sensitivity runs: estimated capture rates</vt:lpstr>
      <vt:lpstr>Tanner crab model sensitivity runs: management quantities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Sarah LaBelle</dc:creator>
  <cp:lastModifiedBy>William Stockhausen</cp:lastModifiedBy>
  <cp:revision>5</cp:revision>
  <dcterms:created xsi:type="dcterms:W3CDTF">2020-09-17T00:42:38Z</dcterms:created>
  <dcterms:modified xsi:type="dcterms:W3CDTF">2026-05-19T21:01:22Z</dcterms:modified>
</cp:coreProperties>
</file>