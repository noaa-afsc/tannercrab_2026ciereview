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0" r:id="rId2"/>
    <p:sldMasterId id="2147483674" r:id="rId3"/>
  </p:sldMasterIdLst>
  <p:notesMasterIdLst>
    <p:notesMasterId r:id="rId28"/>
  </p:notesMasterIdLst>
  <p:sldIdLst>
    <p:sldId id="256" r:id="rId4"/>
    <p:sldId id="261" r:id="rId5"/>
    <p:sldId id="275" r:id="rId6"/>
    <p:sldId id="798" r:id="rId7"/>
    <p:sldId id="751" r:id="rId8"/>
    <p:sldId id="678" r:id="rId9"/>
    <p:sldId id="679" r:id="rId10"/>
    <p:sldId id="595" r:id="rId11"/>
    <p:sldId id="785" r:id="rId12"/>
    <p:sldId id="794" r:id="rId13"/>
    <p:sldId id="795" r:id="rId14"/>
    <p:sldId id="796" r:id="rId15"/>
    <p:sldId id="799" r:id="rId16"/>
    <p:sldId id="800" r:id="rId17"/>
    <p:sldId id="801" r:id="rId18"/>
    <p:sldId id="802" r:id="rId19"/>
    <p:sldId id="803" r:id="rId20"/>
    <p:sldId id="797" r:id="rId21"/>
    <p:sldId id="804" r:id="rId22"/>
    <p:sldId id="793" r:id="rId23"/>
    <p:sldId id="792" r:id="rId24"/>
    <p:sldId id="791" r:id="rId25"/>
    <p:sldId id="805" r:id="rId26"/>
    <p:sldId id="80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89"/>
    <p:restoredTop sz="87687"/>
  </p:normalViewPr>
  <p:slideViewPr>
    <p:cSldViewPr snapToGrid="0" snapToObjects="1">
      <p:cViewPr varScale="1">
        <p:scale>
          <a:sx n="111" d="100"/>
          <a:sy n="111" d="100"/>
        </p:scale>
        <p:origin x="111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-691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A2E994-B0ED-0A4E-A831-9F7B66D696A3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1A4D2B-9145-8640-AE21-E479860AD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55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25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904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68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2612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3AD03-6FA3-72AF-95A0-337D82D6D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EDF40-7923-AB51-08B3-005C922C6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452CCB-F1BE-7EC5-5CDD-3AF286EA9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352E2-2544-86B9-D3A3-3F11B54D9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0519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513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1842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3865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03763-85CF-0096-5B59-BBAC839F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43DF44-48E4-2E06-CFE2-B4D066B50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811B17-9635-A794-8CCA-43619314A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6ECAB-7CCE-F4CE-0EB4-B1DAB24D9C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4171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DAA7-593D-E9A7-3921-78523992F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5D239C-4B18-AC3E-99BF-867140AF9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C1811-475D-2FE1-AB5B-D2DB9B9A8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5CBE2-4445-6BDD-BC44-4731834698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886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F9620-E039-C602-E19C-AC35A0A5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3D855F-DFCE-C49A-783E-31CC94D17C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D60F0-7F4F-E8FA-21A1-1B783356FC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E9A42-A7EA-C96B-A41A-F748512FF5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92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3C2F-F928-5F00-5AAC-C0D092A92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7EEE6-DA7A-4EF3-647F-A1432B9C6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19BB4E-082A-D03F-0DE7-41CA45D81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73176-5FBB-DBCC-BF7D-E712D7F72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1096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A94A-00F5-74C5-6324-FCC62AA8B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C4D16B-C12C-535B-8BBC-EE0995B6CE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F2F50-D482-4510-A87A-59610444E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E85A-D325-CBAB-064E-09ED5CF365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456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2CD96-3832-C6C0-173B-14DD4491C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653271-F5B4-ED14-CCBF-5C13036BB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78180D-1B00-5BE5-4CDF-3D6FBAC37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A0347-E70B-C4D9-4662-4542CC7A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047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02F08-1FDA-600D-FA79-A647AA3E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212B55-9D04-7252-C54B-EC4A3CA63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E9A35-BEDD-57DC-D355-5FC78FBF4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82FCB-B850-D95F-24A5-354D7767C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768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C5A72-260E-792D-CD2D-C121414BE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BDBCE-9294-752F-7D52-F3FEA69C5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694E8-6CFC-C407-DC10-144E2C695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6D772-8754-329F-1AC0-A40B17398B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363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A9CB3-7022-6C78-D785-E762B1B2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B7F6F-9484-F4AD-22F9-2CB50D594C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209A60-3668-1818-428E-145BBA8CF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BCEBB-2EF3-08C9-7C1F-068CED245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139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B8F40-9951-FDB5-5401-09A292FF5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77821-5266-5DA4-C3E9-C5F9E5D651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32B33E-0E20-A89E-BB50-4904AB3D2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A0B58-9EFF-706F-3CF1-5792979C1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6400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CD42A-6C73-7166-58D9-4C0BDD718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BD8AD5-0FC7-63C4-8F30-D8C2E8297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15184-20F4-E962-DBFB-EA8A19B4E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049CA-0437-6449-E7BC-B0E99E1E0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238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E4D77-3523-5AE5-0613-D33B32C43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9FECBC-2382-C87E-1CCD-6B84F8B522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AD90FB-FF9B-8828-1AD6-E21D22B93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7C9DD-25F4-DB6B-0B4C-0BB2937D5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8663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FBFA9-4E92-4AF0-E0F6-758C4290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ABBF1-1BFA-E440-0BD8-6907E806C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1CD17F-77F5-A062-13E3-294E3463B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9B15C-798F-D8E4-EE71-C03D86E52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345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C0307-8624-4A81-3E37-535D73B70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3D242C-FC50-692F-592B-6FF81711E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4F9A4C-AD20-3DB6-E83A-AC5CA97C4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84301-C2E8-77F6-A63A-848C91C5D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498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001A-3377-3A0F-D30B-FDECEC532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A77A3-3CE3-A4D0-5D95-FA0835CDB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A2C3CF-589C-9D86-5104-EE48D96FD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075F1-0B0B-014F-9D33-6C0A94949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8442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A181D-6ED0-A798-2DA7-525F41153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6A5336-4866-7EC7-D3C7-A45B5A07A3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BDDC9E-D090-4095-41E3-025332A6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BCFE9-F38F-4AC9-3551-3EF2AF3F1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519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No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24709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Boats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626597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Turtle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913104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eafood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864681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Fish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678529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Dark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July 19, 2012</a:t>
            </a:r>
          </a:p>
        </p:txBody>
      </p:sp>
      <p:sp>
        <p:nvSpPr>
          <p:cNvPr id="7" name="Freeform 6"/>
          <p:cNvSpPr/>
          <p:nvPr/>
        </p:nvSpPr>
        <p:spPr>
          <a:xfrm>
            <a:off x="-12253" y="4417161"/>
            <a:ext cx="12227564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965149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DE65052-80B5-D141-90BA-19CA8E22EBCD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F4A1433-DF31-E847-87B2-2D278BA6D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613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DE65052-80B5-D141-90BA-19CA8E22EBCD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F4A1433-DF31-E847-87B2-2D278BA6D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23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70BC3-F8B0-AB46-907C-AD258F352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0836-6EFD-9544-9200-5470F99F8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01848-9FC8-AA44-A1AF-40D764705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5052-80B5-D141-90BA-19CA8E22EBCD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FB5FD-7D8B-D045-92A0-F7EF5FC97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22942A-35E5-DC4A-B220-4DA941DFF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A1433-DF31-E847-87B2-2D278BA6D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6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8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3FFE5A4-DFEE-4EDF-87CD-A33ADA528450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16C6FAA7-E426-4F7E-8C8A-64E11EFE5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98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3FFE5A4-DFEE-4EDF-87CD-A33ADA528450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16C6FAA7-E426-4F7E-8C8A-64E11EFE5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29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E5C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>
          <a:xfrm flipH="1" flipV="1">
            <a:off x="-1" y="-24487"/>
            <a:ext cx="12184781" cy="2515079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  <a:gd name="connsiteX0" fmla="*/ 2887 w 9170673"/>
              <a:gd name="connsiteY0" fmla="*/ 2375696 h 2508024"/>
              <a:gd name="connsiteX1" fmla="*/ 9170673 w 9170673"/>
              <a:gd name="connsiteY1" fmla="*/ 0 h 2508024"/>
              <a:gd name="connsiteX2" fmla="*/ 9169295 w 9170673"/>
              <a:gd name="connsiteY2" fmla="*/ 2508024 h 2508024"/>
              <a:gd name="connsiteX3" fmla="*/ 0 w 9170673"/>
              <a:gd name="connsiteY3" fmla="*/ 2457785 h 2508024"/>
              <a:gd name="connsiteX4" fmla="*/ 2887 w 9170673"/>
              <a:gd name="connsiteY4" fmla="*/ 2375696 h 2508024"/>
              <a:gd name="connsiteX0" fmla="*/ 0 w 9167786"/>
              <a:gd name="connsiteY0" fmla="*/ 2375696 h 2508024"/>
              <a:gd name="connsiteX1" fmla="*/ 9167786 w 9167786"/>
              <a:gd name="connsiteY1" fmla="*/ 0 h 2508024"/>
              <a:gd name="connsiteX2" fmla="*/ 9166408 w 9167786"/>
              <a:gd name="connsiteY2" fmla="*/ 2508024 h 2508024"/>
              <a:gd name="connsiteX3" fmla="*/ 4169 w 9167786"/>
              <a:gd name="connsiteY3" fmla="*/ 2500118 h 2508024"/>
              <a:gd name="connsiteX4" fmla="*/ 0 w 9167786"/>
              <a:gd name="connsiteY4" fmla="*/ 2375696 h 2508024"/>
              <a:gd name="connsiteX0" fmla="*/ 0 w 9166452"/>
              <a:gd name="connsiteY0" fmla="*/ 2375696 h 2508024"/>
              <a:gd name="connsiteX1" fmla="*/ 9061952 w 9166452"/>
              <a:gd name="connsiteY1" fmla="*/ 0 h 2508024"/>
              <a:gd name="connsiteX2" fmla="*/ 9166408 w 9166452"/>
              <a:gd name="connsiteY2" fmla="*/ 2508024 h 2508024"/>
              <a:gd name="connsiteX3" fmla="*/ 4169 w 9166452"/>
              <a:gd name="connsiteY3" fmla="*/ 2500118 h 2508024"/>
              <a:gd name="connsiteX4" fmla="*/ 0 w 9166452"/>
              <a:gd name="connsiteY4" fmla="*/ 2375696 h 2508024"/>
              <a:gd name="connsiteX0" fmla="*/ 0 w 9166808"/>
              <a:gd name="connsiteY0" fmla="*/ 2382751 h 2515079"/>
              <a:gd name="connsiteX1" fmla="*/ 9160729 w 9166808"/>
              <a:gd name="connsiteY1" fmla="*/ 0 h 2515079"/>
              <a:gd name="connsiteX2" fmla="*/ 9166408 w 9166808"/>
              <a:gd name="connsiteY2" fmla="*/ 2515079 h 2515079"/>
              <a:gd name="connsiteX3" fmla="*/ 4169 w 9166808"/>
              <a:gd name="connsiteY3" fmla="*/ 2507173 h 2515079"/>
              <a:gd name="connsiteX4" fmla="*/ 0 w 9166808"/>
              <a:gd name="connsiteY4" fmla="*/ 2382751 h 2515079"/>
              <a:gd name="connsiteX0" fmla="*/ 9943 w 9162640"/>
              <a:gd name="connsiteY0" fmla="*/ 2382751 h 2515079"/>
              <a:gd name="connsiteX1" fmla="*/ 9156561 w 9162640"/>
              <a:gd name="connsiteY1" fmla="*/ 0 h 2515079"/>
              <a:gd name="connsiteX2" fmla="*/ 9162240 w 9162640"/>
              <a:gd name="connsiteY2" fmla="*/ 2515079 h 2515079"/>
              <a:gd name="connsiteX3" fmla="*/ 1 w 9162640"/>
              <a:gd name="connsiteY3" fmla="*/ 2507173 h 2515079"/>
              <a:gd name="connsiteX4" fmla="*/ 9943 w 9162640"/>
              <a:gd name="connsiteY4" fmla="*/ 2382751 h 2515079"/>
              <a:gd name="connsiteX0" fmla="*/ 0 w 9152697"/>
              <a:gd name="connsiteY0" fmla="*/ 2382751 h 2515079"/>
              <a:gd name="connsiteX1" fmla="*/ 9146618 w 9152697"/>
              <a:gd name="connsiteY1" fmla="*/ 0 h 2515079"/>
              <a:gd name="connsiteX2" fmla="*/ 9152297 w 9152697"/>
              <a:gd name="connsiteY2" fmla="*/ 2515079 h 2515079"/>
              <a:gd name="connsiteX3" fmla="*/ 187614 w 9152697"/>
              <a:gd name="connsiteY3" fmla="*/ 2507173 h 2515079"/>
              <a:gd name="connsiteX4" fmla="*/ 0 w 9152697"/>
              <a:gd name="connsiteY4" fmla="*/ 2382751 h 2515079"/>
              <a:gd name="connsiteX0" fmla="*/ 0 w 9068030"/>
              <a:gd name="connsiteY0" fmla="*/ 2382751 h 2515079"/>
              <a:gd name="connsiteX1" fmla="*/ 9061951 w 9068030"/>
              <a:gd name="connsiteY1" fmla="*/ 0 h 2515079"/>
              <a:gd name="connsiteX2" fmla="*/ 9067630 w 9068030"/>
              <a:gd name="connsiteY2" fmla="*/ 2515079 h 2515079"/>
              <a:gd name="connsiteX3" fmla="*/ 102947 w 9068030"/>
              <a:gd name="connsiteY3" fmla="*/ 2507173 h 2515079"/>
              <a:gd name="connsiteX4" fmla="*/ 0 w 9068030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173503 w 9138586"/>
              <a:gd name="connsiteY3" fmla="*/ 2507173 h 2515079"/>
              <a:gd name="connsiteX4" fmla="*/ 0 w 9138586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4170 w 9138586"/>
              <a:gd name="connsiteY3" fmla="*/ 2507173 h 2515079"/>
              <a:gd name="connsiteX4" fmla="*/ 0 w 9138586"/>
              <a:gd name="connsiteY4" fmla="*/ 2382751 h 2515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38586" h="2515079">
                <a:moveTo>
                  <a:pt x="0" y="2382751"/>
                </a:moveTo>
                <a:cubicBezTo>
                  <a:pt x="20661" y="2379422"/>
                  <a:pt x="7306149" y="2502055"/>
                  <a:pt x="9132507" y="0"/>
                </a:cubicBezTo>
                <a:cubicBezTo>
                  <a:pt x="9129925" y="819774"/>
                  <a:pt x="9140768" y="1695305"/>
                  <a:pt x="9138186" y="2515079"/>
                </a:cubicBezTo>
                <a:lnTo>
                  <a:pt x="4170" y="2507173"/>
                </a:lnTo>
                <a:cubicBezTo>
                  <a:pt x="4169" y="2465011"/>
                  <a:pt x="1" y="2424913"/>
                  <a:pt x="0" y="238275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599" y="457169"/>
            <a:ext cx="10972800" cy="772250"/>
          </a:xfrm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15623"/>
            <a:ext cx="10972800" cy="1500187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0112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>
          <a:xfrm flipH="1" flipV="1">
            <a:off x="-25423" y="-30696"/>
            <a:ext cx="12227564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599" y="457200"/>
            <a:ext cx="10972800" cy="77225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15654"/>
            <a:ext cx="10972800" cy="150018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466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7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rotWithShape="1"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8909" y="1141666"/>
            <a:ext cx="7313491" cy="139847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8910" y="2631404"/>
            <a:ext cx="7313489" cy="1277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Freeform 6"/>
          <p:cNvSpPr/>
          <p:nvPr/>
        </p:nvSpPr>
        <p:spPr>
          <a:xfrm>
            <a:off x="-12253" y="4417161"/>
            <a:ext cx="12227564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725549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r" defTabSz="457200" rtl="0" eaLnBrk="1" latinLnBrk="0" hangingPunct="1">
        <a:lnSpc>
          <a:spcPct val="80000"/>
        </a:lnSpc>
        <a:spcBef>
          <a:spcPct val="0"/>
        </a:spcBef>
        <a:buNone/>
        <a:defRPr sz="4400" b="1" i="0" kern="1200">
          <a:solidFill>
            <a:schemeClr val="accent1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67601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07294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48000" y="6355081"/>
            <a:ext cx="8534401" cy="50291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8" name="Picture 7" descr="NOAA-Fisheries-horizontal.png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72" y="6419089"/>
            <a:ext cx="2191920" cy="38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055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b="1" i="0" kern="1200">
          <a:solidFill>
            <a:schemeClr val="accent1"/>
          </a:solidFill>
          <a:latin typeface="+mj-lt"/>
          <a:ea typeface="+mj-ea"/>
          <a:cs typeface="Arial Narrow Bold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67601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07294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48000" y="6355081"/>
            <a:ext cx="8534401" cy="50291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74" y="6419089"/>
            <a:ext cx="2191917" cy="38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098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b="1" i="0" kern="1200">
          <a:solidFill>
            <a:srgbClr val="FFFFFF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0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1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3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screen">
            <a:alphaModFix amt="40000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E1D0-11B8-8345-91DD-DA00A52441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120094"/>
          </a:xfrm>
        </p:spPr>
        <p:txBody>
          <a:bodyPr>
            <a:noAutofit/>
          </a:bodyPr>
          <a:lstStyle/>
          <a:p>
            <a:pPr algn="ctr"/>
            <a:r>
              <a:rPr lang="en-US" sz="4800" dirty="0"/>
              <a:t>2026 Tanner Crab </a:t>
            </a:r>
            <a:br>
              <a:rPr lang="en-US" sz="4800" dirty="0"/>
            </a:br>
            <a:r>
              <a:rPr lang="en-US" sz="4800" dirty="0"/>
              <a:t>Transition To GMACS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3B8582-F632-314D-8EF2-647B54A375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William Stockhausen</a:t>
            </a:r>
          </a:p>
          <a:p>
            <a:r>
              <a:rPr lang="en-US" dirty="0"/>
              <a:t>AFSC/NMFS/NOAA</a:t>
            </a:r>
          </a:p>
        </p:txBody>
      </p:sp>
    </p:spTree>
    <p:extLst>
      <p:ext uri="{BB962C8B-B14F-4D97-AF65-F5344CB8AC3E}">
        <p14:creationId xmlns:p14="http://schemas.microsoft.com/office/powerpoint/2010/main" val="149345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746" y="233083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Tier 3 Assessment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A8462F-5DBA-F24D-B525-7F903477256A}"/>
              </a:ext>
            </a:extLst>
          </p:cNvPr>
          <p:cNvSpPr txBox="1"/>
          <p:nvPr/>
        </p:nvSpPr>
        <p:spPr>
          <a:xfrm>
            <a:off x="1227624" y="782135"/>
            <a:ext cx="5583580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Tier 3 size-structured model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Survey data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NMFS EBS shelf survey: 1975-present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BSFRF 2013-2018 side-by-side haul studies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Fishery data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directed fishery (areas combined)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sz="2000" dirty="0"/>
              <a:t>retained catch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sz="2000" dirty="0"/>
              <a:t>total catch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bycatch in 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sz="2000" dirty="0"/>
              <a:t>snow crab fishery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sz="2000" dirty="0"/>
              <a:t>BBRKC fishery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sz="2000" dirty="0"/>
              <a:t>groundfish fisheries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Estimates: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Annual recruitment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Annual numbers-at-size (M,F)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mature biomass (MMB, MFB)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Determines: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sz="2000" baseline="-25000" dirty="0"/>
              <a:t>MSY</a:t>
            </a:r>
            <a:r>
              <a:rPr lang="en-US" sz="2000" dirty="0"/>
              <a:t>, B</a:t>
            </a:r>
            <a:r>
              <a:rPr lang="en-US" sz="2000" baseline="-25000" dirty="0"/>
              <a:t>MSY</a:t>
            </a:r>
            <a:r>
              <a:rPr lang="en-US" sz="2000" dirty="0"/>
              <a:t>, F</a:t>
            </a:r>
            <a:r>
              <a:rPr lang="en-US" sz="2000" baseline="-25000" dirty="0"/>
              <a:t>OFL</a:t>
            </a:r>
            <a:r>
              <a:rPr lang="en-US" sz="2000" dirty="0"/>
              <a:t>, OFL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B6137A-C0CC-E346-8142-0E246A30A8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9649" y="254595"/>
            <a:ext cx="5430644" cy="611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916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270" y="202436"/>
            <a:ext cx="8669355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Assessment time frames: data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64A53B-36D8-E241-3B3A-93B763335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61" y="1083051"/>
            <a:ext cx="12008078" cy="469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016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240" y="191926"/>
            <a:ext cx="8669355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Assessment time frames: model processes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4D10F7-B386-DAD6-0663-CA4A4937B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8" y="1042074"/>
            <a:ext cx="12065304" cy="4724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985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249-C069-596C-B7BC-2B7DEE4E6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1A99E2-8F88-227E-FD12-716E9843A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64" y="242485"/>
            <a:ext cx="5095442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Population dynamics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7981B6-B521-5083-9D09-2F55540C3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66" y="1511300"/>
            <a:ext cx="9663868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422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64" y="242485"/>
            <a:ext cx="5095442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Fisheries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98AED4-E3BE-CAC1-D805-94400D8E3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895" y="242485"/>
            <a:ext cx="5295900" cy="6199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2D57A6-B1A0-6FE9-FF7F-0B10C479F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64" y="907112"/>
            <a:ext cx="5679795" cy="5043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29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64" y="242485"/>
            <a:ext cx="5095442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Surveys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02DC3B9-2B1C-5C5D-4682-9525811EF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1" y="1056928"/>
            <a:ext cx="10791402" cy="508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893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29" y="324679"/>
            <a:ext cx="2090577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Likelihoods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6CD23D-0557-A61E-1178-E726B8D15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700" y="120650"/>
            <a:ext cx="6578600" cy="66167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666456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30DD1-E251-3B3C-B8A8-A2EF41D03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7672D9-9722-9B0B-2ADB-620B7CDD2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GMACS Modifications To Match TCSAM02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18930B-2C82-81EE-E61C-5250A058AA89}"/>
              </a:ext>
            </a:extLst>
          </p:cNvPr>
          <p:cNvSpPr txBox="1"/>
          <p:nvPr/>
        </p:nvSpPr>
        <p:spPr>
          <a:xfrm>
            <a:off x="106778" y="848004"/>
            <a:ext cx="609426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Added alternative multinomial likelihood as option to fit size comps (option 7) to match TCSAM02 calculation.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Added male maturity data section to data file.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Added "doTCSAM02EffExp" flag to data file (right after flag to read catch data in new format). If "on" (1),</a:t>
            </a:r>
            <a:r>
              <a:rPr lang="en-US" dirty="0"/>
              <a:t> </a:t>
            </a:r>
            <a:r>
              <a:rPr lang="en-US" i="1" dirty="0"/>
              <a:t>effort extrapolation for missing catch is based on average catch divided by average effort for years specified by new "</a:t>
            </a:r>
            <a:r>
              <a:rPr lang="en-US" i="1" dirty="0" err="1"/>
              <a:t>avg_eff</a:t>
            </a:r>
            <a:r>
              <a:rPr lang="en-US" i="1" dirty="0"/>
              <a:t>" column in</a:t>
            </a:r>
            <a:r>
              <a:rPr lang="en-US" dirty="0"/>
              <a:t> </a:t>
            </a:r>
            <a:r>
              <a:rPr lang="en-US" i="1" dirty="0"/>
              <a:t>new-format </a:t>
            </a:r>
            <a:r>
              <a:rPr lang="en-US" i="1" dirty="0" err="1"/>
              <a:t>CatchDFs</a:t>
            </a:r>
            <a:r>
              <a:rPr lang="en-US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Added growth transition options 9 and 10 to provide same functionality as TCSAM02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Added alternative 4-parameter double normal selectivity option (SELEX_DOUBLENORM4a = 15) to match TCSAM02. The plateau is</a:t>
            </a:r>
            <a:r>
              <a:rPr lang="en-US" dirty="0"/>
              <a:t> </a:t>
            </a:r>
            <a:r>
              <a:rPr lang="en-US" i="1" dirty="0"/>
              <a:t>determined from a scale parameter and the distance between the max possible size and the size at the ascending limb.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FF0000"/>
                </a:solidFill>
              </a:rPr>
              <a:t>Added new options for calculating/extending size comps to provide sample size scaling/no scaling options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i="1" dirty="0">
                <a:solidFill>
                  <a:srgbClr val="FF0000"/>
                </a:solidFill>
              </a:rPr>
              <a:t>for input size comps.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9D9626-50DB-FE3B-1FB3-F02222B9957A}"/>
              </a:ext>
            </a:extLst>
          </p:cNvPr>
          <p:cNvSpPr txBox="1"/>
          <p:nvPr/>
        </p:nvSpPr>
        <p:spPr>
          <a:xfrm>
            <a:off x="5990954" y="848004"/>
            <a:ext cx="6094268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The growth options TCSAM02A and TCSAM02B (=9 and 10) that provide similar functionality as TCSAM02 for the growth transition</a:t>
            </a:r>
            <a:r>
              <a:rPr lang="en-US" dirty="0"/>
              <a:t> </a:t>
            </a:r>
            <a:r>
              <a:rPr lang="en-US" i="1" dirty="0"/>
              <a:t>matrices were reassigned and additional options TCSAM02C and TCSAM02D (11 and 12) were added. A and B apply to the case where</a:t>
            </a:r>
            <a:r>
              <a:rPr lang="en-US" dirty="0"/>
              <a:t> </a:t>
            </a:r>
            <a:r>
              <a:rPr lang="en-US" i="1" dirty="0"/>
              <a:t>the molt increment is assumed to be gamma-distributed while C and D apply to the case where </a:t>
            </a:r>
            <a:r>
              <a:rPr lang="en-US" i="1" dirty="0" err="1"/>
              <a:t>postmolt</a:t>
            </a:r>
            <a:r>
              <a:rPr lang="en-US" i="1" dirty="0"/>
              <a:t> size is gamma-distributed. All</a:t>
            </a:r>
            <a:r>
              <a:rPr lang="en-US" dirty="0"/>
              <a:t> </a:t>
            </a:r>
            <a:r>
              <a:rPr lang="en-US" i="1" dirty="0"/>
              <a:t>of the options limit growth to a maximum number of size bins but treat probabilities from the "excluded" size bins differently: A and C</a:t>
            </a:r>
            <a:r>
              <a:rPr lang="en-US" dirty="0"/>
              <a:t> </a:t>
            </a:r>
            <a:r>
              <a:rPr lang="en-US" i="1" dirty="0"/>
              <a:t>drop them, then normalize the remaining probabilities to sum to 1 whereas B and D treat the max size bin as an accumulator for "raw”</a:t>
            </a:r>
            <a:r>
              <a:rPr lang="en-US" dirty="0"/>
              <a:t> </a:t>
            </a:r>
            <a:r>
              <a:rPr lang="en-US" i="1" dirty="0"/>
              <a:t>probabilities at larger size bins before dropping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FF0000"/>
                </a:solidFill>
              </a:rPr>
              <a:t>Fixed calculation of predicted fishery size comps in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i="1" dirty="0" err="1">
                <a:solidFill>
                  <a:srgbClr val="FF0000"/>
                </a:solidFill>
              </a:rPr>
              <a:t>calc_predicted_composition</a:t>
            </a:r>
            <a:r>
              <a:rPr lang="en-US" i="1" dirty="0">
                <a:solidFill>
                  <a:srgbClr val="FF0000"/>
                </a:solidFill>
              </a:rPr>
              <a:t> by including fully-selected F's (ft(</a:t>
            </a:r>
            <a:r>
              <a:rPr lang="en-US" i="1" dirty="0" err="1">
                <a:solidFill>
                  <a:srgbClr val="FF0000"/>
                </a:solidFill>
              </a:rPr>
              <a:t>k,h,i,j</a:t>
            </a:r>
            <a:r>
              <a:rPr lang="en-US" i="1" dirty="0">
                <a:solidFill>
                  <a:srgbClr val="FF0000"/>
                </a:solidFill>
              </a:rPr>
              <a:t>)) in the calculations.</a:t>
            </a:r>
            <a:endParaRPr lang="en-US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31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0CC55-B3E6-253E-412C-684786A18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6E2193-24B3-8483-7788-F031CA83E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Natural Mortality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9A890D4-6F5C-8609-F66B-1F5F863F7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290" y="935835"/>
            <a:ext cx="4650421" cy="570481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1A343A-8B4B-B7CA-B837-45BC1C5CBA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6087" y="935835"/>
            <a:ext cx="4674623" cy="57048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39CCED-BF07-80E8-802F-A4907F11B4A4}"/>
              </a:ext>
            </a:extLst>
          </p:cNvPr>
          <p:cNvSpPr txBox="1"/>
          <p:nvPr/>
        </p:nvSpPr>
        <p:spPr>
          <a:xfrm rot="16200000">
            <a:off x="737755" y="3688773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values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6A245E-B21E-05D2-6A23-16426A42208F}"/>
              </a:ext>
            </a:extLst>
          </p:cNvPr>
          <p:cNvSpPr txBox="1"/>
          <p:nvPr/>
        </p:nvSpPr>
        <p:spPr>
          <a:xfrm rot="5400000">
            <a:off x="10607090" y="3491346"/>
            <a:ext cx="1330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% differences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0F9C40-1A54-5F1F-1A97-B46F45A9BEE0}"/>
              </a:ext>
            </a:extLst>
          </p:cNvPr>
          <p:cNvSpPr txBox="1"/>
          <p:nvPr/>
        </p:nvSpPr>
        <p:spPr>
          <a:xfrm>
            <a:off x="5652655" y="631673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immature crab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90CCF9-D0AB-DCDB-5558-29C8EB0F8CB3}"/>
              </a:ext>
            </a:extLst>
          </p:cNvPr>
          <p:cNvSpPr txBox="1"/>
          <p:nvPr/>
        </p:nvSpPr>
        <p:spPr>
          <a:xfrm>
            <a:off x="5752041" y="3603575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mature crab</a:t>
            </a:r>
          </a:p>
        </p:txBody>
      </p:sp>
    </p:spTree>
    <p:extLst>
      <p:ext uri="{BB962C8B-B14F-4D97-AF65-F5344CB8AC3E}">
        <p14:creationId xmlns:p14="http://schemas.microsoft.com/office/powerpoint/2010/main" val="4265399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56F2E-5D8A-0472-7090-EB4B85370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73B78C-9FC5-8F91-1241-0113BE595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Male growth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111402-B711-E821-E05A-ED38D7D5C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73" y="1514211"/>
            <a:ext cx="6161723" cy="40501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A3226D-B30C-9FA5-058E-F12093F86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646" y="4823088"/>
            <a:ext cx="723900" cy="520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D48C42-7A9F-CA60-34C5-4ADD19549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196" y="1514211"/>
            <a:ext cx="5749636" cy="40551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CA546C-C98F-660B-7F60-7DB16315B0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014" y="4943738"/>
            <a:ext cx="1511300" cy="27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2766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DE3A0-7D8B-94AB-515C-BE487583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C20011-7252-39C3-126A-CCB4E9D5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Fully-selected Male Capture F’s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7DFBD6-065E-5A85-7135-860B39977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2" y="1203204"/>
            <a:ext cx="6157050" cy="45741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8B251E-7973-2890-4EE0-54E7A3D7F7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7528" y="1293747"/>
            <a:ext cx="5914021" cy="44835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31AE18-8963-FB31-B1DB-E0FC6F8704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955" y="1383697"/>
            <a:ext cx="723900" cy="520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2B04AB-7A94-C228-7961-28A6B29EF0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6077" y="1510697"/>
            <a:ext cx="1206500" cy="26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4311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5B9D-E71A-A97A-1031-4D61025F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EA9F4E-7562-A99E-B697-237F78F6C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Recruitment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B2E4A84-26A9-B6BA-15AA-E26669B88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89942"/>
            <a:ext cx="6096000" cy="45108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E9F2FE-784E-6A9E-901A-3248D4604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89942"/>
            <a:ext cx="5578763" cy="45460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5A1510-6EB6-54D7-887A-335DC01E2E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82" y="1633079"/>
            <a:ext cx="7239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50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3B41-DC8E-6E8F-356E-48CCCDBD6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90111F-B5D1-5F05-895D-B68FDC114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Population abundance-at-size for mature males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0995FF3-B856-438F-D2C1-CBC07E164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032" y="696842"/>
            <a:ext cx="8911936" cy="5857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4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C6B3E-56E1-EC2E-B8F0-7FFDDB30D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CF0346-83DE-66DE-15C3-D1D921AD0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Predicted total catch biomass, by fishery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04ED52-BB6B-4FE7-FEBD-4BD2F34DD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172" y="696842"/>
            <a:ext cx="9355283" cy="611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46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7DCDF-CF0A-EDD7-92DE-022EBABFD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91DE473-661E-3145-4F5D-AD73BD53F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Predicted NMFS Survey Biomass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0F4B15-0246-3DB7-93BD-B5A3456C6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173" y="696842"/>
            <a:ext cx="9206618" cy="6077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6960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AD5FD-EBEB-4807-3CF0-A4EBB97B8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C47BB8-6441-0E24-F755-394AF1759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Likelihood differences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0F1593-788B-C4CB-B9B6-6AFD62041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8947"/>
            <a:ext cx="4053999" cy="50875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0F3793-BFC7-6ECB-A631-0EE76EB34359}"/>
              </a:ext>
            </a:extLst>
          </p:cNvPr>
          <p:cNvSpPr txBox="1"/>
          <p:nvPr/>
        </p:nvSpPr>
        <p:spPr>
          <a:xfrm>
            <a:off x="571500" y="920006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growth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0079AB-75BD-DA04-0263-00E5452B8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0757" y="1254930"/>
            <a:ext cx="3836179" cy="51115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C5B8540-3456-BD6A-26FC-5BF666892D4D}"/>
              </a:ext>
            </a:extLst>
          </p:cNvPr>
          <p:cNvSpPr txBox="1"/>
          <p:nvPr/>
        </p:nvSpPr>
        <p:spPr>
          <a:xfrm>
            <a:off x="4457222" y="909615"/>
            <a:ext cx="1922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male maturity ogives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39A5D4-F122-277A-233D-98FE70E217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3326" y="1254930"/>
            <a:ext cx="3863874" cy="51115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1D438EC-F2AE-2E8E-FD58-3BB8347FF9B1}"/>
              </a:ext>
            </a:extLst>
          </p:cNvPr>
          <p:cNvSpPr txBox="1"/>
          <p:nvPr/>
        </p:nvSpPr>
        <p:spPr>
          <a:xfrm>
            <a:off x="8353744" y="909615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survey biomass</a:t>
            </a:r>
          </a:p>
        </p:txBody>
      </p:sp>
    </p:spTree>
    <p:extLst>
      <p:ext uri="{BB962C8B-B14F-4D97-AF65-F5344CB8AC3E}">
        <p14:creationId xmlns:p14="http://schemas.microsoft.com/office/powerpoint/2010/main" val="13087885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34F4F-2502-A293-A8A8-3B41B5548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CDBD56-3282-6DA8-017E-C91DD3EC9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118" y="305222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Likelihood differences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066D3D6-0586-D31A-87F0-F3793C6CC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4309" y="1194953"/>
            <a:ext cx="4251994" cy="52939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72C4F4-C9E2-915E-FB8A-0BA1FE471733}"/>
              </a:ext>
            </a:extLst>
          </p:cNvPr>
          <p:cNvSpPr txBox="1"/>
          <p:nvPr/>
        </p:nvSpPr>
        <p:spPr>
          <a:xfrm>
            <a:off x="2695002" y="825621"/>
            <a:ext cx="2135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retained catch biomass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7E761F-323A-0A5F-3E8C-215C1BB005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035" y="1115227"/>
            <a:ext cx="4126210" cy="53736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3E4C35-A6D1-2CD1-F887-0437AA748BC9}"/>
              </a:ext>
            </a:extLst>
          </p:cNvPr>
          <p:cNvSpPr txBox="1"/>
          <p:nvPr/>
        </p:nvSpPr>
        <p:spPr>
          <a:xfrm>
            <a:off x="7117561" y="825621"/>
            <a:ext cx="1808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catch biomass</a:t>
            </a:r>
          </a:p>
        </p:txBody>
      </p:sp>
    </p:spTree>
    <p:extLst>
      <p:ext uri="{BB962C8B-B14F-4D97-AF65-F5344CB8AC3E}">
        <p14:creationId xmlns:p14="http://schemas.microsoft.com/office/powerpoint/2010/main" val="665090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038D7-37F1-E01A-DF6A-7AD469BEB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29B5B9-D0A4-2A84-9815-BED51129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Fits to NMFS survey male size comps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BAE100-68D4-03D7-C757-34FF2E188A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282" y="696842"/>
            <a:ext cx="9247909" cy="60784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872183-0F5F-B48A-5AA5-A0E0328DB080}"/>
              </a:ext>
            </a:extLst>
          </p:cNvPr>
          <p:cNvSpPr txBox="1"/>
          <p:nvPr/>
        </p:nvSpPr>
        <p:spPr>
          <a:xfrm>
            <a:off x="7574973" y="5818909"/>
            <a:ext cx="2178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lines: predicted values</a:t>
            </a:r>
          </a:p>
          <a:p>
            <a:r>
              <a:rPr lang="en-US" dirty="0"/>
              <a:t>points: observed values</a:t>
            </a:r>
          </a:p>
        </p:txBody>
      </p:sp>
    </p:spTree>
    <p:extLst>
      <p:ext uri="{BB962C8B-B14F-4D97-AF65-F5344CB8AC3E}">
        <p14:creationId xmlns:p14="http://schemas.microsoft.com/office/powerpoint/2010/main" val="2604139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A1D68-786B-4B7E-E6F5-A20B6C6D2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832364-FAFF-AEC5-0770-595876966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Directed fishery “extended” total catch size comps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2042CE-BE2B-F63E-467A-97BE6C5F9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571" y="1174171"/>
            <a:ext cx="6157033" cy="43122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01E9F1-38E5-05BD-C579-293E04551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255594"/>
            <a:ext cx="6096000" cy="423080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DA068D4-8BD5-B829-A6DD-965FF7300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4823088"/>
            <a:ext cx="723900" cy="520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7CD7CD6-FEE0-FB6D-A5F9-9A69E7432AC6}"/>
              </a:ext>
            </a:extLst>
          </p:cNvPr>
          <p:cNvSpPr txBox="1"/>
          <p:nvPr/>
        </p:nvSpPr>
        <p:spPr>
          <a:xfrm>
            <a:off x="2275609" y="886262"/>
            <a:ext cx="1965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observed size comps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E14CCA-D5BB-128D-2C82-F3B810D4D8EB}"/>
              </a:ext>
            </a:extLst>
          </p:cNvPr>
          <p:cNvSpPr txBox="1"/>
          <p:nvPr/>
        </p:nvSpPr>
        <p:spPr>
          <a:xfrm>
            <a:off x="8123500" y="886262"/>
            <a:ext cx="1965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predicted size comps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B7E4F6-D910-93BB-40C7-2BE0F179E8AD}"/>
              </a:ext>
            </a:extLst>
          </p:cNvPr>
          <p:cNvSpPr txBox="1"/>
          <p:nvPr/>
        </p:nvSpPr>
        <p:spPr>
          <a:xfrm>
            <a:off x="3347105" y="5683829"/>
            <a:ext cx="56909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</a:rPr>
              <a:t>without scaling by sex-specific fishery capture rates</a:t>
            </a:r>
          </a:p>
        </p:txBody>
      </p:sp>
    </p:spTree>
    <p:extLst>
      <p:ext uri="{BB962C8B-B14F-4D97-AF65-F5344CB8AC3E}">
        <p14:creationId xmlns:p14="http://schemas.microsoft.com/office/powerpoint/2010/main" val="41578827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B6641-370C-DDC5-1ECF-BDA59B96E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297F91-2406-2988-F841-5B81283F2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/>
              <a:t>Directed fishery “extended” total catch size comps</a:t>
            </a:r>
            <a:endParaRPr lang="en-US" sz="3200" dirty="0">
              <a:latin typeface="+mn-l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B1A09D-7F5A-FDA4-569D-33F3162A8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149" y="1215735"/>
            <a:ext cx="6158852" cy="4312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F7C28C-9338-0ABA-C4C1-A843E4E23AB8}"/>
              </a:ext>
            </a:extLst>
          </p:cNvPr>
          <p:cNvSpPr txBox="1"/>
          <p:nvPr/>
        </p:nvSpPr>
        <p:spPr>
          <a:xfrm>
            <a:off x="3475048" y="5646746"/>
            <a:ext cx="53639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B0F0"/>
                </a:solidFill>
              </a:rPr>
              <a:t>with scaling by sex-specific fishery capture rates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04EC83-9CE9-B19F-E711-4B58135FC0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" y="1272885"/>
            <a:ext cx="6056863" cy="41979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66F87C-C1BC-B2F4-826E-3900474F7128}"/>
              </a:ext>
            </a:extLst>
          </p:cNvPr>
          <p:cNvSpPr txBox="1"/>
          <p:nvPr/>
        </p:nvSpPr>
        <p:spPr>
          <a:xfrm>
            <a:off x="2275609" y="886262"/>
            <a:ext cx="1965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observed size comps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ED2386-C3B8-94AC-7591-2BB37077AA1D}"/>
              </a:ext>
            </a:extLst>
          </p:cNvPr>
          <p:cNvSpPr txBox="1"/>
          <p:nvPr/>
        </p:nvSpPr>
        <p:spPr>
          <a:xfrm>
            <a:off x="8123500" y="886262"/>
            <a:ext cx="1965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predicted size comps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9D3871-781E-999B-6D79-3EF3D91C81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6460" y="4751070"/>
            <a:ext cx="7239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749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8D26E-001D-9539-E61A-BBCF0D086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C88835-3CC7-D66F-6DFE-197BCC9AD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/>
              <a:t>Fits to directed fishery t</a:t>
            </a:r>
            <a:r>
              <a:rPr lang="en-US" sz="3200" dirty="0">
                <a:latin typeface="+mn-lt"/>
              </a:rPr>
              <a:t>otal catch size comps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6433210-F928-0366-9BE5-7DDB10085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23008"/>
            <a:ext cx="6039485" cy="42357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3B3CF29-5D54-C6CA-9699-CFA3C3E69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7792" y="4843157"/>
            <a:ext cx="723900" cy="520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F53E64-990B-D855-5C86-FDCB0CB14E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99246"/>
            <a:ext cx="6010564" cy="41812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0FBC78-3B29-3328-4647-2EA24D2C7522}"/>
              </a:ext>
            </a:extLst>
          </p:cNvPr>
          <p:cNvSpPr txBox="1"/>
          <p:nvPr/>
        </p:nvSpPr>
        <p:spPr>
          <a:xfrm>
            <a:off x="2919845" y="966355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67E31B-9F66-917E-F8E7-4F1057F1E1E2}"/>
              </a:ext>
            </a:extLst>
          </p:cNvPr>
          <p:cNvSpPr txBox="1"/>
          <p:nvPr/>
        </p:nvSpPr>
        <p:spPr>
          <a:xfrm>
            <a:off x="8677127" y="929914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767CD1-C35E-AD2B-CF99-759E8B9B322F}"/>
              </a:ext>
            </a:extLst>
          </p:cNvPr>
          <p:cNvSpPr txBox="1"/>
          <p:nvPr/>
        </p:nvSpPr>
        <p:spPr>
          <a:xfrm>
            <a:off x="8489373" y="4966855"/>
            <a:ext cx="1577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Lines: predicted</a:t>
            </a:r>
          </a:p>
          <a:p>
            <a:r>
              <a:rPr lang="en-US" dirty="0"/>
              <a:t>points: observed</a:t>
            </a:r>
          </a:p>
        </p:txBody>
      </p:sp>
    </p:spTree>
    <p:extLst>
      <p:ext uri="{BB962C8B-B14F-4D97-AF65-F5344CB8AC3E}">
        <p14:creationId xmlns:p14="http://schemas.microsoft.com/office/powerpoint/2010/main" val="845227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F9A57-4BF4-827D-F770-14AB04A2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3B72D-DB9E-67EA-0FEA-A12861FD3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Management </a:t>
            </a:r>
            <a:br>
              <a:rPr lang="en-US" sz="3200" dirty="0">
                <a:latin typeface="+mn-lt"/>
              </a:rPr>
            </a:br>
            <a:r>
              <a:rPr lang="en-US" sz="3200" dirty="0">
                <a:latin typeface="+mn-lt"/>
              </a:rPr>
              <a:t>Quantities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5D5FEC-2739-3DB9-7402-9DF7BDE68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810" y="176443"/>
            <a:ext cx="9843190" cy="6513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232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67284-1136-1BC7-B192-091D4405A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6BA4CC-8F23-004F-ED4E-AB1880407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673" y="176443"/>
            <a:ext cx="8814415" cy="520399"/>
          </a:xfrm>
        </p:spPr>
        <p:txBody>
          <a:bodyPr>
            <a:noAutofit/>
          </a:bodyPr>
          <a:lstStyle/>
          <a:p>
            <a:r>
              <a:rPr lang="en-US" sz="3200" dirty="0">
                <a:latin typeface="+mn-lt"/>
              </a:rPr>
              <a:t>Wrap-up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42454F-3279-3921-2147-764C243B9A8B}"/>
              </a:ext>
            </a:extLst>
          </p:cNvPr>
          <p:cNvSpPr txBox="1"/>
          <p:nvPr/>
        </p:nvSpPr>
        <p:spPr>
          <a:xfrm>
            <a:off x="2330385" y="940955"/>
            <a:ext cx="8608895" cy="47705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GMACS</a:t>
            </a:r>
          </a:p>
          <a:p>
            <a:r>
              <a:rPr lang="en-US" sz="2400" i="1" dirty="0"/>
              <a:t>Estimation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GMACS model converges, but not to TCSAM02 MLE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Need to ensure priors and penalties are equivalent between the frameworks</a:t>
            </a:r>
          </a:p>
          <a:p>
            <a:r>
              <a:rPr lang="en-US" sz="2400" i="1" dirty="0"/>
              <a:t>Further work (before September)</a:t>
            </a:r>
            <a:endParaRPr lang="en-US" sz="2000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reconcile OFL calculations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800" dirty="0"/>
              <a:t>Proposed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 new maturity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bespoke TCSAM02 model updated with 2025/26 fishery and survey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matching GMACS model with 2025/26 fishery and survey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priors, penalties to match TCSAM02 as closely as possible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use GMACS OFL calculations</a:t>
            </a:r>
          </a:p>
        </p:txBody>
      </p:sp>
    </p:spTree>
    <p:extLst>
      <p:ext uri="{BB962C8B-B14F-4D97-AF65-F5344CB8AC3E}">
        <p14:creationId xmlns:p14="http://schemas.microsoft.com/office/powerpoint/2010/main" val="2413562717"/>
      </p:ext>
    </p:extLst>
  </p:cSld>
  <p:clrMapOvr>
    <a:masterClrMapping/>
  </p:clrMapOvr>
</p:sld>
</file>

<file path=ppt/theme/theme1.xml><?xml version="1.0" encoding="utf-8"?>
<a:theme xmlns:a="http://schemas.openxmlformats.org/drawingml/2006/main" name="NOAA_Fisheri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annerCrab.2019SAFE.CPTMeeting.Presentation.pptx" id="{C07FF72A-A7FA-5944-985E-CB62F0F337AD}" vid="{470F256F-5A14-804C-905B-CD7FB444AA38}"/>
    </a:ext>
  </a:extLst>
</a:theme>
</file>

<file path=ppt/theme/theme2.xml><?xml version="1.0" encoding="utf-8"?>
<a:theme xmlns:a="http://schemas.openxmlformats.org/drawingml/2006/main" name="NOAA Fisheries Content Slid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annerCrab.2019SAFE.CPTMeeting.Presentation.pptx" id="{C07FF72A-A7FA-5944-985E-CB62F0F337AD}" vid="{3CE7A497-1B99-8F40-8A5A-0E3D0E28E34C}"/>
    </a:ext>
  </a:extLst>
</a:theme>
</file>

<file path=ppt/theme/theme3.xml><?xml version="1.0" encoding="utf-8"?>
<a:theme xmlns:a="http://schemas.openxmlformats.org/drawingml/2006/main" name="NOAA Divider Slid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annerCrab.2019SAFE.CPTMeeting.Presentation.pptx" id="{C07FF72A-A7FA-5944-985E-CB62F0F337AD}" vid="{1D527E59-2320-884A-9981-A0E29823F6D0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NOAA_Fisheries</Template>
  <TotalTime>18935</TotalTime>
  <Words>678</Words>
  <Application>Microsoft Macintosh PowerPoint</Application>
  <PresentationFormat>Widescreen</PresentationFormat>
  <Paragraphs>140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Arial</vt:lpstr>
      <vt:lpstr>Arial Narrow</vt:lpstr>
      <vt:lpstr>Calibri</vt:lpstr>
      <vt:lpstr>Helvetica</vt:lpstr>
      <vt:lpstr>NOAA_Fisheries</vt:lpstr>
      <vt:lpstr>NOAA Fisheries Content Slides</vt:lpstr>
      <vt:lpstr>NOAA Divider Slides</vt:lpstr>
      <vt:lpstr>2026 Tanner Crab  Transition To GMACS</vt:lpstr>
      <vt:lpstr>Tier 3 Assessment Model</vt:lpstr>
      <vt:lpstr>Assessment time frames: data</vt:lpstr>
      <vt:lpstr>Assessment time frames: model processes</vt:lpstr>
      <vt:lpstr>Population dynamics</vt:lpstr>
      <vt:lpstr>Fisheries</vt:lpstr>
      <vt:lpstr>Surveys</vt:lpstr>
      <vt:lpstr>Likelihoods</vt:lpstr>
      <vt:lpstr>GMACS Modifications To Match TCSAM02</vt:lpstr>
      <vt:lpstr>Natural Mortality</vt:lpstr>
      <vt:lpstr>Male growth</vt:lpstr>
      <vt:lpstr>Fully-selected Male Capture F’s</vt:lpstr>
      <vt:lpstr>Recruitment</vt:lpstr>
      <vt:lpstr>Population abundance-at-size for mature males</vt:lpstr>
      <vt:lpstr>Predicted total catch biomass, by fishery</vt:lpstr>
      <vt:lpstr>Predicted NMFS Survey Biomass</vt:lpstr>
      <vt:lpstr>Likelihood differences</vt:lpstr>
      <vt:lpstr>Likelihood differences</vt:lpstr>
      <vt:lpstr>Fits to NMFS survey male size comps</vt:lpstr>
      <vt:lpstr>Directed fishery “extended” total catch size comps</vt:lpstr>
      <vt:lpstr>Directed fishery “extended” total catch size comps</vt:lpstr>
      <vt:lpstr>Fits to directed fishery total catch size comps </vt:lpstr>
      <vt:lpstr>Management  Quantities</vt:lpstr>
      <vt:lpstr>Wrap-up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2021 Tanner Crab Stock Assessment</dc:title>
  <dc:creator>William Stockhausen</dc:creator>
  <cp:lastModifiedBy>William Stockhausen</cp:lastModifiedBy>
  <cp:revision>169</cp:revision>
  <cp:lastPrinted>2019-09-09T15:27:44Z</cp:lastPrinted>
  <dcterms:created xsi:type="dcterms:W3CDTF">2021-09-13T01:24:40Z</dcterms:created>
  <dcterms:modified xsi:type="dcterms:W3CDTF">2026-05-18T18:21:13Z</dcterms:modified>
</cp:coreProperties>
</file>