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0" r:id="rId2"/>
    <p:sldMasterId id="2147483674" r:id="rId3"/>
  </p:sldMasterIdLst>
  <p:notesMasterIdLst>
    <p:notesMasterId r:id="rId35"/>
  </p:notesMasterIdLst>
  <p:sldIdLst>
    <p:sldId id="256" r:id="rId4"/>
    <p:sldId id="261" r:id="rId5"/>
    <p:sldId id="809" r:id="rId6"/>
    <p:sldId id="810" r:id="rId7"/>
    <p:sldId id="811" r:id="rId8"/>
    <p:sldId id="812" r:id="rId9"/>
    <p:sldId id="275" r:id="rId10"/>
    <p:sldId id="798" r:id="rId11"/>
    <p:sldId id="751" r:id="rId12"/>
    <p:sldId id="678" r:id="rId13"/>
    <p:sldId id="679" r:id="rId14"/>
    <p:sldId id="595" r:id="rId15"/>
    <p:sldId id="785" r:id="rId16"/>
    <p:sldId id="813" r:id="rId17"/>
    <p:sldId id="794" r:id="rId18"/>
    <p:sldId id="795" r:id="rId19"/>
    <p:sldId id="796" r:id="rId20"/>
    <p:sldId id="799" r:id="rId21"/>
    <p:sldId id="800" r:id="rId22"/>
    <p:sldId id="801" r:id="rId23"/>
    <p:sldId id="802" r:id="rId24"/>
    <p:sldId id="803" r:id="rId25"/>
    <p:sldId id="797" r:id="rId26"/>
    <p:sldId id="804" r:id="rId27"/>
    <p:sldId id="793" r:id="rId28"/>
    <p:sldId id="792" r:id="rId29"/>
    <p:sldId id="791" r:id="rId30"/>
    <p:sldId id="805" r:id="rId31"/>
    <p:sldId id="806" r:id="rId32"/>
    <p:sldId id="807" r:id="rId33"/>
    <p:sldId id="80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5"/>
    <p:restoredTop sz="87671"/>
  </p:normalViewPr>
  <p:slideViewPr>
    <p:cSldViewPr snapToGrid="0" snapToObjects="1">
      <p:cViewPr varScale="1">
        <p:scale>
          <a:sx n="103" d="100"/>
          <a:sy n="103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69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2E994-B0ED-0A4E-A831-9F7B66D696A3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A4D2B-9145-8640-AE21-E479860AD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5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2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90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65245-5123-1B76-7437-8442D7BE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AB81D-AE95-4088-016E-C12B1271F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820CB-5125-9E9C-94F9-91DA0DB85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1C0B9-E74F-30F4-809A-1FDA37379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08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1D5B6-65BD-3C76-D36F-9DDEFC520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C2647-F8A2-3363-6E79-D57A5DD68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722F5-0114-6888-352B-735B73133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976C3-7CAE-D834-F2D6-97EC3705D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49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B9D7-370E-54CE-62B2-2F48340F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7CF6A-E780-79B9-D56C-0347A8712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82325-DC5F-FF60-BFAE-FB3FF28B9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104DC-3084-8159-7D73-6E09887C9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92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4A65-40A5-4973-EA58-9C21A91B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72DEE-B761-2E7B-C9FA-C568E4879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DA25A-A876-D2A6-25C3-F07AC12F7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FDFDE-8C4B-E5E2-6E87-4431AF10D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34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68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61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AD03-6FA3-72AF-95A0-337D82D6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EDF40-7923-AB51-08B3-005C922C6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52CCB-F1BE-7EC5-5CDD-3AF286EA9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352E2-2544-86B9-D3A3-3F11B54D9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51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51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84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86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3763-85CF-0096-5B59-BBAC839F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3DF44-48E4-2E06-CFE2-B4D066B50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11B17-9635-A794-8CCA-43619314A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6ECAB-7CCE-F4CE-0EB4-B1DAB24D9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17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38A95-3BE4-B523-46C4-9AE73F08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2AFA4-205C-4C61-B581-3B1AFB1DB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9B2FC-6F58-B618-8C8A-DE478C823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EA946-FD31-24CF-8F35-35FDEF8C7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15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DAA7-593D-E9A7-3921-78523992F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D239C-4B18-AC3E-99BF-867140AF9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C1811-475D-2FE1-AB5B-D2DB9B9A8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5CBE2-4445-6BDD-BC44-473183469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88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9620-E039-C602-E19C-AC35A0A5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D855F-DFCE-C49A-783E-31CC94D17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D60F0-7F4F-E8FA-21A1-1B783356F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E9A42-A7EA-C96B-A41A-F748512FF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2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3C2F-F928-5F00-5AAC-C0D092A9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7EEE6-DA7A-4EF3-647F-A1432B9C6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9BB4E-082A-D03F-0DE7-41CA45D81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73176-5FBB-DBCC-BF7D-E712D7F72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09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A94A-00F5-74C5-6324-FCC62AA8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4D16B-C12C-535B-8BBC-EE0995B6C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F2F50-D482-4510-A87A-59610444E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9E85A-D325-CBAB-064E-09ED5CF36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56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CD96-3832-C6C0-173B-14DD4491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53271-F5B4-ED14-CCBF-5C13036BB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8180D-1B00-5BE5-4CDF-3D6FBAC37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A0347-E70B-C4D9-4662-4542CC7AB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04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2F08-1FDA-600D-FA79-A647AA3E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12B55-9D04-7252-C54B-EC4A3CA63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E9A35-BEDD-57DC-D355-5FC78FBF4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82FCB-B850-D95F-24A5-354D7767C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76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C5A72-260E-792D-CD2D-C121414BE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BDBCE-9294-752F-7D52-F3FEA69C5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694E8-6CFC-C407-DC10-144E2C695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6D772-8754-329F-1AC0-A40B17398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363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9CB3-7022-6C78-D785-E762B1B2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B7F6F-9484-F4AD-22F9-2CB50D594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09A60-3668-1818-428E-145BBA8CF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BCEBB-2EF3-08C9-7C1F-068CED245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39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B8F40-9951-FDB5-5401-09A292FF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77821-5266-5DA4-C3E9-C5F9E5D65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2B33E-0E20-A89E-BB50-4904AB3D2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A0B58-9EFF-706F-3CF1-5792979C1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400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CD42A-6C73-7166-58D9-4C0BDD718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D8AD5-0FC7-63C4-8F30-D8C2E8297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15184-20F4-E962-DBFB-EA8A19B4E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049CA-0437-6449-E7BC-B0E99E1E0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23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E4D77-3523-5AE5-0613-D33B32C4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FECBC-2382-C87E-1CCD-6B84F8B52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D90FB-FF9B-8828-1AD6-E21D22B93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7C9DD-25F4-DB6B-0B4C-0BB2937D5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663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BFA9-4E92-4AF0-E0F6-758C4290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ABBF1-1BFA-E440-0BD8-6907E806C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CD17F-77F5-A062-13E3-294E3463B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9B15C-798F-D8E4-EE71-C03D86E52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34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C0307-8624-4A81-3E37-535D73B7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D242C-FC50-692F-592B-6FF81711E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F9A4C-AD20-3DB6-E83A-AC5CA97C4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84301-C2E8-77F6-A63A-848C91C5D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98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001A-3377-3A0F-D30B-FDECEC53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A77A3-3CE3-A4D0-5D95-FA0835CDB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2C3CF-589C-9D86-5104-EE48D96FD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075F1-0B0B-014F-9D33-6C0A94949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442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A181D-6ED0-A798-2DA7-525F4115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A5336-4866-7EC7-D3C7-A45B5A07A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DDC9E-D090-4095-41E3-025332A62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CFE9-F38F-4AC9-3551-3EF2AF3F1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193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4A183-B89B-06AE-918D-82820D65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99A9A-3D85-0F3B-D077-745D61748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EDA8F-0D47-A300-5C51-C0A6AC414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6E182-3C37-83F5-2F70-21921E404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131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3175-FB1A-78EF-D746-001F6F35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A9A85-06D7-FBA8-E195-1E21E9924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98F57-D469-F94A-155D-766C929AC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62F5F-46E6-7CFF-16D1-4F00439CC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84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2470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oats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62659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Turtl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91310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eafood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86468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Fish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67852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Dark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6514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1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BC3-F8B0-AB46-907C-AD258F35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0836-6EFD-9544-9200-5470F99F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1848-9FC8-AA44-A1AF-40D76470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5052-80B5-D141-90BA-19CA8E22EBCD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FB5FD-7D8B-D045-92A0-F7EF5FC9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2942A-35E5-DC4A-B220-4DA941DF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2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1" y="-24487"/>
            <a:ext cx="12184781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169"/>
            <a:ext cx="109728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23"/>
            <a:ext cx="109728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11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25423" y="-30696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200"/>
            <a:ext cx="109728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54"/>
            <a:ext cx="109728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6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8909" y="1141666"/>
            <a:ext cx="7313491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8910" y="2631404"/>
            <a:ext cx="7313489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554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NOAA-Fisheries-horizontal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2" y="6419089"/>
            <a:ext cx="2191920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4" y="6419089"/>
            <a:ext cx="2191917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9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46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8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alphaModFix amt="4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E1D0-11B8-8345-91DD-DA00A5244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0094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2026 Tanner Crab </a:t>
            </a:r>
            <a:br>
              <a:rPr lang="en-US" sz="4800" dirty="0"/>
            </a:br>
            <a:r>
              <a:rPr lang="en-US" sz="4800" dirty="0"/>
              <a:t>Transition To GMACS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B8582-F632-314D-8EF2-647B54A3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William Stockhausen</a:t>
            </a:r>
          </a:p>
          <a:p>
            <a:r>
              <a:rPr lang="en-US" dirty="0"/>
              <a:t>AFSC/NMFS/NOAA</a:t>
            </a:r>
          </a:p>
        </p:txBody>
      </p:sp>
    </p:spTree>
    <p:extLst>
      <p:ext uri="{BB962C8B-B14F-4D97-AF65-F5344CB8AC3E}">
        <p14:creationId xmlns:p14="http://schemas.microsoft.com/office/powerpoint/2010/main" val="14934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6" y="233083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Tier 3 Assessment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8462F-5DBA-F24D-B525-7F903477256A}"/>
              </a:ext>
            </a:extLst>
          </p:cNvPr>
          <p:cNvSpPr txBox="1"/>
          <p:nvPr/>
        </p:nvSpPr>
        <p:spPr>
          <a:xfrm>
            <a:off x="1227624" y="782135"/>
            <a:ext cx="558358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Tier 3 size-structured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Survey data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NMFS EBS shelf survey: 1975-present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BSFRF 2013-2018 side-by-side haul studies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Fishery data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directed fishery (areas combined)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retained catch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total catch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bycatch in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snow crab fishery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BBRKC fishery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groundfish fisheries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Estimates: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Annual recruitment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Annual numbers-at-size (M,F)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mature biomass (MMB, MFB)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Determines: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F</a:t>
            </a:r>
            <a:r>
              <a:rPr lang="en-US" sz="2000" baseline="-25000" dirty="0"/>
              <a:t>MSY</a:t>
            </a:r>
            <a:r>
              <a:rPr lang="en-US" sz="2000" dirty="0"/>
              <a:t>, B</a:t>
            </a:r>
            <a:r>
              <a:rPr lang="en-US" sz="2000" baseline="-25000" dirty="0"/>
              <a:t>MSY</a:t>
            </a:r>
            <a:r>
              <a:rPr lang="en-US" sz="2000" dirty="0"/>
              <a:t>, F</a:t>
            </a:r>
            <a:r>
              <a:rPr lang="en-US" sz="2000" baseline="-25000" dirty="0"/>
              <a:t>OFL</a:t>
            </a:r>
            <a:r>
              <a:rPr lang="en-US" sz="2000" dirty="0"/>
              <a:t>, OFL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6137A-C0CC-E346-8142-0E246A30A8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9649" y="254595"/>
            <a:ext cx="5430644" cy="611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16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6A56C-3DC2-1B50-EBC4-8AE89685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51B373-2A05-FA46-6051-030D53500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6" y="233083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Population dynamics (1)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41FDE-0576-6440-5B62-37C8AFA786E5}"/>
              </a:ext>
            </a:extLst>
          </p:cNvPr>
          <p:cNvSpPr txBox="1"/>
          <p:nvPr/>
        </p:nvSpPr>
        <p:spPr>
          <a:xfrm>
            <a:off x="454111" y="3232869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 A1.1: Survival prior to fisheries</a:t>
            </a:r>
            <a:r>
              <a:rPr lang="en-US" sz="2000" dirty="0">
                <a:effectLst/>
              </a:rPr>
              <a:t> 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D101A-4921-7EEF-BC03-C29FB3A36D89}"/>
              </a:ext>
            </a:extLst>
          </p:cNvPr>
          <p:cNvSpPr txBox="1"/>
          <p:nvPr/>
        </p:nvSpPr>
        <p:spPr>
          <a:xfrm>
            <a:off x="454111" y="4008463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 A1.2: Prosecution of the fisheries</a:t>
            </a:r>
            <a:r>
              <a:rPr lang="en-US" sz="2000" dirty="0">
                <a:effectLst/>
              </a:rPr>
              <a:t> 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D6C78-D5D6-7193-017B-3ED0485C93FA}"/>
              </a:ext>
            </a:extLst>
          </p:cNvPr>
          <p:cNvSpPr txBox="1"/>
          <p:nvPr/>
        </p:nvSpPr>
        <p:spPr>
          <a:xfrm>
            <a:off x="454111" y="4804877"/>
            <a:ext cx="60980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 A1.3: Survival after fisheries to time of molting/growth/mating</a:t>
            </a:r>
            <a:r>
              <a:rPr lang="en-US" sz="2000" dirty="0">
                <a:effectLst/>
              </a:rPr>
              <a:t> 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073D6B-DB9A-3FCC-E2E4-1E2838ABF7AB}"/>
                  </a:ext>
                </a:extLst>
              </p:cNvPr>
              <p:cNvSpPr txBox="1"/>
              <p:nvPr/>
            </p:nvSpPr>
            <p:spPr>
              <a:xfrm>
                <a:off x="5216610" y="4736229"/>
                <a:ext cx="6003325" cy="649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  <m:sup/>
                              </m:sSub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endChr m:val="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p>
                              </m:sSubSup>
                            </m:e>
                          </m:d>
                        </m:sup>
                      </m:sSup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073D6B-DB9A-3FCC-E2E4-1E2838ABF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610" y="4736229"/>
                <a:ext cx="6003325" cy="649986"/>
              </a:xfrm>
              <a:prstGeom prst="rect">
                <a:avLst/>
              </a:prstGeom>
              <a:blipFill>
                <a:blip r:embed="rId3"/>
                <a:stretch>
                  <a:fillRect t="-130189" b="-169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F881F0-6E32-CB48-857E-35BFC2B04FD5}"/>
                  </a:ext>
                </a:extLst>
              </p:cNvPr>
              <p:cNvSpPr txBox="1"/>
              <p:nvPr/>
            </p:nvSpPr>
            <p:spPr>
              <a:xfrm>
                <a:off x="5216610" y="3951779"/>
                <a:ext cx="4663896" cy="569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sup>
                      </m:sSup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F881F0-6E32-CB48-857E-35BFC2B0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610" y="3951779"/>
                <a:ext cx="4663896" cy="569515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F520A9-A6DB-61C3-895C-DEB7763AE9CB}"/>
                  </a:ext>
                </a:extLst>
              </p:cNvPr>
              <p:cNvSpPr txBox="1"/>
              <p:nvPr/>
            </p:nvSpPr>
            <p:spPr>
              <a:xfrm>
                <a:off x="5216610" y="3089090"/>
                <a:ext cx="5541531" cy="590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</m:sSub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bSup>
                        </m:sup>
                      </m:sSup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F520A9-A6DB-61C3-895C-DEB7763AE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610" y="3089090"/>
                <a:ext cx="5541531" cy="590033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DAD30A-DFCA-FA96-36B6-3E99D4E00B3E}"/>
                  </a:ext>
                </a:extLst>
              </p:cNvPr>
              <p:cNvSpPr txBox="1"/>
              <p:nvPr/>
            </p:nvSpPr>
            <p:spPr>
              <a:xfrm>
                <a:off x="5216610" y="1016545"/>
                <a:ext cx="1632121" cy="530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DAD30A-DFCA-FA96-36B6-3E99D4E00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610" y="1016545"/>
                <a:ext cx="1632121" cy="530979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4695F3D-3427-EA4A-7B94-0C32AE2787CC}"/>
              </a:ext>
            </a:extLst>
          </p:cNvPr>
          <p:cNvSpPr txBox="1"/>
          <p:nvPr/>
        </p:nvSpPr>
        <p:spPr>
          <a:xfrm>
            <a:off x="642549" y="1087395"/>
            <a:ext cx="48562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abundance at start of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y: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sex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m: maturity state (immature, mature)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s: shell condition (new shell, old shell)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z: size (5 mm CW bins,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cutpoints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25-185)</a:t>
            </a:r>
          </a:p>
        </p:txBody>
      </p:sp>
    </p:spTree>
    <p:extLst>
      <p:ext uri="{BB962C8B-B14F-4D97-AF65-F5344CB8AC3E}">
        <p14:creationId xmlns:p14="http://schemas.microsoft.com/office/powerpoint/2010/main" val="361150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2D0B-112D-8E3E-2D4D-196EA79F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5664C85-2C35-0186-9916-26E102D21A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19"/>
          <a:stretch>
            <a:fillRect/>
          </a:stretch>
        </p:blipFill>
        <p:spPr>
          <a:xfrm>
            <a:off x="6803940" y="3434580"/>
            <a:ext cx="5481438" cy="316223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048C691-C973-DC2D-F1C1-D3F4784F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6" y="233083"/>
            <a:ext cx="3735416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Population dynamics (2)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7FEC3-F29B-0591-30AE-9BD183D27EF8}"/>
              </a:ext>
            </a:extLst>
          </p:cNvPr>
          <p:cNvSpPr txBox="1"/>
          <p:nvPr/>
        </p:nvSpPr>
        <p:spPr>
          <a:xfrm>
            <a:off x="454112" y="2090557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 A1.4: Molting, growth, and maturation</a:t>
            </a:r>
            <a:r>
              <a:rPr lang="en-US" sz="2000" dirty="0">
                <a:effectLst/>
              </a:rPr>
              <a:t> 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902886-9709-7F01-B017-3512D94F9DA4}"/>
                  </a:ext>
                </a:extLst>
              </p:cNvPr>
              <p:cNvSpPr txBox="1"/>
              <p:nvPr/>
            </p:nvSpPr>
            <p:spPr>
              <a:xfrm>
                <a:off x="524130" y="4332811"/>
                <a:ext cx="6098058" cy="514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𝑀𝐴𝑇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𝑂𝑆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𝑀𝐴𝑇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𝑂𝑆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𝑀𝐴𝑇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902886-9709-7F01-B017-3512D94F9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" y="4332811"/>
                <a:ext cx="6098058" cy="514051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3B122E-F8D4-8743-C16D-4C16FFC505AA}"/>
                  </a:ext>
                </a:extLst>
              </p:cNvPr>
              <p:cNvSpPr txBox="1"/>
              <p:nvPr/>
            </p:nvSpPr>
            <p:spPr>
              <a:xfrm>
                <a:off x="524130" y="2227590"/>
                <a:ext cx="8046308" cy="117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𝐼𝑀𝑀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</m:sSubSup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</m:sSub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𝐼𝑀𝑀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𝑁𝑆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3B122E-F8D4-8743-C16D-4C16FFC50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" y="2227590"/>
                <a:ext cx="8046308" cy="1173783"/>
              </a:xfrm>
              <a:prstGeom prst="rect">
                <a:avLst/>
              </a:prstGeom>
              <a:blipFill>
                <a:blip r:embed="rId5"/>
                <a:stretch>
                  <a:fillRect t="-95699" b="-152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278826-E057-7F53-56EE-549211C9A88D}"/>
                  </a:ext>
                </a:extLst>
              </p:cNvPr>
              <p:cNvSpPr txBox="1"/>
              <p:nvPr/>
            </p:nvSpPr>
            <p:spPr>
              <a:xfrm>
                <a:off x="468009" y="3185629"/>
                <a:ext cx="7886699" cy="117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𝑀𝐴𝑇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</m:sSub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𝐼𝑀𝑀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𝑁𝑆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278826-E057-7F53-56EE-549211C9A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9" y="3185629"/>
                <a:ext cx="7886699" cy="1173783"/>
              </a:xfrm>
              <a:prstGeom prst="rect">
                <a:avLst/>
              </a:prstGeom>
              <a:blipFill>
                <a:blip r:embed="rId6"/>
                <a:stretch>
                  <a:fillRect t="-95699" b="-15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85543A2-D8E2-416C-DECD-B10B4876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4119" y="135250"/>
            <a:ext cx="4436725" cy="28967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5B870C-CF65-4218-7C49-FA39EFF44A40}"/>
                  </a:ext>
                </a:extLst>
              </p:cNvPr>
              <p:cNvSpPr txBox="1"/>
              <p:nvPr/>
            </p:nvSpPr>
            <p:spPr>
              <a:xfrm>
                <a:off x="7398095" y="3538406"/>
                <a:ext cx="1172343" cy="594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5B870C-CF65-4218-7C49-FA39EFF44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095" y="3538406"/>
                <a:ext cx="1172343" cy="594073"/>
              </a:xfrm>
              <a:prstGeom prst="rect">
                <a:avLst/>
              </a:prstGeom>
              <a:blipFill>
                <a:blip r:embed="rId8"/>
                <a:stretch>
                  <a:fillRect l="-1075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F13273-7A6D-DCFA-66C7-235102056743}"/>
                  </a:ext>
                </a:extLst>
              </p:cNvPr>
              <p:cNvSpPr txBox="1"/>
              <p:nvPr/>
            </p:nvSpPr>
            <p:spPr>
              <a:xfrm>
                <a:off x="8214020" y="384952"/>
                <a:ext cx="910543" cy="530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F13273-7A6D-DCFA-66C7-235102056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020" y="384952"/>
                <a:ext cx="910543" cy="530979"/>
              </a:xfrm>
              <a:prstGeom prst="rect">
                <a:avLst/>
              </a:prstGeom>
              <a:blipFill>
                <a:blip r:embed="rId9"/>
                <a:stretch>
                  <a:fillRect l="-4110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0500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275A-9D05-8C47-D65E-3A97FE35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3F2B88-6BB4-C5FF-1EAD-4629C027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6" y="233083"/>
            <a:ext cx="3735416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Population dynamics (3)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547718-84FA-FCF8-9356-F860CDDC6915}"/>
              </a:ext>
            </a:extLst>
          </p:cNvPr>
          <p:cNvSpPr txBox="1"/>
          <p:nvPr/>
        </p:nvSpPr>
        <p:spPr>
          <a:xfrm>
            <a:off x="429398" y="926967"/>
            <a:ext cx="8493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 A1.5: Survival to end of year, recruitment, and update to start of next year</a:t>
            </a:r>
            <a:r>
              <a:rPr lang="en-US" sz="2000" dirty="0">
                <a:effectLst/>
              </a:rPr>
              <a:t> 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3B957A-9895-50AD-6885-E278524D602A}"/>
                  </a:ext>
                </a:extLst>
              </p:cNvPr>
              <p:cNvSpPr txBox="1"/>
              <p:nvPr/>
            </p:nvSpPr>
            <p:spPr>
              <a:xfrm>
                <a:off x="443295" y="1429121"/>
                <a:ext cx="10663881" cy="1459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d>
                                      <m:dPr>
                                        <m:begChr m:val="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n-US" sz="24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sz="24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𝐼𝑀𝑀</m:t>
                                            </m:r>
                                            <m:r>
                                              <a:rPr lang="en-US" sz="24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𝑁𝑆</m:t>
                                            </m:r>
                                            <m:r>
                                              <a:rPr lang="en-US" sz="24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  <m:sup/>
                                        </m:sSubSup>
                                        <m:r>
                                          <a:rPr lang="en-US" sz="2400" i="0">
                                            <a:latin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d>
                                              <m:dPr>
                                                <m:endChr m:val=""/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0">
                                                    <a:latin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sup>
                                </m:sSup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𝐼𝑀𝑀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𝑁𝑆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bSup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𝐼𝑀𝑀</m:t>
                                </m:r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𝑁𝑆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d>
                                      <m:dPr>
                                        <m:begChr m:val="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n-US" sz="24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sz="24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sz="24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24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  <m:sup/>
                                        </m:sSubSup>
                                        <m:r>
                                          <a:rPr lang="en-US" sz="2400" i="0">
                                            <a:latin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d>
                                              <m:dPr>
                                                <m:endChr m:val=""/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0">
                                                    <a:latin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sup>
                                </m:sSup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bSup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                          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3B957A-9895-50AD-6885-E278524D6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95" y="1429121"/>
                <a:ext cx="10663881" cy="1459887"/>
              </a:xfrm>
              <a:prstGeom prst="rect">
                <a:avLst/>
              </a:prstGeom>
              <a:blipFill>
                <a:blip r:embed="rId3"/>
                <a:stretch>
                  <a:fillRect l="-7024" t="-215517" b="-307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8A61F2-AF84-5268-64F4-18AD0768D498}"/>
                  </a:ext>
                </a:extLst>
              </p:cNvPr>
              <p:cNvSpPr txBox="1"/>
              <p:nvPr/>
            </p:nvSpPr>
            <p:spPr>
              <a:xfrm>
                <a:off x="443295" y="3938254"/>
                <a:ext cx="6258696" cy="510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⃛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8A61F2-AF84-5268-64F4-18AD0768D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95" y="3938254"/>
                <a:ext cx="6258696" cy="510909"/>
              </a:xfrm>
              <a:prstGeom prst="rect">
                <a:avLst/>
              </a:prstGeom>
              <a:blipFill>
                <a:blip r:embed="rId4"/>
                <a:stretch>
                  <a:fillRect l="-20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A91068-233B-33B8-0BC7-23CE820F881F}"/>
                  </a:ext>
                </a:extLst>
              </p:cNvPr>
              <p:cNvSpPr txBox="1"/>
              <p:nvPr/>
            </p:nvSpPr>
            <p:spPr>
              <a:xfrm>
                <a:off x="3954162" y="3459892"/>
                <a:ext cx="6258696" cy="510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𝑝𝐿𝑛𝑅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sup>
                            </m:sSup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</m:m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A91068-233B-33B8-0BC7-23CE820F8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162" y="3459892"/>
                <a:ext cx="6258696" cy="510909"/>
              </a:xfrm>
              <a:prstGeom prst="rect">
                <a:avLst/>
              </a:prstGeom>
              <a:blipFill>
                <a:blip r:embed="rId5"/>
                <a:stretch>
                  <a:fillRect l="-202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8DD6DB-AB8E-372E-68C8-95B3112A6A5A}"/>
                  </a:ext>
                </a:extLst>
              </p:cNvPr>
              <p:cNvSpPr txBox="1"/>
              <p:nvPr/>
            </p:nvSpPr>
            <p:spPr>
              <a:xfrm>
                <a:off x="3954162" y="3974336"/>
                <a:ext cx="6505832" cy="510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8DD6DB-AB8E-372E-68C8-95B3112A6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162" y="3974336"/>
                <a:ext cx="6505832" cy="510909"/>
              </a:xfrm>
              <a:prstGeom prst="rect">
                <a:avLst/>
              </a:prstGeom>
              <a:blipFill>
                <a:blip r:embed="rId6"/>
                <a:stretch>
                  <a:fillRect l="-19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5056F4-754E-97DC-AA44-8AE42766ED4E}"/>
                  </a:ext>
                </a:extLst>
              </p:cNvPr>
              <p:cNvSpPr txBox="1"/>
              <p:nvPr/>
            </p:nvSpPr>
            <p:spPr>
              <a:xfrm>
                <a:off x="3954162" y="4380601"/>
                <a:ext cx="6258696" cy="715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⃛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0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5056F4-754E-97DC-AA44-8AE42766E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162" y="4380601"/>
                <a:ext cx="6258696" cy="715581"/>
              </a:xfrm>
              <a:prstGeom prst="rect">
                <a:avLst/>
              </a:prstGeom>
              <a:blipFill>
                <a:blip r:embed="rId7"/>
                <a:stretch>
                  <a:fillRect l="-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AD743555-47A7-2FDC-720A-56958D8D7A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107" y="2722128"/>
            <a:ext cx="4602893" cy="176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8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63E45-8807-D956-F8F6-5B2BBB811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2BBE86-EE7F-94AB-6B68-9EA8C7D9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6" y="233083"/>
            <a:ext cx="3735416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Fishery dynamics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83403F-3044-147C-5E35-7E52DD0439E0}"/>
                  </a:ext>
                </a:extLst>
              </p:cNvPr>
              <p:cNvSpPr txBox="1"/>
              <p:nvPr/>
            </p:nvSpPr>
            <p:spPr>
              <a:xfrm>
                <a:off x="3769607" y="1593810"/>
                <a:ext cx="7540711" cy="44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83403F-3044-147C-5E35-7E52DD043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607" y="1593810"/>
                <a:ext cx="7540711" cy="446854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39CE69-B10E-95C2-3472-798E278DED28}"/>
                  </a:ext>
                </a:extLst>
              </p:cNvPr>
              <p:cNvSpPr txBox="1"/>
              <p:nvPr/>
            </p:nvSpPr>
            <p:spPr>
              <a:xfrm>
                <a:off x="3769607" y="3021226"/>
                <a:ext cx="6098058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39CE69-B10E-95C2-3472-798E278DE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607" y="3021226"/>
                <a:ext cx="6098058" cy="424732"/>
              </a:xfrm>
              <a:prstGeom prst="rect">
                <a:avLst/>
              </a:prstGeom>
              <a:blipFill>
                <a:blip r:embed="rId4"/>
                <a:stretch>
                  <a:fillRect l="-415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B25854E-4585-73B6-FCF8-AC51F8FE90A4}"/>
              </a:ext>
            </a:extLst>
          </p:cNvPr>
          <p:cNvSpPr txBox="1"/>
          <p:nvPr/>
        </p:nvSpPr>
        <p:spPr>
          <a:xfrm>
            <a:off x="523206" y="1593810"/>
            <a:ext cx="202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Fishing mortality: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A174E-5DA8-B2DF-5F3E-478CC99E84C1}"/>
              </a:ext>
            </a:extLst>
          </p:cNvPr>
          <p:cNvSpPr txBox="1"/>
          <p:nvPr/>
        </p:nvSpPr>
        <p:spPr>
          <a:xfrm>
            <a:off x="523205" y="3021226"/>
            <a:ext cx="1513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rate: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048A0-CCBD-681C-9E29-3F74C3932AA9}"/>
              </a:ext>
            </a:extLst>
          </p:cNvPr>
          <p:cNvSpPr txBox="1"/>
          <p:nvPr/>
        </p:nvSpPr>
        <p:spPr>
          <a:xfrm>
            <a:off x="523205" y="2067272"/>
            <a:ext cx="3246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(discard)  mortality: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5F65FD-EAAC-7504-B058-B2A1368DD848}"/>
              </a:ext>
            </a:extLst>
          </p:cNvPr>
          <p:cNvSpPr txBox="1"/>
          <p:nvPr/>
        </p:nvSpPr>
        <p:spPr>
          <a:xfrm>
            <a:off x="523206" y="2525958"/>
            <a:ext cx="2436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probability: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EE7B69-8D12-BD15-D72D-05957EB896E5}"/>
                  </a:ext>
                </a:extLst>
              </p:cNvPr>
              <p:cNvSpPr txBox="1"/>
              <p:nvPr/>
            </p:nvSpPr>
            <p:spPr>
              <a:xfrm>
                <a:off x="3769607" y="2096979"/>
                <a:ext cx="1906031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EE7B69-8D12-BD15-D72D-05957EB89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607" y="2096979"/>
                <a:ext cx="1906031" cy="424732"/>
              </a:xfrm>
              <a:prstGeom prst="rect">
                <a:avLst/>
              </a:prstGeom>
              <a:blipFill>
                <a:blip r:embed="rId5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0E287A-CC3D-B691-B2EA-DED224B8FBAD}"/>
                  </a:ext>
                </a:extLst>
              </p:cNvPr>
              <p:cNvSpPr txBox="1"/>
              <p:nvPr/>
            </p:nvSpPr>
            <p:spPr>
              <a:xfrm>
                <a:off x="3769607" y="2520211"/>
                <a:ext cx="6098058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0E287A-CC3D-B691-B2EA-DED224B8F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607" y="2520211"/>
                <a:ext cx="6098058" cy="424732"/>
              </a:xfrm>
              <a:prstGeom prst="rect">
                <a:avLst/>
              </a:prstGeom>
              <a:blipFill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86A7B2-15C6-B5AD-FD41-79F61A338E12}"/>
                  </a:ext>
                </a:extLst>
              </p:cNvPr>
              <p:cNvSpPr txBox="1"/>
              <p:nvPr/>
            </p:nvSpPr>
            <p:spPr>
              <a:xfrm>
                <a:off x="3769607" y="3607658"/>
                <a:ext cx="6098058" cy="779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sup>
                          </m:sSup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86A7B2-15C6-B5AD-FD41-79F61A338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607" y="3607658"/>
                <a:ext cx="6098058" cy="7795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DC33488-11E7-CEDE-B923-55B8AA0D7CEE}"/>
              </a:ext>
            </a:extLst>
          </p:cNvPr>
          <p:cNvSpPr txBox="1"/>
          <p:nvPr/>
        </p:nvSpPr>
        <p:spPr>
          <a:xfrm>
            <a:off x="523205" y="3797358"/>
            <a:ext cx="1941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caught: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3C2C37-3770-0864-E8EC-139E123B5133}"/>
              </a:ext>
            </a:extLst>
          </p:cNvPr>
          <p:cNvSpPr txBox="1"/>
          <p:nvPr/>
        </p:nvSpPr>
        <p:spPr>
          <a:xfrm>
            <a:off x="523204" y="4651857"/>
            <a:ext cx="2082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retained: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D2C06D-0D9B-21A3-F248-DDEB2074C395}"/>
              </a:ext>
            </a:extLst>
          </p:cNvPr>
          <p:cNvSpPr txBox="1"/>
          <p:nvPr/>
        </p:nvSpPr>
        <p:spPr>
          <a:xfrm>
            <a:off x="523204" y="5506356"/>
            <a:ext cx="1994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discard mortality: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3F1A62F-09EF-334D-D732-07A317253D5F}"/>
                  </a:ext>
                </a:extLst>
              </p:cNvPr>
              <p:cNvSpPr txBox="1"/>
              <p:nvPr/>
            </p:nvSpPr>
            <p:spPr>
              <a:xfrm>
                <a:off x="3769607" y="4464070"/>
                <a:ext cx="7159710" cy="779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sup>
                          </m:sSup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3F1A62F-09EF-334D-D732-07A317253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607" y="4464070"/>
                <a:ext cx="7159710" cy="7795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444F300-F413-D6CA-039B-16DFCD58D09B}"/>
                  </a:ext>
                </a:extLst>
              </p:cNvPr>
              <p:cNvSpPr txBox="1"/>
              <p:nvPr/>
            </p:nvSpPr>
            <p:spPr>
              <a:xfrm>
                <a:off x="3769607" y="5275367"/>
                <a:ext cx="9013605" cy="832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sup>
                          </m:sSup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444F300-F413-D6CA-039B-16DFCD58D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607" y="5275367"/>
                <a:ext cx="9013605" cy="832151"/>
              </a:xfrm>
              <a:prstGeom prst="rect">
                <a:avLst/>
              </a:prstGeom>
              <a:blipFill>
                <a:blip r:embed="rId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E38A4AA1-BC3E-DBCC-3CB2-87A69A4BC236}"/>
              </a:ext>
            </a:extLst>
          </p:cNvPr>
          <p:cNvSpPr txBox="1"/>
          <p:nvPr/>
        </p:nvSpPr>
        <p:spPr>
          <a:xfrm>
            <a:off x="502366" y="926996"/>
            <a:ext cx="4208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“Instantaneous” fisheries (no M)</a:t>
            </a:r>
          </a:p>
        </p:txBody>
      </p:sp>
    </p:spTree>
    <p:extLst>
      <p:ext uri="{BB962C8B-B14F-4D97-AF65-F5344CB8AC3E}">
        <p14:creationId xmlns:p14="http://schemas.microsoft.com/office/powerpoint/2010/main" val="3994558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0" y="202436"/>
            <a:ext cx="8669355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Assessment time frames: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64A53B-36D8-E241-3B3A-93B763335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1" y="1083051"/>
            <a:ext cx="12008078" cy="469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1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40" y="191926"/>
            <a:ext cx="8669355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Assessment time frames: model processes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D10F7-B386-DAD6-0663-CA4A4937B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8" y="1042074"/>
            <a:ext cx="12065304" cy="472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8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19249-C069-596C-B7BC-2B7DEE4E6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1A99E2-8F88-227E-FD12-716E9843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64" y="242485"/>
            <a:ext cx="5095442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Population dynamics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981B6-B521-5083-9D09-2F55540C3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66" y="1511300"/>
            <a:ext cx="9663868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22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64" y="242485"/>
            <a:ext cx="5095442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Fisheries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8AED4-E3BE-CAC1-D805-94400D8E3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5" y="242485"/>
            <a:ext cx="5295900" cy="619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2D57A6-B1A0-6FE9-FF7F-0B10C479F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64" y="907112"/>
            <a:ext cx="5679795" cy="50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2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64" y="242485"/>
            <a:ext cx="5095442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Surveys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2DC3B9-2B1C-5C5D-4682-9525811EF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1" y="1056928"/>
            <a:ext cx="10791402" cy="508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9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9" y="324679"/>
            <a:ext cx="2090577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Likelihoods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CD23D-0557-A61E-1178-E726B8D15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120650"/>
            <a:ext cx="6578600" cy="66167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66456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0DD1-E251-3B3C-B8A8-A2EF41D0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7672D9-9722-9B0B-2ADB-620B7CDD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10860338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Some Major Differences Between TCSAM02 and GMACS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2F120C-2A0D-4651-5875-9553C3403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355" y="1309541"/>
            <a:ext cx="9847289" cy="405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16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91C5C-E861-CBF9-DE1A-420F134E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95640D-390F-B207-C4A7-085F43FB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GMACS Modifications To Match TCSAM02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8A6E9-A25E-0E6E-E959-59BDB0DAFB2F}"/>
              </a:ext>
            </a:extLst>
          </p:cNvPr>
          <p:cNvSpPr txBox="1"/>
          <p:nvPr/>
        </p:nvSpPr>
        <p:spPr>
          <a:xfrm>
            <a:off x="106778" y="848004"/>
            <a:ext cx="609426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Added alternative multinomial likelihood as option to fit size comps (option 7) to match TCSAM02 calculation.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Added male maturity data section to data file.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Added "doTCSAM02EffExp" flag to data file (right after flag to read catch data in new format). If "on" (1),</a:t>
            </a:r>
            <a:r>
              <a:rPr lang="en-US" dirty="0"/>
              <a:t> </a:t>
            </a:r>
            <a:r>
              <a:rPr lang="en-US" i="1" dirty="0"/>
              <a:t>effort extrapolation for missing catch is based on average catch divided by average effort for years specified by new "</a:t>
            </a:r>
            <a:r>
              <a:rPr lang="en-US" i="1" dirty="0" err="1"/>
              <a:t>avg_eff</a:t>
            </a:r>
            <a:r>
              <a:rPr lang="en-US" i="1" dirty="0"/>
              <a:t>" column in</a:t>
            </a:r>
            <a:r>
              <a:rPr lang="en-US" dirty="0"/>
              <a:t> </a:t>
            </a:r>
            <a:r>
              <a:rPr lang="en-US" i="1" dirty="0"/>
              <a:t>new-format </a:t>
            </a:r>
            <a:r>
              <a:rPr lang="en-US" i="1" dirty="0" err="1"/>
              <a:t>CatchDFs</a:t>
            </a:r>
            <a:r>
              <a:rPr lang="en-US" i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Added growth transition options 9 and 10 to provide same functionality as TCSAM02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Added alternative 4-parameter double normal selectivity option (SELEX_DOUBLENORM4a = 15) to match TCSAM02. The plateau is</a:t>
            </a:r>
            <a:r>
              <a:rPr lang="en-US" dirty="0"/>
              <a:t> </a:t>
            </a:r>
            <a:r>
              <a:rPr lang="en-US" i="1" dirty="0"/>
              <a:t>determined from a scale parameter and the distance between the max possible size and the size at the ascending limb.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Added new options for calculating/extending size comps to provide sample size scaling/no scaling options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for input size comps.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1267CF-4247-BA49-B824-1A8E4F232FC6}"/>
              </a:ext>
            </a:extLst>
          </p:cNvPr>
          <p:cNvSpPr txBox="1"/>
          <p:nvPr/>
        </p:nvSpPr>
        <p:spPr>
          <a:xfrm>
            <a:off x="5990954" y="848004"/>
            <a:ext cx="60942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The growth options TCSAM02A and TCSAM02B (=9 and 10) that provide similar functionality as TCSAM02 for the growth transition</a:t>
            </a:r>
            <a:r>
              <a:rPr lang="en-US" dirty="0"/>
              <a:t> </a:t>
            </a:r>
            <a:r>
              <a:rPr lang="en-US" i="1" dirty="0"/>
              <a:t>matrices were reassigned and additional options TCSAM02C and TCSAM02D (11 and 12) were added. A and B apply to the case where</a:t>
            </a:r>
            <a:r>
              <a:rPr lang="en-US" dirty="0"/>
              <a:t> </a:t>
            </a:r>
            <a:r>
              <a:rPr lang="en-US" i="1" dirty="0"/>
              <a:t>the molt increment is assumed to be gamma-distributed while C and D apply to the case where </a:t>
            </a:r>
            <a:r>
              <a:rPr lang="en-US" i="1" dirty="0" err="1"/>
              <a:t>postmolt</a:t>
            </a:r>
            <a:r>
              <a:rPr lang="en-US" i="1" dirty="0"/>
              <a:t> size is gamma-distributed. All</a:t>
            </a:r>
            <a:r>
              <a:rPr lang="en-US" dirty="0"/>
              <a:t> </a:t>
            </a:r>
            <a:r>
              <a:rPr lang="en-US" i="1" dirty="0"/>
              <a:t>of the options limit growth to a maximum number of size bins but treat probabilities from the "excluded" size bins differently: A and C</a:t>
            </a:r>
            <a:r>
              <a:rPr lang="en-US" dirty="0"/>
              <a:t> </a:t>
            </a:r>
            <a:r>
              <a:rPr lang="en-US" i="1" dirty="0"/>
              <a:t>drop them, then normalize the remaining probabilities to sum to 1 whereas B and D treat the max size bin as an accumulator for "raw”</a:t>
            </a:r>
            <a:r>
              <a:rPr lang="en-US" dirty="0"/>
              <a:t> </a:t>
            </a:r>
            <a:r>
              <a:rPr lang="en-US" i="1" dirty="0"/>
              <a:t>probabilities at larger size bins before dropping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Fixed calculation of predicted fishery size comps 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calc_predicted_composition</a:t>
            </a:r>
            <a:r>
              <a:rPr lang="en-US" i="1" dirty="0">
                <a:solidFill>
                  <a:srgbClr val="FF0000"/>
                </a:solidFill>
              </a:rPr>
              <a:t> by including fully-selected F's (ft(</a:t>
            </a:r>
            <a:r>
              <a:rPr lang="en-US" i="1" dirty="0" err="1">
                <a:solidFill>
                  <a:srgbClr val="FF0000"/>
                </a:solidFill>
              </a:rPr>
              <a:t>k,h,i,j</a:t>
            </a:r>
            <a:r>
              <a:rPr lang="en-US" i="1" dirty="0">
                <a:solidFill>
                  <a:srgbClr val="FF0000"/>
                </a:solidFill>
              </a:rPr>
              <a:t>)) in the calculations.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56B7B-8886-732D-FC20-E138531DC739}"/>
              </a:ext>
            </a:extLst>
          </p:cNvPr>
          <p:cNvSpPr txBox="1"/>
          <p:nvPr/>
        </p:nvSpPr>
        <p:spPr>
          <a:xfrm>
            <a:off x="3045075" y="5926317"/>
            <a:ext cx="7322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Added new option for averaging fishing mortality rates before calculating the OFL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361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CC55-B3E6-253E-412C-684786A1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6E2193-24B3-8483-7788-F031CA83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Natural Mortality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A890D4-6F5C-8609-F66B-1F5F863F7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290" y="935835"/>
            <a:ext cx="4650421" cy="57048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1A343A-8B4B-B7CA-B837-45BC1C5CB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087" y="935835"/>
            <a:ext cx="4674623" cy="5704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39CCED-BF07-80E8-802F-A4907F11B4A4}"/>
              </a:ext>
            </a:extLst>
          </p:cNvPr>
          <p:cNvSpPr txBox="1"/>
          <p:nvPr/>
        </p:nvSpPr>
        <p:spPr>
          <a:xfrm rot="16200000">
            <a:off x="737755" y="3688773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A245E-B21E-05D2-6A23-16426A42208F}"/>
              </a:ext>
            </a:extLst>
          </p:cNvPr>
          <p:cNvSpPr txBox="1"/>
          <p:nvPr/>
        </p:nvSpPr>
        <p:spPr>
          <a:xfrm rot="5400000">
            <a:off x="10607090" y="3491346"/>
            <a:ext cx="1330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differences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F9C40-1A54-5F1F-1A97-B46F45A9BEE0}"/>
              </a:ext>
            </a:extLst>
          </p:cNvPr>
          <p:cNvSpPr txBox="1"/>
          <p:nvPr/>
        </p:nvSpPr>
        <p:spPr>
          <a:xfrm>
            <a:off x="5652655" y="631673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immature crab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0CCF9-D0AB-DCDB-5558-29C8EB0F8CB3}"/>
              </a:ext>
            </a:extLst>
          </p:cNvPr>
          <p:cNvSpPr txBox="1"/>
          <p:nvPr/>
        </p:nvSpPr>
        <p:spPr>
          <a:xfrm>
            <a:off x="5752041" y="3603575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mature crab</a:t>
            </a:r>
          </a:p>
        </p:txBody>
      </p:sp>
    </p:spTree>
    <p:extLst>
      <p:ext uri="{BB962C8B-B14F-4D97-AF65-F5344CB8AC3E}">
        <p14:creationId xmlns:p14="http://schemas.microsoft.com/office/powerpoint/2010/main" val="4265399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56F2E-5D8A-0472-7090-EB4B85370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73B78C-9FC5-8F91-1241-0113BE59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Male growth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111402-B711-E821-E05A-ED38D7D5C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3" y="1514211"/>
            <a:ext cx="6161723" cy="40501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A3226D-B30C-9FA5-058E-F12093F86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646" y="4823088"/>
            <a:ext cx="723900" cy="52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D48C42-7A9F-CA60-34C5-4ADD19549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196" y="1514211"/>
            <a:ext cx="5749636" cy="40551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CA546C-C98F-660B-7F60-7DB16315B0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2014" y="4943738"/>
            <a:ext cx="15113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76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DE3A0-7D8B-94AB-515C-BE487583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C20011-7252-39C3-126A-CCB4E9D5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Fully-selected Male Capture F’s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7DFBD6-065E-5A85-7135-860B39977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2" y="1203204"/>
            <a:ext cx="6157050" cy="45741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8B251E-7973-2890-4EE0-54E7A3D7F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528" y="1293747"/>
            <a:ext cx="5914021" cy="4483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31AE18-8963-FB31-B1DB-E0FC6F8704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55" y="1383697"/>
            <a:ext cx="723900" cy="52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B04AB-7A94-C228-7961-28A6B29EF0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6077" y="1510697"/>
            <a:ext cx="12065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31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5B9D-E71A-A97A-1031-4D61025F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A9F4E-7562-A99E-B697-237F78F6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Recruitment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E4A84-26A9-B6BA-15AA-E26669B88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9942"/>
            <a:ext cx="6096000" cy="45108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E9F2FE-784E-6A9E-901A-3248D4604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89942"/>
            <a:ext cx="5578763" cy="4546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5A1510-6EB6-54D7-887A-335DC01E2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82" y="1633079"/>
            <a:ext cx="7239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0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3B41-DC8E-6E8F-356E-48CCCDBD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90111F-B5D1-5F05-895D-B68FDC114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Population abundance-at-size for mature males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995FF3-B856-438F-D2C1-CBC07E164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032" y="696842"/>
            <a:ext cx="8911936" cy="585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4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6B3E-56E1-EC2E-B8F0-7FFDDB30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CF0346-83DE-66DE-15C3-D1D921AD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Predicted total catch biomass, by fishery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04ED52-BB6B-4FE7-FEBD-4BD2F34DD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172" y="696842"/>
            <a:ext cx="9355283" cy="611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68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DCDF-CF0A-EDD7-92DE-022EBABF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1DE473-661E-3145-4F5D-AD73BD53F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Predicted NMFS Survey Biomass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0F4B15-0246-3DB7-93BD-B5A3456C6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73" y="696842"/>
            <a:ext cx="9206618" cy="607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96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AD5FD-EBEB-4807-3CF0-A4EBB97B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C47BB8-6441-0E24-F755-394AF1759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Likelihood differences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0F1593-788B-C4CB-B9B6-6AFD62041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947"/>
            <a:ext cx="4053999" cy="5087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0F3793-BFC7-6ECB-A631-0EE76EB34359}"/>
              </a:ext>
            </a:extLst>
          </p:cNvPr>
          <p:cNvSpPr txBox="1"/>
          <p:nvPr/>
        </p:nvSpPr>
        <p:spPr>
          <a:xfrm>
            <a:off x="571500" y="920006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growth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079AB-75BD-DA04-0263-00E5452B8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757" y="1254930"/>
            <a:ext cx="3836179" cy="5111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5B8540-3456-BD6A-26FC-5BF666892D4D}"/>
              </a:ext>
            </a:extLst>
          </p:cNvPr>
          <p:cNvSpPr txBox="1"/>
          <p:nvPr/>
        </p:nvSpPr>
        <p:spPr>
          <a:xfrm>
            <a:off x="4457222" y="909615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male maturity ogives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39A5D4-F122-277A-233D-98FE70E21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326" y="1254930"/>
            <a:ext cx="3863874" cy="51115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D438EC-F2AE-2E8E-FD58-3BB8347FF9B1}"/>
              </a:ext>
            </a:extLst>
          </p:cNvPr>
          <p:cNvSpPr txBox="1"/>
          <p:nvPr/>
        </p:nvSpPr>
        <p:spPr>
          <a:xfrm>
            <a:off x="8353744" y="909615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survey biomass</a:t>
            </a:r>
          </a:p>
        </p:txBody>
      </p:sp>
    </p:spTree>
    <p:extLst>
      <p:ext uri="{BB962C8B-B14F-4D97-AF65-F5344CB8AC3E}">
        <p14:creationId xmlns:p14="http://schemas.microsoft.com/office/powerpoint/2010/main" val="1308788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4F4F-2502-A293-A8A8-3B41B554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CDBD56-3282-6DA8-017E-C91DD3EC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18" y="305222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Likelihood differences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66D3D6-0586-D31A-87F0-F3793C6C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309" y="1194953"/>
            <a:ext cx="4251994" cy="5293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72C4F4-C9E2-915E-FB8A-0BA1FE471733}"/>
              </a:ext>
            </a:extLst>
          </p:cNvPr>
          <p:cNvSpPr txBox="1"/>
          <p:nvPr/>
        </p:nvSpPr>
        <p:spPr>
          <a:xfrm>
            <a:off x="2695002" y="825621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retained catch biomass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E761F-323A-0A5F-3E8C-215C1BB00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035" y="1115227"/>
            <a:ext cx="4126210" cy="5373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3E4C35-A6D1-2CD1-F887-0437AA748BC9}"/>
              </a:ext>
            </a:extLst>
          </p:cNvPr>
          <p:cNvSpPr txBox="1"/>
          <p:nvPr/>
        </p:nvSpPr>
        <p:spPr>
          <a:xfrm>
            <a:off x="7117561" y="825621"/>
            <a:ext cx="180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catch biomass</a:t>
            </a:r>
          </a:p>
        </p:txBody>
      </p:sp>
    </p:spTree>
    <p:extLst>
      <p:ext uri="{BB962C8B-B14F-4D97-AF65-F5344CB8AC3E}">
        <p14:creationId xmlns:p14="http://schemas.microsoft.com/office/powerpoint/2010/main" val="665090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38D7-37F1-E01A-DF6A-7AD469BE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29B5B9-D0A4-2A84-9815-BED51129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Fits to NMFS survey male size comps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BAE100-68D4-03D7-C757-34FF2E188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282" y="696842"/>
            <a:ext cx="9247909" cy="60784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872183-0F5F-B48A-5AA5-A0E0328DB080}"/>
              </a:ext>
            </a:extLst>
          </p:cNvPr>
          <p:cNvSpPr txBox="1"/>
          <p:nvPr/>
        </p:nvSpPr>
        <p:spPr>
          <a:xfrm>
            <a:off x="7574973" y="5818909"/>
            <a:ext cx="2178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lines: predicted values</a:t>
            </a:r>
          </a:p>
          <a:p>
            <a:r>
              <a:rPr lang="en-US" dirty="0"/>
              <a:t>points: observed values</a:t>
            </a:r>
          </a:p>
        </p:txBody>
      </p:sp>
    </p:spTree>
    <p:extLst>
      <p:ext uri="{BB962C8B-B14F-4D97-AF65-F5344CB8AC3E}">
        <p14:creationId xmlns:p14="http://schemas.microsoft.com/office/powerpoint/2010/main" val="2604139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1D68-786B-4B7E-E6F5-A20B6C6D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832364-FAFF-AEC5-0770-59587696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Directed fishery “extended” total catch size comps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042CE-BE2B-F63E-467A-97BE6C5F9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571" y="1174171"/>
            <a:ext cx="6157033" cy="4312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01E9F1-38E5-05BD-C579-293E04551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5594"/>
            <a:ext cx="6096000" cy="42308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A068D4-8BD5-B829-A6DD-965FF7300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4823088"/>
            <a:ext cx="723900" cy="520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D7CD6-FEE0-FB6D-A5F9-9A69E7432AC6}"/>
              </a:ext>
            </a:extLst>
          </p:cNvPr>
          <p:cNvSpPr txBox="1"/>
          <p:nvPr/>
        </p:nvSpPr>
        <p:spPr>
          <a:xfrm>
            <a:off x="2275609" y="886262"/>
            <a:ext cx="19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size comps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14CCA-D5BB-128D-2C82-F3B810D4D8EB}"/>
              </a:ext>
            </a:extLst>
          </p:cNvPr>
          <p:cNvSpPr txBox="1"/>
          <p:nvPr/>
        </p:nvSpPr>
        <p:spPr>
          <a:xfrm>
            <a:off x="8123500" y="886262"/>
            <a:ext cx="19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size comps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7E4F6-D910-93BB-40C7-2BE0F179E8AD}"/>
              </a:ext>
            </a:extLst>
          </p:cNvPr>
          <p:cNvSpPr txBox="1"/>
          <p:nvPr/>
        </p:nvSpPr>
        <p:spPr>
          <a:xfrm>
            <a:off x="3347105" y="5683829"/>
            <a:ext cx="5690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without scaling by sex-specific fishery capture rates</a:t>
            </a:r>
          </a:p>
        </p:txBody>
      </p:sp>
    </p:spTree>
    <p:extLst>
      <p:ext uri="{BB962C8B-B14F-4D97-AF65-F5344CB8AC3E}">
        <p14:creationId xmlns:p14="http://schemas.microsoft.com/office/powerpoint/2010/main" val="4157882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6641-370C-DDC5-1ECF-BDA59B96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297F91-2406-2988-F841-5B81283F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/>
              <a:t>Directed fishery “extended” total catch size comps</a:t>
            </a:r>
            <a:endParaRPr lang="en-US" sz="3200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B1A09D-7F5A-FDA4-569D-33F3162A8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49" y="1215735"/>
            <a:ext cx="6158852" cy="43122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F7C28C-9338-0ABA-C4C1-A843E4E23AB8}"/>
              </a:ext>
            </a:extLst>
          </p:cNvPr>
          <p:cNvSpPr txBox="1"/>
          <p:nvPr/>
        </p:nvSpPr>
        <p:spPr>
          <a:xfrm>
            <a:off x="3475048" y="5646746"/>
            <a:ext cx="5363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B0F0"/>
                </a:solidFill>
              </a:rPr>
              <a:t>with scaling by sex-specific fishery capture rates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04EC83-9CE9-B19F-E711-4B58135FC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5" y="1272885"/>
            <a:ext cx="6056863" cy="4197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66F87C-C1BC-B2F4-826E-3900474F7128}"/>
              </a:ext>
            </a:extLst>
          </p:cNvPr>
          <p:cNvSpPr txBox="1"/>
          <p:nvPr/>
        </p:nvSpPr>
        <p:spPr>
          <a:xfrm>
            <a:off x="2275609" y="886262"/>
            <a:ext cx="19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size comps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D2386-C3B8-94AC-7591-2BB37077AA1D}"/>
              </a:ext>
            </a:extLst>
          </p:cNvPr>
          <p:cNvSpPr txBox="1"/>
          <p:nvPr/>
        </p:nvSpPr>
        <p:spPr>
          <a:xfrm>
            <a:off x="8123500" y="886262"/>
            <a:ext cx="19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size comps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D3871-781E-999B-6D79-3EF3D91C8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6460" y="4751070"/>
            <a:ext cx="7239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49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8D26E-001D-9539-E61A-BBCF0D086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C88835-3CC7-D66F-6DFE-197BCC9AD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/>
              <a:t>Fits to directed fishery t</a:t>
            </a:r>
            <a:r>
              <a:rPr lang="en-US" sz="3200" dirty="0">
                <a:latin typeface="+mn-lt"/>
              </a:rPr>
              <a:t>otal catch size comps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433210-F928-0366-9BE5-7DDB10085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3008"/>
            <a:ext cx="6039485" cy="42357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B3CF29-5D54-C6CA-9699-CFA3C3E69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792" y="4843157"/>
            <a:ext cx="723900" cy="52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F53E64-990B-D855-5C86-FDCB0CB14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299246"/>
            <a:ext cx="6010564" cy="4181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0FBC78-3B29-3328-4647-2EA24D2C7522}"/>
              </a:ext>
            </a:extLst>
          </p:cNvPr>
          <p:cNvSpPr txBox="1"/>
          <p:nvPr/>
        </p:nvSpPr>
        <p:spPr>
          <a:xfrm>
            <a:off x="2919845" y="966355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7E31B-9F66-917E-F8E7-4F1057F1E1E2}"/>
              </a:ext>
            </a:extLst>
          </p:cNvPr>
          <p:cNvSpPr txBox="1"/>
          <p:nvPr/>
        </p:nvSpPr>
        <p:spPr>
          <a:xfrm>
            <a:off x="8677127" y="92991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767CD1-C35E-AD2B-CF99-759E8B9B322F}"/>
              </a:ext>
            </a:extLst>
          </p:cNvPr>
          <p:cNvSpPr txBox="1"/>
          <p:nvPr/>
        </p:nvSpPr>
        <p:spPr>
          <a:xfrm>
            <a:off x="8489373" y="4966855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Lines: predicted</a:t>
            </a:r>
          </a:p>
          <a:p>
            <a:r>
              <a:rPr lang="en-US" dirty="0"/>
              <a:t>points: observed</a:t>
            </a:r>
          </a:p>
        </p:txBody>
      </p:sp>
    </p:spTree>
    <p:extLst>
      <p:ext uri="{BB962C8B-B14F-4D97-AF65-F5344CB8AC3E}">
        <p14:creationId xmlns:p14="http://schemas.microsoft.com/office/powerpoint/2010/main" val="845227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9A57-4BF4-827D-F770-14AB04A2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A3B72D-DB9E-67EA-0FEA-A12861FD3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Management 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Quantities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5D5FEC-2739-3DB9-7402-9DF7BDE6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810" y="176443"/>
            <a:ext cx="9843190" cy="65138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DAFEA0-C592-6588-AE08-C3F83510B3BB}"/>
              </a:ext>
            </a:extLst>
          </p:cNvPr>
          <p:cNvSpPr txBox="1"/>
          <p:nvPr/>
        </p:nvSpPr>
        <p:spPr>
          <a:xfrm>
            <a:off x="462987" y="1261641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Old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190DB-15E6-B325-23D0-FFF5297D37AC}"/>
              </a:ext>
            </a:extLst>
          </p:cNvPr>
          <p:cNvSpPr/>
          <p:nvPr/>
        </p:nvSpPr>
        <p:spPr>
          <a:xfrm>
            <a:off x="2348811" y="4433104"/>
            <a:ext cx="9843190" cy="1088020"/>
          </a:xfrm>
          <a:prstGeom prst="rect">
            <a:avLst/>
          </a:prstGeom>
          <a:noFill/>
          <a:ln w="889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32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7284-1136-1BC7-B192-091D4405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6BA4CC-8F23-004F-ED4E-AB1880407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OFL Resolution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2454F-3279-3921-2147-764C243B9A8B}"/>
              </a:ext>
            </a:extLst>
          </p:cNvPr>
          <p:cNvSpPr txBox="1"/>
          <p:nvPr/>
        </p:nvSpPr>
        <p:spPr>
          <a:xfrm>
            <a:off x="476872" y="842100"/>
            <a:ext cx="473719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GMACS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uses average fleet/sex specific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fully-selected capture rates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“vulnerability”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TCSAM02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uses average fleet/sex specific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fully-selected capture rates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selectivity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retention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81BDD1-F8C8-9EFF-B443-C6DE1BCEF332}"/>
                  </a:ext>
                </a:extLst>
              </p:cNvPr>
              <p:cNvSpPr txBox="1"/>
              <p:nvPr/>
            </p:nvSpPr>
            <p:spPr>
              <a:xfrm>
                <a:off x="5784468" y="1575486"/>
                <a:ext cx="3816732" cy="4510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( 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∙(1−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acc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81BDD1-F8C8-9EFF-B443-C6DE1BCEF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468" y="1575486"/>
                <a:ext cx="3816732" cy="451086"/>
              </a:xfrm>
              <a:prstGeom prst="rect">
                <a:avLst/>
              </a:prstGeom>
              <a:blipFill>
                <a:blip r:embed="rId3"/>
                <a:stretch>
                  <a:fillRect t="-8108" r="-1661" b="-37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C8012B-F411-C529-C0FD-80CDDD924FD3}"/>
                  </a:ext>
                </a:extLst>
              </p:cNvPr>
              <p:cNvSpPr txBox="1"/>
              <p:nvPr/>
            </p:nvSpPr>
            <p:spPr>
              <a:xfrm>
                <a:off x="5018349" y="2171830"/>
                <a:ext cx="3124754" cy="441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C8012B-F411-C529-C0FD-80CDDD924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349" y="2171830"/>
                <a:ext cx="3124754" cy="441468"/>
              </a:xfrm>
              <a:prstGeom prst="rect">
                <a:avLst/>
              </a:prstGeom>
              <a:blipFill>
                <a:blip r:embed="rId4"/>
                <a:stretch>
                  <a:fillRect b="-36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023A88-6308-4A8B-F337-DFC95B302DB9}"/>
                  </a:ext>
                </a:extLst>
              </p:cNvPr>
              <p:cNvSpPr txBox="1"/>
              <p:nvPr/>
            </p:nvSpPr>
            <p:spPr>
              <a:xfrm>
                <a:off x="5018349" y="3821386"/>
                <a:ext cx="6098058" cy="533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n-US" sz="2800" dirty="0"/>
                        <m:t>( </m:t>
                      </m:r>
                      <m:acc>
                        <m:accPr>
                          <m:chr m:val="̅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∙(1−</m:t>
                      </m:r>
                      <m:acc>
                        <m:accPr>
                          <m:chr m:val="̅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023A88-6308-4A8B-F337-DFC95B302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349" y="3821386"/>
                <a:ext cx="6098058" cy="533800"/>
              </a:xfrm>
              <a:prstGeom prst="rect">
                <a:avLst/>
              </a:prstGeom>
              <a:blipFill>
                <a:blip r:embed="rId5"/>
                <a:stretch>
                  <a:fillRect t="-2326"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8E221-D948-FC5C-44CB-B2144ACD3DEA}"/>
                  </a:ext>
                </a:extLst>
              </p:cNvPr>
              <p:cNvSpPr txBox="1"/>
              <p:nvPr/>
            </p:nvSpPr>
            <p:spPr>
              <a:xfrm>
                <a:off x="5951006" y="4573702"/>
                <a:ext cx="4232743" cy="4510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( 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∙(1−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acc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8E221-D948-FC5C-44CB-B2144ACD3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006" y="4573702"/>
                <a:ext cx="4232743" cy="451086"/>
              </a:xfrm>
              <a:prstGeom prst="rect">
                <a:avLst/>
              </a:prstGeom>
              <a:blipFill>
                <a:blip r:embed="rId6"/>
                <a:stretch>
                  <a:fillRect l="-1194" t="-11111" r="-2090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143BAD2-2067-3752-CD77-47034A7AE353}"/>
              </a:ext>
            </a:extLst>
          </p:cNvPr>
          <p:cNvSpPr txBox="1"/>
          <p:nvPr/>
        </p:nvSpPr>
        <p:spPr>
          <a:xfrm>
            <a:off x="10614454" y="390362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default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808F93-EBE8-1DCA-6D29-0C9645EC047A}"/>
              </a:ext>
            </a:extLst>
          </p:cNvPr>
          <p:cNvSpPr txBox="1"/>
          <p:nvPr/>
        </p:nvSpPr>
        <p:spPr>
          <a:xfrm>
            <a:off x="10655222" y="4437420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alternative</a:t>
            </a:r>
          </a:p>
        </p:txBody>
      </p:sp>
    </p:spTree>
    <p:extLst>
      <p:ext uri="{BB962C8B-B14F-4D97-AF65-F5344CB8AC3E}">
        <p14:creationId xmlns:p14="http://schemas.microsoft.com/office/powerpoint/2010/main" val="2413562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ED51A-8328-3E38-C9E1-8929A20E9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9E865F-170C-7925-F1F8-8C6E1B8A2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016" y="131470"/>
            <a:ext cx="10258984" cy="65950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03A4285-3DF9-F552-C592-4A909BF13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Management 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Quantities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A2C05-BD0A-EB98-95E1-536F69C252C5}"/>
              </a:ext>
            </a:extLst>
          </p:cNvPr>
          <p:cNvSpPr txBox="1"/>
          <p:nvPr/>
        </p:nvSpPr>
        <p:spPr>
          <a:xfrm>
            <a:off x="462987" y="1261641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New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1BA37-DEE8-02B6-E670-BC5B15FBF288}"/>
              </a:ext>
            </a:extLst>
          </p:cNvPr>
          <p:cNvSpPr/>
          <p:nvPr/>
        </p:nvSpPr>
        <p:spPr>
          <a:xfrm>
            <a:off x="2348811" y="4433104"/>
            <a:ext cx="9843190" cy="1088020"/>
          </a:xfrm>
          <a:prstGeom prst="rect">
            <a:avLst/>
          </a:prstGeom>
          <a:noFill/>
          <a:ln w="889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20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06D48-3B59-9265-9F2E-A7650A38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79363A-B085-AB5E-B33D-C7707E5B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17644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Wrap-up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53E684-1FCC-79E9-F6F5-056790D3B6E0}"/>
              </a:ext>
            </a:extLst>
          </p:cNvPr>
          <p:cNvSpPr txBox="1"/>
          <p:nvPr/>
        </p:nvSpPr>
        <p:spPr>
          <a:xfrm>
            <a:off x="2293315" y="1657647"/>
            <a:ext cx="897874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GMACS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GMACS model converges, but not to TCSAM02 MLE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Need to ensure priors and penalties are equivalent between the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800" dirty="0"/>
              <a:t>Reviewers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close if “good enough”?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other thoughts?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3021752"/>
      </p:ext>
    </p:extLst>
  </p:cSld>
  <p:clrMapOvr>
    <a:masterClrMapping/>
  </p:clrMapOvr>
</p:sld>
</file>

<file path=ppt/theme/theme1.xml><?xml version="1.0" encoding="utf-8"?>
<a:theme xmlns:a="http://schemas.openxmlformats.org/drawingml/2006/main" name="NOAA_Fisheri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470F256F-5A14-804C-905B-CD7FB444AA38}"/>
    </a:ext>
  </a:extLst>
</a:theme>
</file>

<file path=ppt/theme/theme2.xml><?xml version="1.0" encoding="utf-8"?>
<a:theme xmlns:a="http://schemas.openxmlformats.org/drawingml/2006/main" name="NOAA Fisheries Content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3CE7A497-1B99-8F40-8A5A-0E3D0E28E34C}"/>
    </a:ext>
  </a:extLst>
</a:theme>
</file>

<file path=ppt/theme/theme3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1D527E59-2320-884A-9981-A0E29823F6D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</Template>
  <TotalTime>19655</TotalTime>
  <Words>985</Words>
  <Application>Microsoft Macintosh PowerPoint</Application>
  <PresentationFormat>Widescreen</PresentationFormat>
  <Paragraphs>214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Narrow</vt:lpstr>
      <vt:lpstr>Calibri</vt:lpstr>
      <vt:lpstr>Cambria Math</vt:lpstr>
      <vt:lpstr>Helvetica</vt:lpstr>
      <vt:lpstr>Times New Roman</vt:lpstr>
      <vt:lpstr>NOAA_Fisheries</vt:lpstr>
      <vt:lpstr>NOAA Fisheries Content Slides</vt:lpstr>
      <vt:lpstr>NOAA Divider Slides</vt:lpstr>
      <vt:lpstr>2026 Tanner Crab  Transition To GMACS</vt:lpstr>
      <vt:lpstr>Tier 3 Assessment Model</vt:lpstr>
      <vt:lpstr>Population dynamics (1)</vt:lpstr>
      <vt:lpstr>Population dynamics (2)</vt:lpstr>
      <vt:lpstr>Population dynamics (3)</vt:lpstr>
      <vt:lpstr>Fishery dynamics (1)</vt:lpstr>
      <vt:lpstr>Assessment time frames: data</vt:lpstr>
      <vt:lpstr>Assessment time frames: model processes</vt:lpstr>
      <vt:lpstr>Population dynamics</vt:lpstr>
      <vt:lpstr>Fisheries</vt:lpstr>
      <vt:lpstr>Surveys</vt:lpstr>
      <vt:lpstr>Likelihoods</vt:lpstr>
      <vt:lpstr>Some Major Differences Between TCSAM02 and GMACS</vt:lpstr>
      <vt:lpstr>GMACS Modifications To Match TCSAM02</vt:lpstr>
      <vt:lpstr>Natural Mortality</vt:lpstr>
      <vt:lpstr>Male growth</vt:lpstr>
      <vt:lpstr>Fully-selected Male Capture F’s</vt:lpstr>
      <vt:lpstr>Recruitment</vt:lpstr>
      <vt:lpstr>Population abundance-at-size for mature males</vt:lpstr>
      <vt:lpstr>Predicted total catch biomass, by fishery</vt:lpstr>
      <vt:lpstr>Predicted NMFS Survey Biomass</vt:lpstr>
      <vt:lpstr>Likelihood differences</vt:lpstr>
      <vt:lpstr>Likelihood differences</vt:lpstr>
      <vt:lpstr>Fits to NMFS survey male size comps</vt:lpstr>
      <vt:lpstr>Directed fishery “extended” total catch size comps</vt:lpstr>
      <vt:lpstr>Directed fishery “extended” total catch size comps</vt:lpstr>
      <vt:lpstr>Fits to directed fishery total catch size comps </vt:lpstr>
      <vt:lpstr>Management  Quantities</vt:lpstr>
      <vt:lpstr>OFL Resolution</vt:lpstr>
      <vt:lpstr>Management  Quantities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Tanner Crab Stock Assessment</dc:title>
  <dc:creator>William Stockhausen</dc:creator>
  <cp:lastModifiedBy>William Stockhausen</cp:lastModifiedBy>
  <cp:revision>175</cp:revision>
  <cp:lastPrinted>2019-09-09T15:27:44Z</cp:lastPrinted>
  <dcterms:created xsi:type="dcterms:W3CDTF">2021-09-13T01:24:40Z</dcterms:created>
  <dcterms:modified xsi:type="dcterms:W3CDTF">2026-06-09T15:22:32Z</dcterms:modified>
</cp:coreProperties>
</file>