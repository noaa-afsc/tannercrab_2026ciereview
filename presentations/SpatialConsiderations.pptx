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70" r:id="rId2"/>
    <p:sldMasterId id="2147483674" r:id="rId3"/>
  </p:sldMasterIdLst>
  <p:notesMasterIdLst>
    <p:notesMasterId r:id="rId15"/>
  </p:notesMasterIdLst>
  <p:sldIdLst>
    <p:sldId id="256" r:id="rId4"/>
    <p:sldId id="752" r:id="rId5"/>
    <p:sldId id="751" r:id="rId6"/>
    <p:sldId id="749" r:id="rId7"/>
    <p:sldId id="750" r:id="rId8"/>
    <p:sldId id="726" r:id="rId9"/>
    <p:sldId id="267" r:id="rId10"/>
    <p:sldId id="725" r:id="rId11"/>
    <p:sldId id="268" r:id="rId12"/>
    <p:sldId id="754" r:id="rId13"/>
    <p:sldId id="75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0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61"/>
    <p:restoredTop sz="87659"/>
  </p:normalViewPr>
  <p:slideViewPr>
    <p:cSldViewPr snapToGrid="0" snapToObjects="1">
      <p:cViewPr varScale="1">
        <p:scale>
          <a:sx n="107" d="100"/>
          <a:sy n="107" d="100"/>
        </p:scale>
        <p:origin x="8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-691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A2E994-B0ED-0A4E-A831-9F7B66D696A3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1A4D2B-9145-8640-AE21-E479860AD7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155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525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BA8D2-06AE-0535-94EF-4CACFBE4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465C59-DB87-E969-42D2-FF43787303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353D52-B300-192E-35A4-2574570A2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7FF508-6284-5F0D-E3E7-3A09AC727E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082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FD05-645F-DAF9-D326-1BF90F95E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F206ED-C8DD-B223-788B-122B5CB804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482531-1AE0-AB59-35D9-933BAE4748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93160B-9799-05E4-3E67-058F20CD41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5649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24386-1442-78E2-3F8A-2E8DB7261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E35FDB-0A1C-7056-65F7-3EC49E51F5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F6FAD4-6CA8-6CF9-A61F-1FC4795784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F5633-6A70-E59D-31B4-F061BF1A53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2790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26D9B-6383-2F9C-3D02-B56D738ED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8018B3-2929-EC21-E1F5-9EAA14A13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230A1D-BE4A-C77E-70B4-C6A042085F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F126C-3A92-F252-4C22-519CD7D208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5198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BE95F5-E156-6643-0C5C-FEE36915D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150E5E-A698-2E56-DEEA-C6DBBBF302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BD7C9-AC5B-6C36-9730-DFC290DCEA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CFE11-6486-7DD7-1609-F2F7DD1DC7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138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5784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C8004-FE60-34A2-6BEF-470F5DC05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1B97-D84A-C6FE-17CD-9041D2AB71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024148-9689-AEB7-9B46-6D466A85F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204B7C-B478-8B5E-1E04-921D656140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8518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2376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7D435-23C8-A83D-723A-82B60FC56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816D9B-F877-C7E9-F4CF-D88E144C8C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2AA7F8-34FC-BE04-A5CA-E28E5CE99B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Updated 2024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3C66C-E3B9-133C-DCDC-BBC24C6EF7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81A4D2B-9145-8640-AE21-E479860AD72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588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No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224709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Boats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626597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Turtle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9131041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Seafood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864681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Fish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/>
            </a:lvl1pPr>
          </a:lstStyle>
          <a:p>
            <a:pPr lvl="0"/>
            <a:r>
              <a:rPr lang="en-US" dirty="0"/>
              <a:t>July 19, 2012</a:t>
            </a:r>
          </a:p>
        </p:txBody>
      </p:sp>
    </p:spTree>
    <p:extLst>
      <p:ext uri="{BB962C8B-B14F-4D97-AF65-F5344CB8AC3E}">
        <p14:creationId xmlns:p14="http://schemas.microsoft.com/office/powerpoint/2010/main" val="26785298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- Dark">
    <p:bg>
      <p:bgPr>
        <a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4269317" y="2707458"/>
            <a:ext cx="7313083" cy="1224439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18067" y="3118591"/>
            <a:ext cx="1725084" cy="752475"/>
          </a:xfrm>
        </p:spPr>
        <p:txBody>
          <a:bodyPr lIns="0" tIns="0" rIns="0" bIns="0">
            <a:normAutofit/>
          </a:bodyPr>
          <a:lstStyle>
            <a:lvl1pPr algn="l"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Regional Unit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269317" y="4282303"/>
            <a:ext cx="7313083" cy="577850"/>
          </a:xfrm>
        </p:spPr>
        <p:txBody>
          <a:bodyPr>
            <a:normAutofit/>
          </a:bodyPr>
          <a:lstStyle>
            <a:lvl1pPr>
              <a:defRPr sz="1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 dirty="0"/>
              <a:t>July 19, 2012</a:t>
            </a:r>
          </a:p>
        </p:txBody>
      </p:sp>
      <p:sp>
        <p:nvSpPr>
          <p:cNvPr id="7" name="Freeform 6"/>
          <p:cNvSpPr/>
          <p:nvPr/>
        </p:nvSpPr>
        <p:spPr>
          <a:xfrm>
            <a:off x="-12253" y="4417161"/>
            <a:ext cx="12227564" cy="2457785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0673" h="2457785">
                <a:moveTo>
                  <a:pt x="2887" y="2375696"/>
                </a:moveTo>
                <a:cubicBezTo>
                  <a:pt x="23548" y="2372367"/>
                  <a:pt x="7344315" y="2502055"/>
                  <a:pt x="9170673" y="0"/>
                </a:cubicBezTo>
                <a:cubicBezTo>
                  <a:pt x="9168091" y="819774"/>
                  <a:pt x="9157766" y="1631806"/>
                  <a:pt x="9155184" y="2451580"/>
                </a:cubicBezTo>
                <a:lnTo>
                  <a:pt x="0" y="2457785"/>
                </a:lnTo>
                <a:cubicBezTo>
                  <a:pt x="-1" y="2415623"/>
                  <a:pt x="2888" y="2417858"/>
                  <a:pt x="2887" y="2375696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965149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DE65052-80B5-D141-90BA-19CA8E22EBC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F4A1433-DF31-E847-87B2-2D278BA6D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613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DE65052-80B5-D141-90BA-19CA8E22EBC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2F4A1433-DF31-E847-87B2-2D278BA6D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234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70BC3-F8B0-AB46-907C-AD258F352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60836-6EFD-9544-9200-5470F99F89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01848-9FC8-AA44-A1AF-40D764705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E65052-80B5-D141-90BA-19CA8E22EBCD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4FB5FD-7D8B-D045-92A0-F7EF5FC97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22942A-35E5-DC4A-B220-4DA941DFF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4A1433-DF31-E847-87B2-2D278BA6D1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667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58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3FFE5A4-DFEE-4EDF-87CD-A33ADA528450}" type="datetimeFigureOut">
              <a:rPr lang="en-US" smtClean="0"/>
              <a:t>5/25/26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16C6FAA7-E426-4F7E-8C8A-64E11EFE5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9892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C3FFE5A4-DFEE-4EDF-87CD-A33ADA528450}" type="datetimeFigureOut">
              <a:rPr lang="en-US" smtClean="0"/>
              <a:t>5/25/26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/>
          <a:lstStyle/>
          <a:p>
            <a:fld id="{16C6FAA7-E426-4F7E-8C8A-64E11EFE54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0290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1E5C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/>
        </p:nvSpPr>
        <p:spPr>
          <a:xfrm flipH="1" flipV="1">
            <a:off x="-1" y="-24487"/>
            <a:ext cx="12184781" cy="2515079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  <a:gd name="connsiteX0" fmla="*/ 2887 w 9170673"/>
              <a:gd name="connsiteY0" fmla="*/ 2375696 h 2508024"/>
              <a:gd name="connsiteX1" fmla="*/ 9170673 w 9170673"/>
              <a:gd name="connsiteY1" fmla="*/ 0 h 2508024"/>
              <a:gd name="connsiteX2" fmla="*/ 9169295 w 9170673"/>
              <a:gd name="connsiteY2" fmla="*/ 2508024 h 2508024"/>
              <a:gd name="connsiteX3" fmla="*/ 0 w 9170673"/>
              <a:gd name="connsiteY3" fmla="*/ 2457785 h 2508024"/>
              <a:gd name="connsiteX4" fmla="*/ 2887 w 9170673"/>
              <a:gd name="connsiteY4" fmla="*/ 2375696 h 2508024"/>
              <a:gd name="connsiteX0" fmla="*/ 0 w 9167786"/>
              <a:gd name="connsiteY0" fmla="*/ 2375696 h 2508024"/>
              <a:gd name="connsiteX1" fmla="*/ 9167786 w 9167786"/>
              <a:gd name="connsiteY1" fmla="*/ 0 h 2508024"/>
              <a:gd name="connsiteX2" fmla="*/ 9166408 w 9167786"/>
              <a:gd name="connsiteY2" fmla="*/ 2508024 h 2508024"/>
              <a:gd name="connsiteX3" fmla="*/ 4169 w 9167786"/>
              <a:gd name="connsiteY3" fmla="*/ 2500118 h 2508024"/>
              <a:gd name="connsiteX4" fmla="*/ 0 w 9167786"/>
              <a:gd name="connsiteY4" fmla="*/ 2375696 h 2508024"/>
              <a:gd name="connsiteX0" fmla="*/ 0 w 9166452"/>
              <a:gd name="connsiteY0" fmla="*/ 2375696 h 2508024"/>
              <a:gd name="connsiteX1" fmla="*/ 9061952 w 9166452"/>
              <a:gd name="connsiteY1" fmla="*/ 0 h 2508024"/>
              <a:gd name="connsiteX2" fmla="*/ 9166408 w 9166452"/>
              <a:gd name="connsiteY2" fmla="*/ 2508024 h 2508024"/>
              <a:gd name="connsiteX3" fmla="*/ 4169 w 9166452"/>
              <a:gd name="connsiteY3" fmla="*/ 2500118 h 2508024"/>
              <a:gd name="connsiteX4" fmla="*/ 0 w 9166452"/>
              <a:gd name="connsiteY4" fmla="*/ 2375696 h 2508024"/>
              <a:gd name="connsiteX0" fmla="*/ 0 w 9166808"/>
              <a:gd name="connsiteY0" fmla="*/ 2382751 h 2515079"/>
              <a:gd name="connsiteX1" fmla="*/ 9160729 w 9166808"/>
              <a:gd name="connsiteY1" fmla="*/ 0 h 2515079"/>
              <a:gd name="connsiteX2" fmla="*/ 9166408 w 9166808"/>
              <a:gd name="connsiteY2" fmla="*/ 2515079 h 2515079"/>
              <a:gd name="connsiteX3" fmla="*/ 4169 w 9166808"/>
              <a:gd name="connsiteY3" fmla="*/ 2507173 h 2515079"/>
              <a:gd name="connsiteX4" fmla="*/ 0 w 9166808"/>
              <a:gd name="connsiteY4" fmla="*/ 2382751 h 2515079"/>
              <a:gd name="connsiteX0" fmla="*/ 9943 w 9162640"/>
              <a:gd name="connsiteY0" fmla="*/ 2382751 h 2515079"/>
              <a:gd name="connsiteX1" fmla="*/ 9156561 w 9162640"/>
              <a:gd name="connsiteY1" fmla="*/ 0 h 2515079"/>
              <a:gd name="connsiteX2" fmla="*/ 9162240 w 9162640"/>
              <a:gd name="connsiteY2" fmla="*/ 2515079 h 2515079"/>
              <a:gd name="connsiteX3" fmla="*/ 1 w 9162640"/>
              <a:gd name="connsiteY3" fmla="*/ 2507173 h 2515079"/>
              <a:gd name="connsiteX4" fmla="*/ 9943 w 9162640"/>
              <a:gd name="connsiteY4" fmla="*/ 2382751 h 2515079"/>
              <a:gd name="connsiteX0" fmla="*/ 0 w 9152697"/>
              <a:gd name="connsiteY0" fmla="*/ 2382751 h 2515079"/>
              <a:gd name="connsiteX1" fmla="*/ 9146618 w 9152697"/>
              <a:gd name="connsiteY1" fmla="*/ 0 h 2515079"/>
              <a:gd name="connsiteX2" fmla="*/ 9152297 w 9152697"/>
              <a:gd name="connsiteY2" fmla="*/ 2515079 h 2515079"/>
              <a:gd name="connsiteX3" fmla="*/ 187614 w 9152697"/>
              <a:gd name="connsiteY3" fmla="*/ 2507173 h 2515079"/>
              <a:gd name="connsiteX4" fmla="*/ 0 w 9152697"/>
              <a:gd name="connsiteY4" fmla="*/ 2382751 h 2515079"/>
              <a:gd name="connsiteX0" fmla="*/ 0 w 9068030"/>
              <a:gd name="connsiteY0" fmla="*/ 2382751 h 2515079"/>
              <a:gd name="connsiteX1" fmla="*/ 9061951 w 9068030"/>
              <a:gd name="connsiteY1" fmla="*/ 0 h 2515079"/>
              <a:gd name="connsiteX2" fmla="*/ 9067630 w 9068030"/>
              <a:gd name="connsiteY2" fmla="*/ 2515079 h 2515079"/>
              <a:gd name="connsiteX3" fmla="*/ 102947 w 9068030"/>
              <a:gd name="connsiteY3" fmla="*/ 2507173 h 2515079"/>
              <a:gd name="connsiteX4" fmla="*/ 0 w 9068030"/>
              <a:gd name="connsiteY4" fmla="*/ 2382751 h 2515079"/>
              <a:gd name="connsiteX0" fmla="*/ 0 w 9138586"/>
              <a:gd name="connsiteY0" fmla="*/ 2382751 h 2515079"/>
              <a:gd name="connsiteX1" fmla="*/ 9132507 w 9138586"/>
              <a:gd name="connsiteY1" fmla="*/ 0 h 2515079"/>
              <a:gd name="connsiteX2" fmla="*/ 9138186 w 9138586"/>
              <a:gd name="connsiteY2" fmla="*/ 2515079 h 2515079"/>
              <a:gd name="connsiteX3" fmla="*/ 173503 w 9138586"/>
              <a:gd name="connsiteY3" fmla="*/ 2507173 h 2515079"/>
              <a:gd name="connsiteX4" fmla="*/ 0 w 9138586"/>
              <a:gd name="connsiteY4" fmla="*/ 2382751 h 2515079"/>
              <a:gd name="connsiteX0" fmla="*/ 0 w 9138586"/>
              <a:gd name="connsiteY0" fmla="*/ 2382751 h 2515079"/>
              <a:gd name="connsiteX1" fmla="*/ 9132507 w 9138586"/>
              <a:gd name="connsiteY1" fmla="*/ 0 h 2515079"/>
              <a:gd name="connsiteX2" fmla="*/ 9138186 w 9138586"/>
              <a:gd name="connsiteY2" fmla="*/ 2515079 h 2515079"/>
              <a:gd name="connsiteX3" fmla="*/ 4170 w 9138586"/>
              <a:gd name="connsiteY3" fmla="*/ 2507173 h 2515079"/>
              <a:gd name="connsiteX4" fmla="*/ 0 w 9138586"/>
              <a:gd name="connsiteY4" fmla="*/ 2382751 h 2515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38586" h="2515079">
                <a:moveTo>
                  <a:pt x="0" y="2382751"/>
                </a:moveTo>
                <a:cubicBezTo>
                  <a:pt x="20661" y="2379422"/>
                  <a:pt x="7306149" y="2502055"/>
                  <a:pt x="9132507" y="0"/>
                </a:cubicBezTo>
                <a:cubicBezTo>
                  <a:pt x="9129925" y="819774"/>
                  <a:pt x="9140768" y="1695305"/>
                  <a:pt x="9138186" y="2515079"/>
                </a:cubicBezTo>
                <a:lnTo>
                  <a:pt x="4170" y="2507173"/>
                </a:lnTo>
                <a:cubicBezTo>
                  <a:pt x="4169" y="2465011"/>
                  <a:pt x="1" y="2424913"/>
                  <a:pt x="0" y="2382751"/>
                </a:cubicBezTo>
                <a:close/>
              </a:path>
            </a:pathLst>
          </a:cu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599" y="457169"/>
            <a:ext cx="10972800" cy="772250"/>
          </a:xfrm>
        </p:spPr>
        <p:txBody>
          <a:bodyPr anchor="t"/>
          <a:lstStyle>
            <a:lvl1pPr algn="l">
              <a:defRPr sz="4000" b="1" cap="none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15623"/>
            <a:ext cx="10972800" cy="1500187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0112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/>
          <p:nvPr/>
        </p:nvSpPr>
        <p:spPr>
          <a:xfrm flipH="1" flipV="1">
            <a:off x="-25423" y="-30696"/>
            <a:ext cx="12227564" cy="2457785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0673" h="2457785">
                <a:moveTo>
                  <a:pt x="2887" y="2375696"/>
                </a:moveTo>
                <a:cubicBezTo>
                  <a:pt x="23548" y="2372367"/>
                  <a:pt x="7344315" y="2502055"/>
                  <a:pt x="9170673" y="0"/>
                </a:cubicBezTo>
                <a:cubicBezTo>
                  <a:pt x="9168091" y="819774"/>
                  <a:pt x="9157766" y="1631806"/>
                  <a:pt x="9155184" y="2451580"/>
                </a:cubicBezTo>
                <a:lnTo>
                  <a:pt x="0" y="2457785"/>
                </a:lnTo>
                <a:cubicBezTo>
                  <a:pt x="-1" y="2415623"/>
                  <a:pt x="2888" y="2417858"/>
                  <a:pt x="2887" y="2375696"/>
                </a:cubicBezTo>
                <a:close/>
              </a:path>
            </a:pathLst>
          </a:custGeom>
          <a:solidFill>
            <a:schemeClr val="bg1">
              <a:alpha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599" y="457200"/>
            <a:ext cx="10972800" cy="77225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algn="l">
              <a:defRPr sz="4000" b="1" cap="none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15654"/>
            <a:ext cx="10972800" cy="150018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anchor="t" anchorCtr="0"/>
          <a:lstStyle>
            <a:lvl1pPr marL="0" indent="0" algn="r">
              <a:buNone/>
              <a:defRPr sz="2000">
                <a:solidFill>
                  <a:srgbClr val="FFFF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44668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7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rotWithShape="1"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8909" y="1141666"/>
            <a:ext cx="7313491" cy="1398472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68910" y="2631404"/>
            <a:ext cx="7313489" cy="1277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Freeform 6"/>
          <p:cNvSpPr/>
          <p:nvPr/>
        </p:nvSpPr>
        <p:spPr>
          <a:xfrm>
            <a:off x="-12253" y="4417161"/>
            <a:ext cx="12227564" cy="2457785"/>
          </a:xfrm>
          <a:custGeom>
            <a:avLst/>
            <a:gdLst>
              <a:gd name="connsiteX0" fmla="*/ 0 w 10289745"/>
              <a:gd name="connsiteY0" fmla="*/ 2348314 h 2694297"/>
              <a:gd name="connsiteX1" fmla="*/ 9145997 w 10289745"/>
              <a:gd name="connsiteY1" fmla="*/ 81 h 2694297"/>
              <a:gd name="connsiteX2" fmla="*/ 9145997 w 10289745"/>
              <a:gd name="connsiteY2" fmla="*/ 2436173 h 2694297"/>
              <a:gd name="connsiteX3" fmla="*/ 0 w 10289745"/>
              <a:gd name="connsiteY3" fmla="*/ 2348314 h 2694297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0 w 10289745"/>
              <a:gd name="connsiteY0" fmla="*/ 2348233 h 2694216"/>
              <a:gd name="connsiteX1" fmla="*/ 9145997 w 10289745"/>
              <a:gd name="connsiteY1" fmla="*/ 0 h 2694216"/>
              <a:gd name="connsiteX2" fmla="*/ 9145997 w 10289745"/>
              <a:gd name="connsiteY2" fmla="*/ 2436092 h 2694216"/>
              <a:gd name="connsiteX3" fmla="*/ 0 w 10289745"/>
              <a:gd name="connsiteY3" fmla="*/ 2348233 h 2694216"/>
              <a:gd name="connsiteX0" fmla="*/ 2 w 10271923"/>
              <a:gd name="connsiteY0" fmla="*/ 1961048 h 2259210"/>
              <a:gd name="connsiteX1" fmla="*/ 9115022 w 10271923"/>
              <a:gd name="connsiteY1" fmla="*/ 0 h 2259210"/>
              <a:gd name="connsiteX2" fmla="*/ 9145999 w 10271923"/>
              <a:gd name="connsiteY2" fmla="*/ 2048907 h 2259210"/>
              <a:gd name="connsiteX3" fmla="*/ 2 w 10271923"/>
              <a:gd name="connsiteY3" fmla="*/ 1961048 h 2259210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2 w 10302372"/>
              <a:gd name="connsiteY0" fmla="*/ 2355976 h 2702917"/>
              <a:gd name="connsiteX1" fmla="*/ 9169232 w 10302372"/>
              <a:gd name="connsiteY1" fmla="*/ 0 h 2702917"/>
              <a:gd name="connsiteX2" fmla="*/ 9145999 w 10302372"/>
              <a:gd name="connsiteY2" fmla="*/ 2443835 h 2702917"/>
              <a:gd name="connsiteX3" fmla="*/ 2 w 10302372"/>
              <a:gd name="connsiteY3" fmla="*/ 2355976 h 2702917"/>
              <a:gd name="connsiteX0" fmla="*/ 1 w 10359948"/>
              <a:gd name="connsiteY0" fmla="*/ 2534080 h 2803153"/>
              <a:gd name="connsiteX1" fmla="*/ 9223441 w 10359948"/>
              <a:gd name="connsiteY1" fmla="*/ 0 h 2803153"/>
              <a:gd name="connsiteX2" fmla="*/ 9200208 w 10359948"/>
              <a:gd name="connsiteY2" fmla="*/ 2443835 h 2803153"/>
              <a:gd name="connsiteX3" fmla="*/ 1 w 10359948"/>
              <a:gd name="connsiteY3" fmla="*/ 2534080 h 2803153"/>
              <a:gd name="connsiteX0" fmla="*/ 2 w 10302373"/>
              <a:gd name="connsiteY0" fmla="*/ 2371463 h 2710654"/>
              <a:gd name="connsiteX1" fmla="*/ 9169233 w 10302373"/>
              <a:gd name="connsiteY1" fmla="*/ 0 h 2710654"/>
              <a:gd name="connsiteX2" fmla="*/ 9146000 w 10302373"/>
              <a:gd name="connsiteY2" fmla="*/ 2443835 h 2710654"/>
              <a:gd name="connsiteX3" fmla="*/ 2 w 10302373"/>
              <a:gd name="connsiteY3" fmla="*/ 2371463 h 2710654"/>
              <a:gd name="connsiteX0" fmla="*/ 22101 w 10324472"/>
              <a:gd name="connsiteY0" fmla="*/ 2371463 h 2601940"/>
              <a:gd name="connsiteX1" fmla="*/ 9191332 w 10324472"/>
              <a:gd name="connsiteY1" fmla="*/ 0 h 2601940"/>
              <a:gd name="connsiteX2" fmla="*/ 9168099 w 10324472"/>
              <a:gd name="connsiteY2" fmla="*/ 2443835 h 2601940"/>
              <a:gd name="connsiteX3" fmla="*/ 22101 w 10324472"/>
              <a:gd name="connsiteY3" fmla="*/ 2371463 h 2601940"/>
              <a:gd name="connsiteX0" fmla="*/ 454248 w 10756619"/>
              <a:gd name="connsiteY0" fmla="*/ 2371463 h 2635640"/>
              <a:gd name="connsiteX1" fmla="*/ 9623479 w 10756619"/>
              <a:gd name="connsiteY1" fmla="*/ 0 h 2635640"/>
              <a:gd name="connsiteX2" fmla="*/ 9600246 w 10756619"/>
              <a:gd name="connsiteY2" fmla="*/ 2443835 h 2635640"/>
              <a:gd name="connsiteX3" fmla="*/ 2243166 w 10756619"/>
              <a:gd name="connsiteY3" fmla="*/ 2466974 h 2635640"/>
              <a:gd name="connsiteX4" fmla="*/ 454248 w 10756619"/>
              <a:gd name="connsiteY4" fmla="*/ 2371463 h 2635640"/>
              <a:gd name="connsiteX0" fmla="*/ 1153431 w 11456764"/>
              <a:gd name="connsiteY0" fmla="*/ 2371463 h 2641277"/>
              <a:gd name="connsiteX1" fmla="*/ 10322662 w 11456764"/>
              <a:gd name="connsiteY1" fmla="*/ 0 h 2641277"/>
              <a:gd name="connsiteX2" fmla="*/ 10299429 w 11456764"/>
              <a:gd name="connsiteY2" fmla="*/ 2443835 h 2641277"/>
              <a:gd name="connsiteX3" fmla="*/ 1137944 w 11456764"/>
              <a:gd name="connsiteY3" fmla="*/ 2482461 h 2641277"/>
              <a:gd name="connsiteX4" fmla="*/ 1153431 w 11456764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641277"/>
              <a:gd name="connsiteX1" fmla="*/ 9184718 w 10318820"/>
              <a:gd name="connsiteY1" fmla="*/ 0 h 2641277"/>
              <a:gd name="connsiteX2" fmla="*/ 9161485 w 10318820"/>
              <a:gd name="connsiteY2" fmla="*/ 2443835 h 2641277"/>
              <a:gd name="connsiteX3" fmla="*/ 0 w 10318820"/>
              <a:gd name="connsiteY3" fmla="*/ 2482461 h 2641277"/>
              <a:gd name="connsiteX4" fmla="*/ 15487 w 10318820"/>
              <a:gd name="connsiteY4" fmla="*/ 2371463 h 2641277"/>
              <a:gd name="connsiteX0" fmla="*/ 15487 w 10318820"/>
              <a:gd name="connsiteY0" fmla="*/ 2371463 h 2482461"/>
              <a:gd name="connsiteX1" fmla="*/ 9184718 w 10318820"/>
              <a:gd name="connsiteY1" fmla="*/ 0 h 2482461"/>
              <a:gd name="connsiteX2" fmla="*/ 9161485 w 10318820"/>
              <a:gd name="connsiteY2" fmla="*/ 2443835 h 2482461"/>
              <a:gd name="connsiteX3" fmla="*/ 0 w 10318820"/>
              <a:gd name="connsiteY3" fmla="*/ 2482461 h 2482461"/>
              <a:gd name="connsiteX4" fmla="*/ 15487 w 10318820"/>
              <a:gd name="connsiteY4" fmla="*/ 2371463 h 2482461"/>
              <a:gd name="connsiteX0" fmla="*/ 15487 w 10252186"/>
              <a:gd name="connsiteY0" fmla="*/ 2371463 h 2482461"/>
              <a:gd name="connsiteX1" fmla="*/ 9184718 w 10252186"/>
              <a:gd name="connsiteY1" fmla="*/ 0 h 2482461"/>
              <a:gd name="connsiteX2" fmla="*/ 9022088 w 10252186"/>
              <a:gd name="connsiteY2" fmla="*/ 2242499 h 2482461"/>
              <a:gd name="connsiteX3" fmla="*/ 0 w 10252186"/>
              <a:gd name="connsiteY3" fmla="*/ 2482461 h 2482461"/>
              <a:gd name="connsiteX4" fmla="*/ 15487 w 10252186"/>
              <a:gd name="connsiteY4" fmla="*/ 2371463 h 2482461"/>
              <a:gd name="connsiteX0" fmla="*/ 15487 w 10311181"/>
              <a:gd name="connsiteY0" fmla="*/ 2371463 h 2482461"/>
              <a:gd name="connsiteX1" fmla="*/ 9184718 w 10311181"/>
              <a:gd name="connsiteY1" fmla="*/ 0 h 2482461"/>
              <a:gd name="connsiteX2" fmla="*/ 9145996 w 10311181"/>
              <a:gd name="connsiteY2" fmla="*/ 2443835 h 2482461"/>
              <a:gd name="connsiteX3" fmla="*/ 0 w 10311181"/>
              <a:gd name="connsiteY3" fmla="*/ 2482461 h 2482461"/>
              <a:gd name="connsiteX4" fmla="*/ 15487 w 10311181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45996 w 9184718"/>
              <a:gd name="connsiteY2" fmla="*/ 2443835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15487 w 9184718"/>
              <a:gd name="connsiteY0" fmla="*/ 2371463 h 2482461"/>
              <a:gd name="connsiteX1" fmla="*/ 9184718 w 9184718"/>
              <a:gd name="connsiteY1" fmla="*/ 0 h 2482461"/>
              <a:gd name="connsiteX2" fmla="*/ 9176973 w 9184718"/>
              <a:gd name="connsiteY2" fmla="*/ 2459323 h 2482461"/>
              <a:gd name="connsiteX3" fmla="*/ 0 w 9184718"/>
              <a:gd name="connsiteY3" fmla="*/ 2482461 h 2482461"/>
              <a:gd name="connsiteX4" fmla="*/ 15487 w 9184718"/>
              <a:gd name="connsiteY4" fmla="*/ 2371463 h 2482461"/>
              <a:gd name="connsiteX0" fmla="*/ 0 w 9215696"/>
              <a:gd name="connsiteY0" fmla="*/ 2371463 h 2482461"/>
              <a:gd name="connsiteX1" fmla="*/ 9215696 w 9215696"/>
              <a:gd name="connsiteY1" fmla="*/ 0 h 2482461"/>
              <a:gd name="connsiteX2" fmla="*/ 9207951 w 9215696"/>
              <a:gd name="connsiteY2" fmla="*/ 2459323 h 2482461"/>
              <a:gd name="connsiteX3" fmla="*/ 30978 w 9215696"/>
              <a:gd name="connsiteY3" fmla="*/ 2482461 h 2482461"/>
              <a:gd name="connsiteX4" fmla="*/ 0 w 9215696"/>
              <a:gd name="connsiteY4" fmla="*/ 2371463 h 2482461"/>
              <a:gd name="connsiteX0" fmla="*/ 0 w 9215696"/>
              <a:gd name="connsiteY0" fmla="*/ 2371463 h 2497949"/>
              <a:gd name="connsiteX1" fmla="*/ 9215696 w 9215696"/>
              <a:gd name="connsiteY1" fmla="*/ 0 h 2497949"/>
              <a:gd name="connsiteX2" fmla="*/ 9207951 w 9215696"/>
              <a:gd name="connsiteY2" fmla="*/ 2459323 h 2497949"/>
              <a:gd name="connsiteX3" fmla="*/ 2 w 9215696"/>
              <a:gd name="connsiteY3" fmla="*/ 2497949 h 2497949"/>
              <a:gd name="connsiteX4" fmla="*/ 0 w 9215696"/>
              <a:gd name="connsiteY4" fmla="*/ 2371463 h 2497949"/>
              <a:gd name="connsiteX0" fmla="*/ 0 w 9215696"/>
              <a:gd name="connsiteY0" fmla="*/ 2371463 h 2474718"/>
              <a:gd name="connsiteX1" fmla="*/ 9215696 w 9215696"/>
              <a:gd name="connsiteY1" fmla="*/ 0 h 2474718"/>
              <a:gd name="connsiteX2" fmla="*/ 9207951 w 9215696"/>
              <a:gd name="connsiteY2" fmla="*/ 2459323 h 2474718"/>
              <a:gd name="connsiteX3" fmla="*/ 30979 w 9215696"/>
              <a:gd name="connsiteY3" fmla="*/ 2474718 h 2474718"/>
              <a:gd name="connsiteX4" fmla="*/ 0 w 9215696"/>
              <a:gd name="connsiteY4" fmla="*/ 2371463 h 2474718"/>
              <a:gd name="connsiteX0" fmla="*/ 0 w 9208117"/>
              <a:gd name="connsiteY0" fmla="*/ 2371463 h 2474718"/>
              <a:gd name="connsiteX1" fmla="*/ 9184719 w 9208117"/>
              <a:gd name="connsiteY1" fmla="*/ 0 h 2474718"/>
              <a:gd name="connsiteX2" fmla="*/ 9207951 w 9208117"/>
              <a:gd name="connsiteY2" fmla="*/ 2459323 h 2474718"/>
              <a:gd name="connsiteX3" fmla="*/ 30979 w 9208117"/>
              <a:gd name="connsiteY3" fmla="*/ 2474718 h 2474718"/>
              <a:gd name="connsiteX4" fmla="*/ 0 w 9208117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15020 w 9184719"/>
              <a:gd name="connsiteY2" fmla="*/ 2381886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84719"/>
              <a:gd name="connsiteY0" fmla="*/ 2371463 h 2474718"/>
              <a:gd name="connsiteX1" fmla="*/ 9184719 w 9184719"/>
              <a:gd name="connsiteY1" fmla="*/ 0 h 2474718"/>
              <a:gd name="connsiteX2" fmla="*/ 9169230 w 9184719"/>
              <a:gd name="connsiteY2" fmla="*/ 2451580 h 2474718"/>
              <a:gd name="connsiteX3" fmla="*/ 30979 w 9184719"/>
              <a:gd name="connsiteY3" fmla="*/ 2474718 h 2474718"/>
              <a:gd name="connsiteX4" fmla="*/ 0 w 9184719"/>
              <a:gd name="connsiteY4" fmla="*/ 2371463 h 2474718"/>
              <a:gd name="connsiteX0" fmla="*/ 0 w 9167786"/>
              <a:gd name="connsiteY0" fmla="*/ 2375696 h 2474718"/>
              <a:gd name="connsiteX1" fmla="*/ 9167786 w 9167786"/>
              <a:gd name="connsiteY1" fmla="*/ 0 h 2474718"/>
              <a:gd name="connsiteX2" fmla="*/ 9152297 w 9167786"/>
              <a:gd name="connsiteY2" fmla="*/ 2451580 h 2474718"/>
              <a:gd name="connsiteX3" fmla="*/ 14046 w 9167786"/>
              <a:gd name="connsiteY3" fmla="*/ 2474718 h 2474718"/>
              <a:gd name="connsiteX4" fmla="*/ 0 w 9167786"/>
              <a:gd name="connsiteY4" fmla="*/ 2375696 h 2474718"/>
              <a:gd name="connsiteX0" fmla="*/ 2887 w 9170673"/>
              <a:gd name="connsiteY0" fmla="*/ 2375696 h 2474718"/>
              <a:gd name="connsiteX1" fmla="*/ 9170673 w 9170673"/>
              <a:gd name="connsiteY1" fmla="*/ 0 h 2474718"/>
              <a:gd name="connsiteX2" fmla="*/ 9155184 w 9170673"/>
              <a:gd name="connsiteY2" fmla="*/ 2451580 h 2474718"/>
              <a:gd name="connsiteX3" fmla="*/ 0 w 9170673"/>
              <a:gd name="connsiteY3" fmla="*/ 2474718 h 2474718"/>
              <a:gd name="connsiteX4" fmla="*/ 2887 w 9170673"/>
              <a:gd name="connsiteY4" fmla="*/ 2375696 h 2474718"/>
              <a:gd name="connsiteX0" fmla="*/ 2887 w 9170673"/>
              <a:gd name="connsiteY0" fmla="*/ 2375696 h 2457785"/>
              <a:gd name="connsiteX1" fmla="*/ 9170673 w 9170673"/>
              <a:gd name="connsiteY1" fmla="*/ 0 h 2457785"/>
              <a:gd name="connsiteX2" fmla="*/ 9155184 w 9170673"/>
              <a:gd name="connsiteY2" fmla="*/ 2451580 h 2457785"/>
              <a:gd name="connsiteX3" fmla="*/ 0 w 9170673"/>
              <a:gd name="connsiteY3" fmla="*/ 2457785 h 2457785"/>
              <a:gd name="connsiteX4" fmla="*/ 2887 w 9170673"/>
              <a:gd name="connsiteY4" fmla="*/ 2375696 h 245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70673" h="2457785">
                <a:moveTo>
                  <a:pt x="2887" y="2375696"/>
                </a:moveTo>
                <a:cubicBezTo>
                  <a:pt x="23548" y="2372367"/>
                  <a:pt x="7344315" y="2502055"/>
                  <a:pt x="9170673" y="0"/>
                </a:cubicBezTo>
                <a:cubicBezTo>
                  <a:pt x="9168091" y="819774"/>
                  <a:pt x="9157766" y="1631806"/>
                  <a:pt x="9155184" y="2451580"/>
                </a:cubicBezTo>
                <a:lnTo>
                  <a:pt x="0" y="2457785"/>
                </a:lnTo>
                <a:cubicBezTo>
                  <a:pt x="-1" y="2415623"/>
                  <a:pt x="2888" y="2417858"/>
                  <a:pt x="2887" y="2375696"/>
                </a:cubicBezTo>
                <a:close/>
              </a:path>
            </a:pathLst>
          </a:cu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725549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r" defTabSz="457200" rtl="0" eaLnBrk="1" latinLnBrk="0" hangingPunct="1">
        <a:lnSpc>
          <a:spcPct val="80000"/>
        </a:lnSpc>
        <a:spcBef>
          <a:spcPct val="0"/>
        </a:spcBef>
        <a:buNone/>
        <a:defRPr sz="4400" b="1" i="0" kern="1200">
          <a:solidFill>
            <a:schemeClr val="accent1"/>
          </a:solidFill>
          <a:latin typeface="+mj-lt"/>
          <a:ea typeface="+mj-ea"/>
          <a:cs typeface="Arial Narrow Bold"/>
        </a:defRPr>
      </a:lvl1pPr>
    </p:titleStyle>
    <p:bodyStyle>
      <a:lvl1pPr marL="0" indent="0" algn="r" defTabSz="457200" rtl="0" eaLnBrk="1" latinLnBrk="0" hangingPunct="1">
        <a:spcBef>
          <a:spcPct val="20000"/>
        </a:spcBef>
        <a:buFont typeface="Arial"/>
        <a:buNone/>
        <a:defRPr sz="24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67601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07294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48000" y="6355081"/>
            <a:ext cx="8534401" cy="50291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>
                <a:solidFill>
                  <a:srgbClr val="000000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914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pic>
        <p:nvPicPr>
          <p:cNvPr id="8" name="Picture 7" descr="NOAA-Fisheries-horizontal.png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672" y="6419089"/>
            <a:ext cx="2191920" cy="38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0553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b="1" i="0" kern="1200">
          <a:solidFill>
            <a:schemeClr val="accent1"/>
          </a:solidFill>
          <a:latin typeface="+mj-lt"/>
          <a:ea typeface="+mj-ea"/>
          <a:cs typeface="Arial Narrow Bold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57200"/>
            <a:ext cx="10972800" cy="676014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07294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48000" y="6355081"/>
            <a:ext cx="8534401" cy="502919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U.S. Department of Commerce | National Oceanic and Atmospheric Administration | NOAA Fisheries | Page </a:t>
            </a:r>
            <a:fld id="{632D3AEB-7CBE-3049-91AC-335C6B4F5BF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2674" y="6419089"/>
            <a:ext cx="2191917" cy="388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098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3600" b="1" i="0" kern="1200">
          <a:solidFill>
            <a:srgbClr val="FFFFFF"/>
          </a:solidFill>
          <a:latin typeface="+mj-lt"/>
          <a:ea typeface="+mj-ea"/>
          <a:cs typeface="Arial Narrow Bold"/>
        </a:defRPr>
      </a:lvl1pPr>
    </p:titleStyle>
    <p:bodyStyle>
      <a:lvl1pPr marL="0" indent="0" algn="r" defTabSz="457200" rtl="0" eaLnBrk="1" latinLnBrk="0" hangingPunct="1">
        <a:spcBef>
          <a:spcPct val="20000"/>
        </a:spcBef>
        <a:buFont typeface="Arial"/>
        <a:buNone/>
        <a:defRPr sz="2000" kern="1200">
          <a:solidFill>
            <a:srgbClr val="FFFFFF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40000"/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BE1D0-11B8-8345-91DD-DA00A52441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120094"/>
          </a:xfrm>
        </p:spPr>
        <p:txBody>
          <a:bodyPr>
            <a:noAutofit/>
          </a:bodyPr>
          <a:lstStyle/>
          <a:p>
            <a:pPr algn="ctr"/>
            <a:r>
              <a:rPr lang="en-US" sz="4800" dirty="0"/>
              <a:t>2026 Tanner Crab CIE Review </a:t>
            </a:r>
            <a:br>
              <a:rPr lang="en-US" sz="4800" dirty="0"/>
            </a:br>
            <a:r>
              <a:rPr lang="en-US" sz="4800" dirty="0"/>
              <a:t>Spatial Considerations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3B8582-F632-314D-8EF2-647B54A375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William Stockhausen</a:t>
            </a:r>
          </a:p>
          <a:p>
            <a:r>
              <a:rPr lang="en-US" dirty="0">
                <a:solidFill>
                  <a:schemeClr val="accent1"/>
                </a:solidFill>
              </a:rPr>
              <a:t>AFSC/NMFS/NOAA</a:t>
            </a:r>
          </a:p>
        </p:txBody>
      </p:sp>
    </p:spTree>
    <p:extLst>
      <p:ext uri="{BB962C8B-B14F-4D97-AF65-F5344CB8AC3E}">
        <p14:creationId xmlns:p14="http://schemas.microsoft.com/office/powerpoint/2010/main" val="1493453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133CF-F578-08A0-8923-FAFF06A75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8F3BAD-E06F-9A8A-8899-D3C5B00B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726" y="260908"/>
            <a:ext cx="7886700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Stock structure and spatial considerations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025FD1-7824-4191-B3DA-6239DA3F82CE}"/>
              </a:ext>
            </a:extLst>
          </p:cNvPr>
          <p:cNvSpPr txBox="1"/>
          <p:nvPr/>
        </p:nvSpPr>
        <p:spPr>
          <a:xfrm>
            <a:off x="2553196" y="1074509"/>
            <a:ext cx="6907212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For federal management purposes, </a:t>
            </a:r>
          </a:p>
          <a:p>
            <a:r>
              <a:rPr lang="en-US" sz="2000" dirty="0"/>
              <a:t>         Tanner crab is considered one stock in the eastern Bering Sea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Somerton (1980) and subsequent work hypothesized two stocks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166</a:t>
            </a:r>
            <a:r>
              <a:rPr lang="en-US" sz="2000" baseline="30000" dirty="0"/>
              <a:t>o</a:t>
            </a:r>
            <a:r>
              <a:rPr lang="en-US" sz="2000" dirty="0"/>
              <a:t>W longitude as dividing line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Based on area-specific differences in aggregated characteristics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mean size, weight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size-at-maturity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2000" dirty="0"/>
              <a:t>spatial patterns of abundance and biomass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Prior to recognition of male terminal molt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Spatial patterns result of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stock structure?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movement?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Evidence for stock structure?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Johnson (2019) genetics study found no structure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/>
              <a:t>no concerted tagging studies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But…</a:t>
            </a:r>
          </a:p>
        </p:txBody>
      </p:sp>
    </p:spTree>
    <p:extLst>
      <p:ext uri="{BB962C8B-B14F-4D97-AF65-F5344CB8AC3E}">
        <p14:creationId xmlns:p14="http://schemas.microsoft.com/office/powerpoint/2010/main" val="680377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9DA29-6BF3-9FB5-FC2C-970DF23A97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F0A352A-55B3-1D0E-4F9B-BF4AD26BE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726" y="260908"/>
            <a:ext cx="7886700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Tanner crab fishery management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7AD522-B49D-D6A7-608A-83EE411E4B03}"/>
              </a:ext>
            </a:extLst>
          </p:cNvPr>
          <p:cNvSpPr txBox="1"/>
          <p:nvPr/>
        </p:nvSpPr>
        <p:spPr>
          <a:xfrm>
            <a:off x="9363919" y="6374741"/>
            <a:ext cx="2584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Courtesy of Ben Daly, ADFG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9AB2FA-E267-E9D9-9CC2-8DDEAF32A3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2344" y="965200"/>
            <a:ext cx="6426200" cy="49276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ED06B01-478F-63F3-CAF7-8A9B396321B8}"/>
              </a:ext>
            </a:extLst>
          </p:cNvPr>
          <p:cNvSpPr txBox="1"/>
          <p:nvPr/>
        </p:nvSpPr>
        <p:spPr>
          <a:xfrm>
            <a:off x="391886" y="938151"/>
            <a:ext cx="312938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Federal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Considered one stock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Single OFL, ABC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Single stock assessment model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6A98E-AFBD-C102-8714-A1F5FB421871}"/>
              </a:ext>
            </a:extLst>
          </p:cNvPr>
          <p:cNvSpPr txBox="1"/>
          <p:nvPr/>
        </p:nvSpPr>
        <p:spPr>
          <a:xfrm>
            <a:off x="391886" y="2553195"/>
            <a:ext cx="5146473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Sets TACs separately for areas east and west of 166</a:t>
            </a:r>
            <a:r>
              <a:rPr lang="en-US" baseline="30000" dirty="0"/>
              <a:t>o</a:t>
            </a:r>
            <a:r>
              <a:rPr lang="en-US" dirty="0"/>
              <a:t>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required: sum(TACs) &lt; ABC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Area-specific harvest control rules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mature female biomass for entire EBS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area-specific mature male biomass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east: &gt; 113 mm CW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west: &gt; 103 mm CW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area-specific 5-inch males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abundance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average weight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dirty="0"/>
              <a:t>new shell/old shell proportions</a:t>
            </a:r>
          </a:p>
        </p:txBody>
      </p:sp>
    </p:spTree>
    <p:extLst>
      <p:ext uri="{BB962C8B-B14F-4D97-AF65-F5344CB8AC3E}">
        <p14:creationId xmlns:p14="http://schemas.microsoft.com/office/powerpoint/2010/main" val="40239159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AEE79-43E9-1135-BAAB-0C34AA470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123509C-D285-5D0C-2EE9-A2BA6F54F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585" y="122732"/>
            <a:ext cx="7886700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Survey Spatial Patterns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51E553B-39C3-337F-90AD-34433EC9BCF5}"/>
              </a:ext>
            </a:extLst>
          </p:cNvPr>
          <p:cNvGrpSpPr/>
          <p:nvPr/>
        </p:nvGrpSpPr>
        <p:grpSpPr>
          <a:xfrm>
            <a:off x="142795" y="1524784"/>
            <a:ext cx="11906410" cy="4260610"/>
            <a:chOff x="142795" y="1524784"/>
            <a:chExt cx="11906410" cy="426061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D7E527-C959-43E6-A8CB-3DC51B5AA5D3}"/>
                </a:ext>
              </a:extLst>
            </p:cNvPr>
            <p:cNvSpPr txBox="1"/>
            <p:nvPr/>
          </p:nvSpPr>
          <p:spPr>
            <a:xfrm>
              <a:off x="873481" y="1524784"/>
              <a:ext cx="247054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small males (&lt; 60 mm CW)</a:t>
              </a:r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980DE30-E5A9-BC58-689A-69A73096D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795" y="1912353"/>
              <a:ext cx="3931920" cy="3385195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C3FE8C4-A090-ADBB-54FD-427086AB45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19992" y="1894116"/>
              <a:ext cx="3931920" cy="342167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6DE70D0-F376-B2B6-D369-5EF311C2B7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17285" y="1918669"/>
              <a:ext cx="3931920" cy="3397118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33A26EE-7102-9169-8316-790AA7074762}"/>
                </a:ext>
              </a:extLst>
            </p:cNvPr>
            <p:cNvSpPr txBox="1"/>
            <p:nvPr/>
          </p:nvSpPr>
          <p:spPr>
            <a:xfrm>
              <a:off x="4984931" y="1524784"/>
              <a:ext cx="24513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large males (&gt; 60 mm CW)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B239193-1E89-4A86-D127-8A7CC477F910}"/>
                </a:ext>
              </a:extLst>
            </p:cNvPr>
            <p:cNvSpPr txBox="1"/>
            <p:nvPr/>
          </p:nvSpPr>
          <p:spPr>
            <a:xfrm>
              <a:off x="9775308" y="1542213"/>
              <a:ext cx="6158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IPMs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033F538-32B7-05E7-56E6-81922FA522A5}"/>
                </a:ext>
              </a:extLst>
            </p:cNvPr>
            <p:cNvSpPr txBox="1"/>
            <p:nvPr/>
          </p:nvSpPr>
          <p:spPr>
            <a:xfrm>
              <a:off x="4770994" y="5416062"/>
              <a:ext cx="28791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different groups: different scales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43097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9FB6EB-5F88-B438-7801-D8B35255E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DB1EBC8-196C-0D93-358E-7690063BF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585" y="122732"/>
            <a:ext cx="7886700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Survey Spatial Patterns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6277B4A-3383-0994-F8BC-5D9968E9E8F0}"/>
              </a:ext>
            </a:extLst>
          </p:cNvPr>
          <p:cNvGrpSpPr/>
          <p:nvPr/>
        </p:nvGrpSpPr>
        <p:grpSpPr>
          <a:xfrm>
            <a:off x="360377" y="709679"/>
            <a:ext cx="11508135" cy="5814379"/>
            <a:chOff x="360377" y="709679"/>
            <a:chExt cx="11508135" cy="581437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6614004-EF10-8AFE-DDFB-87D0650C290C}"/>
                </a:ext>
              </a:extLst>
            </p:cNvPr>
            <p:cNvSpPr txBox="1"/>
            <p:nvPr/>
          </p:nvSpPr>
          <p:spPr>
            <a:xfrm>
              <a:off x="2583601" y="743661"/>
              <a:ext cx="16898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immature females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4A13E80-72A7-12C2-57ED-D597432050BE}"/>
                </a:ext>
              </a:extLst>
            </p:cNvPr>
            <p:cNvSpPr txBox="1"/>
            <p:nvPr/>
          </p:nvSpPr>
          <p:spPr>
            <a:xfrm>
              <a:off x="8117285" y="709679"/>
              <a:ext cx="149111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mature females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3962F22-0047-9348-8CC9-5C76DF10CC80}"/>
                </a:ext>
              </a:extLst>
            </p:cNvPr>
            <p:cNvSpPr txBox="1"/>
            <p:nvPr/>
          </p:nvSpPr>
          <p:spPr>
            <a:xfrm>
              <a:off x="4740849" y="6154726"/>
              <a:ext cx="28791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different groups: different scales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1F93CDA-5115-E77D-1019-4059457606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0377" y="1132749"/>
              <a:ext cx="5735623" cy="494902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767773A-D08C-CC2D-BCBF-A89193581C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177093" y="1145560"/>
              <a:ext cx="5691419" cy="49362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92825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603B5-A8CD-5D7E-441C-D9AB446B0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0F5551A-8A32-36C8-8286-988CF452D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726" y="260908"/>
            <a:ext cx="7886700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East/West Differences: Mature Male Biomass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EC20523-B203-B873-AC5B-0CD2AF31F599}"/>
              </a:ext>
            </a:extLst>
          </p:cNvPr>
          <p:cNvSpPr txBox="1"/>
          <p:nvPr/>
        </p:nvSpPr>
        <p:spPr>
          <a:xfrm>
            <a:off x="9363919" y="6374741"/>
            <a:ext cx="25841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Courtesy of Ben Daly, ADFG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E41E4D1B-5F4C-086D-BC2F-675C7B679734}"/>
              </a:ext>
            </a:extLst>
          </p:cNvPr>
          <p:cNvGrpSpPr/>
          <p:nvPr/>
        </p:nvGrpSpPr>
        <p:grpSpPr>
          <a:xfrm>
            <a:off x="197726" y="1705570"/>
            <a:ext cx="11834076" cy="3934837"/>
            <a:chOff x="197726" y="1705570"/>
            <a:chExt cx="11834076" cy="393483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90985B55-14C9-D5A1-91CE-E54D206828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7726" y="1705570"/>
              <a:ext cx="5982558" cy="393483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73D4152-9F0D-F605-A213-A9B2F5A55DC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09442" y="1705570"/>
              <a:ext cx="5822360" cy="3934837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20AF8AA-6D06-826B-B5FE-9D1846D902BC}"/>
                </a:ext>
              </a:extLst>
            </p:cNvPr>
            <p:cNvSpPr txBox="1"/>
            <p:nvPr/>
          </p:nvSpPr>
          <p:spPr>
            <a:xfrm>
              <a:off x="2177739" y="1794076"/>
              <a:ext cx="10935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1975-2014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DF6E963-D0B8-1412-F90D-F24EF6CB44CC}"/>
                </a:ext>
              </a:extLst>
            </p:cNvPr>
            <p:cNvSpPr txBox="1"/>
            <p:nvPr/>
          </p:nvSpPr>
          <p:spPr>
            <a:xfrm>
              <a:off x="8573837" y="1804593"/>
              <a:ext cx="109356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2015-2019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332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2CE78E6-0269-8A46-B92D-8B092A920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4871" y="235491"/>
            <a:ext cx="7886700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Survey Data By Management Region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B26C6BA-4871-B508-DDC1-A3357B707D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189" y="956221"/>
            <a:ext cx="8633622" cy="5295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595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6ED35-65B3-C4E5-5F54-82012DFA8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DD1C0A-05B0-A271-D149-F27187F0F2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726" y="260908"/>
            <a:ext cx="7886700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East/West Differences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8B313D3-DCF6-4458-12E4-137B6F77CE62}"/>
              </a:ext>
            </a:extLst>
          </p:cNvPr>
          <p:cNvGrpSpPr/>
          <p:nvPr/>
        </p:nvGrpSpPr>
        <p:grpSpPr>
          <a:xfrm>
            <a:off x="6775291" y="976214"/>
            <a:ext cx="5416709" cy="5370950"/>
            <a:chOff x="197725" y="908627"/>
            <a:chExt cx="5416709" cy="53709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1216A51-97E1-31CD-C9A3-980E3F983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7725" y="908627"/>
              <a:ext cx="5416709" cy="265397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89AE2E1-BE3C-D3C2-B411-AE9CF51FED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7725" y="3689916"/>
              <a:ext cx="5416708" cy="258966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6354F45F-05CD-172F-7280-027393D26173}"/>
              </a:ext>
            </a:extLst>
          </p:cNvPr>
          <p:cNvSpPr txBox="1"/>
          <p:nvPr/>
        </p:nvSpPr>
        <p:spPr>
          <a:xfrm>
            <a:off x="10183196" y="6253311"/>
            <a:ext cx="18137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2025 Survey Tech Memo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4B9473-9A75-45ED-DC83-F4C35555506F}"/>
              </a:ext>
            </a:extLst>
          </p:cNvPr>
          <p:cNvSpPr txBox="1"/>
          <p:nvPr/>
        </p:nvSpPr>
        <p:spPr>
          <a:xfrm>
            <a:off x="7220364" y="1277557"/>
            <a:ext cx="11704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Males West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12FD1F-77E6-F895-BF2E-CFFFFF5ACE55}"/>
              </a:ext>
            </a:extLst>
          </p:cNvPr>
          <p:cNvSpPr txBox="1"/>
          <p:nvPr/>
        </p:nvSpPr>
        <p:spPr>
          <a:xfrm>
            <a:off x="7220364" y="4067833"/>
            <a:ext cx="1122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Males East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59067A-B8A6-47BE-F1FD-B25CE1C53BC0}"/>
              </a:ext>
            </a:extLst>
          </p:cNvPr>
          <p:cNvSpPr txBox="1"/>
          <p:nvPr/>
        </p:nvSpPr>
        <p:spPr>
          <a:xfrm>
            <a:off x="4530845" y="5578428"/>
            <a:ext cx="20493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Courtesy of Ben Daly, ADFG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C39013-ACC3-5785-D19C-E3026D05E9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937" y="1244286"/>
            <a:ext cx="6464252" cy="436942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30276E-FABE-D6B6-C90C-5DC0B3DAFA96}"/>
                  </a:ext>
                </a:extLst>
              </p:cNvPr>
              <p:cNvSpPr txBox="1"/>
              <p:nvPr/>
            </p:nvSpPr>
            <p:spPr>
              <a:xfrm>
                <a:off x="2996258" y="1462223"/>
                <a:ext cx="1534587" cy="6916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𝑛𝑜𝑛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𝐼𝑃𝑀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𝐼𝑃𝑀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30276E-FABE-D6B6-C90C-5DC0B3DAF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96258" y="1462223"/>
                <a:ext cx="1534587" cy="691600"/>
              </a:xfrm>
              <a:prstGeom prst="rect">
                <a:avLst/>
              </a:prstGeom>
              <a:blipFill>
                <a:blip r:embed="rId6"/>
                <a:stretch>
                  <a:fillRect l="-2479" t="-1818" r="-3306" b="-145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08A35C2-9D4C-7954-A2A8-BD78D2764632}"/>
              </a:ext>
            </a:extLst>
          </p:cNvPr>
          <p:cNvSpPr txBox="1"/>
          <p:nvPr/>
        </p:nvSpPr>
        <p:spPr>
          <a:xfrm>
            <a:off x="632851" y="5701539"/>
            <a:ext cx="4031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IPM: Industry-preferred males (&gt;125 mm CW)</a:t>
            </a:r>
          </a:p>
        </p:txBody>
      </p:sp>
    </p:spTree>
    <p:extLst>
      <p:ext uri="{BB962C8B-B14F-4D97-AF65-F5344CB8AC3E}">
        <p14:creationId xmlns:p14="http://schemas.microsoft.com/office/powerpoint/2010/main" val="1224183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F647BC6-1F60-ED1D-6DDB-E7A13F320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48" y="1166281"/>
            <a:ext cx="5600700" cy="506730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2CE78E6-0269-8A46-B92D-8B092A920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585" y="122732"/>
            <a:ext cx="7886700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Survey Size Comps: Synchronous recruitment?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58462C-BE3A-986D-52CD-B3CA8F210BAF}"/>
              </a:ext>
            </a:extLst>
          </p:cNvPr>
          <p:cNvSpPr txBox="1"/>
          <p:nvPr/>
        </p:nvSpPr>
        <p:spPr>
          <a:xfrm>
            <a:off x="2390784" y="80027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5FE616A-9A51-4A82-26AB-5CC7458262D3}"/>
              </a:ext>
            </a:extLst>
          </p:cNvPr>
          <p:cNvSpPr txBox="1"/>
          <p:nvPr/>
        </p:nvSpPr>
        <p:spPr>
          <a:xfrm>
            <a:off x="9303128" y="535331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06E771F-5A24-EFFB-9635-B0294BE46048}"/>
              </a:ext>
            </a:extLst>
          </p:cNvPr>
          <p:cNvGrpSpPr/>
          <p:nvPr/>
        </p:nvGrpSpPr>
        <p:grpSpPr>
          <a:xfrm>
            <a:off x="5806575" y="864047"/>
            <a:ext cx="6355801" cy="5671769"/>
            <a:chOff x="5806575" y="864047"/>
            <a:chExt cx="6355801" cy="5671769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429005A-02FA-D112-41A8-34ECB02B06CF}"/>
                </a:ext>
              </a:extLst>
            </p:cNvPr>
            <p:cNvGrpSpPr/>
            <p:nvPr/>
          </p:nvGrpSpPr>
          <p:grpSpPr>
            <a:xfrm>
              <a:off x="5806575" y="864047"/>
              <a:ext cx="6355801" cy="5671769"/>
              <a:chOff x="5806575" y="864047"/>
              <a:chExt cx="6355801" cy="5671769"/>
            </a:xfrm>
          </p:grpSpPr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0A9ADB05-4B40-5F59-DF2F-52BAD09D36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806575" y="864047"/>
                <a:ext cx="6355801" cy="5671769"/>
              </a:xfrm>
              <a:prstGeom prst="rect">
                <a:avLst/>
              </a:prstGeom>
            </p:spPr>
          </p:pic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4256EABC-2D9D-DF0E-584A-7A02FC4FA828}"/>
                  </a:ext>
                </a:extLst>
              </p:cNvPr>
              <p:cNvSpPr txBox="1"/>
              <p:nvPr/>
            </p:nvSpPr>
            <p:spPr>
              <a:xfrm>
                <a:off x="6222853" y="894966"/>
                <a:ext cx="111280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East 166W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B01FEA-BC54-3E81-E734-8213845487CB}"/>
                  </a:ext>
                </a:extLst>
              </p:cNvPr>
              <p:cNvSpPr txBox="1"/>
              <p:nvPr/>
            </p:nvSpPr>
            <p:spPr>
              <a:xfrm>
                <a:off x="6174827" y="3623058"/>
                <a:ext cx="11608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West 166W</a:t>
                </a:r>
              </a:p>
            </p:txBody>
          </p:sp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6FA204B-E6A6-59E0-1F61-7DF72656412C}"/>
                </a:ext>
              </a:extLst>
            </p:cNvPr>
            <p:cNvSpPr/>
            <p:nvPr/>
          </p:nvSpPr>
          <p:spPr>
            <a:xfrm>
              <a:off x="7495685" y="1166281"/>
              <a:ext cx="882406" cy="5067300"/>
            </a:xfrm>
            <a:prstGeom prst="rect">
              <a:avLst/>
            </a:prstGeom>
            <a:noFill/>
            <a:ln w="38100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713CD76-2098-3A03-86C6-69BDEDC9BC11}"/>
                </a:ext>
              </a:extLst>
            </p:cNvPr>
            <p:cNvSpPr/>
            <p:nvPr/>
          </p:nvSpPr>
          <p:spPr>
            <a:xfrm>
              <a:off x="8725528" y="1178538"/>
              <a:ext cx="1155199" cy="5067300"/>
            </a:xfrm>
            <a:prstGeom prst="rect">
              <a:avLst/>
            </a:prstGeom>
            <a:noFill/>
            <a:ln w="38100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519B3EA-41EE-C17A-0967-73B6F17CEFB7}"/>
                </a:ext>
              </a:extLst>
            </p:cNvPr>
            <p:cNvSpPr/>
            <p:nvPr/>
          </p:nvSpPr>
          <p:spPr>
            <a:xfrm>
              <a:off x="9840622" y="1186589"/>
              <a:ext cx="859223" cy="5067300"/>
            </a:xfrm>
            <a:prstGeom prst="rect">
              <a:avLst/>
            </a:prstGeom>
            <a:noFill/>
            <a:ln w="38100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D8CFAD76-FB9D-7705-7D23-DEB690E8D15B}"/>
                </a:ext>
              </a:extLst>
            </p:cNvPr>
            <p:cNvSpPr/>
            <p:nvPr/>
          </p:nvSpPr>
          <p:spPr>
            <a:xfrm>
              <a:off x="11095630" y="1166281"/>
              <a:ext cx="662865" cy="5067300"/>
            </a:xfrm>
            <a:prstGeom prst="rect">
              <a:avLst/>
            </a:prstGeom>
            <a:noFill/>
            <a:ln w="38100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82355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1A59A-4F61-BF82-7EAF-6E045984B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Asymmetric larval transport?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80CE59-925C-9FC5-1CF5-B1C964AE4717}"/>
              </a:ext>
            </a:extLst>
          </p:cNvPr>
          <p:cNvSpPr txBox="1"/>
          <p:nvPr/>
        </p:nvSpPr>
        <p:spPr>
          <a:xfrm>
            <a:off x="10256855" y="6062246"/>
            <a:ext cx="19351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From Richar et al. 2015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764968F-9FE0-EF47-1A2C-726917D25D47}"/>
              </a:ext>
            </a:extLst>
          </p:cNvPr>
          <p:cNvGrpSpPr/>
          <p:nvPr/>
        </p:nvGrpSpPr>
        <p:grpSpPr>
          <a:xfrm>
            <a:off x="0" y="1169579"/>
            <a:ext cx="12214959" cy="4830687"/>
            <a:chOff x="0" y="1169579"/>
            <a:chExt cx="12214959" cy="4830687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D3B4D32-8616-E39E-D916-AFED78C2701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854222"/>
              <a:ext cx="6164691" cy="4014217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EB8E35D-9E22-680D-3FDC-3BB67BB411C7}"/>
                </a:ext>
              </a:extLst>
            </p:cNvPr>
            <p:cNvSpPr txBox="1"/>
            <p:nvPr/>
          </p:nvSpPr>
          <p:spPr>
            <a:xfrm>
              <a:off x="8221190" y="1169579"/>
              <a:ext cx="2412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Originating West of 166</a:t>
              </a:r>
              <a:r>
                <a:rPr lang="en-US" baseline="30000" dirty="0"/>
                <a:t>o</a:t>
              </a:r>
              <a:r>
                <a:rPr lang="en-US" dirty="0"/>
                <a:t>W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DFC985E-BCEB-7C13-3222-7F15C949EE02}"/>
                </a:ext>
              </a:extLst>
            </p:cNvPr>
            <p:cNvSpPr txBox="1"/>
            <p:nvPr/>
          </p:nvSpPr>
          <p:spPr>
            <a:xfrm>
              <a:off x="2083135" y="1173355"/>
              <a:ext cx="2294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Originating East of 166W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DDA1785-CA07-00FC-5E84-6FFAE7F9ED32}"/>
                </a:ext>
              </a:extLst>
            </p:cNvPr>
            <p:cNvSpPr txBox="1"/>
            <p:nvPr/>
          </p:nvSpPr>
          <p:spPr>
            <a:xfrm>
              <a:off x="1396562" y="165106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retention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905BD55-3061-2B7B-DC1B-6CEDB3799A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-220" r="51711" b="55618"/>
            <a:stretch>
              <a:fillRect/>
            </a:stretch>
          </p:blipFill>
          <p:spPr>
            <a:xfrm>
              <a:off x="6096000" y="1863478"/>
              <a:ext cx="3047769" cy="1840044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EE88671-3F2B-9042-0775-22A43F9D10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55618" r="51491"/>
            <a:stretch>
              <a:fillRect/>
            </a:stretch>
          </p:blipFill>
          <p:spPr>
            <a:xfrm>
              <a:off x="6113111" y="3861330"/>
              <a:ext cx="3047769" cy="1840044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6D5C23C7-56C9-90A0-AFC9-953D984823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935" b="55618"/>
            <a:stretch>
              <a:fillRect/>
            </a:stretch>
          </p:blipFill>
          <p:spPr>
            <a:xfrm>
              <a:off x="9109300" y="1863478"/>
              <a:ext cx="3082700" cy="1840044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9356ADE-A905-7245-C0BE-F7EA66E8D9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50935" t="55618"/>
            <a:stretch>
              <a:fillRect/>
            </a:stretch>
          </p:blipFill>
          <p:spPr>
            <a:xfrm>
              <a:off x="9132260" y="3861330"/>
              <a:ext cx="3082699" cy="1840044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A76E891-2275-A3E4-1203-8F702E251621}"/>
                </a:ext>
              </a:extLst>
            </p:cNvPr>
            <p:cNvSpPr txBox="1"/>
            <p:nvPr/>
          </p:nvSpPr>
          <p:spPr>
            <a:xfrm>
              <a:off x="4140274" y="1651067"/>
              <a:ext cx="14398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  <a:r>
                <a:rPr lang="en-US" baseline="30000" dirty="0"/>
                <a:t>o</a:t>
              </a:r>
              <a:r>
                <a:rPr lang="en-US" dirty="0"/>
                <a:t>W advection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D56A268-9BDE-09F2-A0E1-273955C76402}"/>
                </a:ext>
              </a:extLst>
            </p:cNvPr>
            <p:cNvSpPr txBox="1"/>
            <p:nvPr/>
          </p:nvSpPr>
          <p:spPr>
            <a:xfrm>
              <a:off x="1138478" y="5630934"/>
              <a:ext cx="143981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  <a:r>
                <a:rPr lang="en-US" baseline="30000" dirty="0"/>
                <a:t>o</a:t>
              </a:r>
              <a:r>
                <a:rPr lang="en-US" dirty="0"/>
                <a:t>W advection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629CB01-CCCF-7350-F79D-9567E1AD8FCD}"/>
                </a:ext>
              </a:extLst>
            </p:cNvPr>
            <p:cNvSpPr txBox="1"/>
            <p:nvPr/>
          </p:nvSpPr>
          <p:spPr>
            <a:xfrm>
              <a:off x="4106047" y="5630934"/>
              <a:ext cx="1439818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r>
                <a:rPr lang="en-US" baseline="30000" dirty="0"/>
                <a:t>o</a:t>
              </a:r>
              <a:r>
                <a:rPr lang="en-US" dirty="0"/>
                <a:t>W advection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881627B-D604-323A-05CE-873DFD054B9E}"/>
                </a:ext>
              </a:extLst>
            </p:cNvPr>
            <p:cNvSpPr txBox="1"/>
            <p:nvPr/>
          </p:nvSpPr>
          <p:spPr>
            <a:xfrm>
              <a:off x="7398870" y="1651067"/>
              <a:ext cx="9236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retention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A0CBE3C-E6CF-D5F1-0001-D0CE75237E4F}"/>
                </a:ext>
              </a:extLst>
            </p:cNvPr>
            <p:cNvSpPr txBox="1"/>
            <p:nvPr/>
          </p:nvSpPr>
          <p:spPr>
            <a:xfrm>
              <a:off x="10142582" y="1651067"/>
              <a:ext cx="13532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</a:t>
              </a:r>
              <a:r>
                <a:rPr lang="en-US" baseline="30000" dirty="0"/>
                <a:t>o</a:t>
              </a:r>
              <a:r>
                <a:rPr lang="en-US" dirty="0"/>
                <a:t>E advection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04268461-1802-062C-4D6E-CFA67AEC136F}"/>
                </a:ext>
              </a:extLst>
            </p:cNvPr>
            <p:cNvSpPr txBox="1"/>
            <p:nvPr/>
          </p:nvSpPr>
          <p:spPr>
            <a:xfrm>
              <a:off x="7140786" y="5630934"/>
              <a:ext cx="135325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2</a:t>
              </a:r>
              <a:r>
                <a:rPr lang="en-US" baseline="30000" dirty="0"/>
                <a:t>o</a:t>
              </a:r>
              <a:r>
                <a:rPr lang="en-US" dirty="0"/>
                <a:t>E advection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675F02B-F60A-11B3-DF8B-0606F8CE3799}"/>
                </a:ext>
              </a:extLst>
            </p:cNvPr>
            <p:cNvSpPr txBox="1"/>
            <p:nvPr/>
          </p:nvSpPr>
          <p:spPr>
            <a:xfrm>
              <a:off x="10108355" y="5630934"/>
              <a:ext cx="135325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3</a:t>
              </a:r>
              <a:r>
                <a:rPr lang="en-US" baseline="30000" dirty="0"/>
                <a:t>o</a:t>
              </a:r>
              <a:r>
                <a:rPr lang="en-US" dirty="0"/>
                <a:t>E advection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020474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58096-906C-85AE-8642-828BD8795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7FDC6C0-3940-E993-DDF9-290E3CB97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585" y="122732"/>
            <a:ext cx="7886700" cy="520399"/>
          </a:xfrm>
        </p:spPr>
        <p:txBody>
          <a:bodyPr>
            <a:noAutofit/>
          </a:bodyPr>
          <a:lstStyle/>
          <a:p>
            <a:r>
              <a:rPr lang="en-US" sz="2800" dirty="0">
                <a:latin typeface="+mn-lt"/>
              </a:rPr>
              <a:t>Spatial Patterns and Stock Structure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FF01057-2C4F-0738-31D2-4346BE258FD6}"/>
              </a:ext>
            </a:extLst>
          </p:cNvPr>
          <p:cNvSpPr txBox="1"/>
          <p:nvPr/>
        </p:nvSpPr>
        <p:spPr>
          <a:xfrm>
            <a:off x="2320120" y="1883391"/>
            <a:ext cx="875752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Spatial patterns exist: do they suggest multiple stocks in the EBS?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/>
              <a:t>Johnson (2019) genetics study suggests no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Spatial patterns exist: do they suggest the need for a spatial assessment?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Suggested research directions?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Priorities?</a:t>
            </a:r>
          </a:p>
        </p:txBody>
      </p:sp>
    </p:spTree>
    <p:extLst>
      <p:ext uri="{BB962C8B-B14F-4D97-AF65-F5344CB8AC3E}">
        <p14:creationId xmlns:p14="http://schemas.microsoft.com/office/powerpoint/2010/main" val="1939958646"/>
      </p:ext>
    </p:extLst>
  </p:cSld>
  <p:clrMapOvr>
    <a:masterClrMapping/>
  </p:clrMapOvr>
</p:sld>
</file>

<file path=ppt/theme/theme1.xml><?xml version="1.0" encoding="utf-8"?>
<a:theme xmlns:a="http://schemas.openxmlformats.org/drawingml/2006/main" name="NOAA_Fisheries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annerCrab.2019SAFE.CPTMeeting.Presentation.pptx" id="{C07FF72A-A7FA-5944-985E-CB62F0F337AD}" vid="{470F256F-5A14-804C-905B-CD7FB444AA38}"/>
    </a:ext>
  </a:extLst>
</a:theme>
</file>

<file path=ppt/theme/theme2.xml><?xml version="1.0" encoding="utf-8"?>
<a:theme xmlns:a="http://schemas.openxmlformats.org/drawingml/2006/main" name="NOAA Fisheries Content Slides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annerCrab.2019SAFE.CPTMeeting.Presentation.pptx" id="{C07FF72A-A7FA-5944-985E-CB62F0F337AD}" vid="{3CE7A497-1B99-8F40-8A5A-0E3D0E28E34C}"/>
    </a:ext>
  </a:extLst>
</a:theme>
</file>

<file path=ppt/theme/theme3.xml><?xml version="1.0" encoding="utf-8"?>
<a:theme xmlns:a="http://schemas.openxmlformats.org/drawingml/2006/main" name="NOAA Divider Slides">
  <a:themeElements>
    <a:clrScheme name="Custom 11">
      <a:dk1>
        <a:sysClr val="windowText" lastClr="000000"/>
      </a:dk1>
      <a:lt1>
        <a:sysClr val="window" lastClr="FFFFFF"/>
      </a:lt1>
      <a:dk2>
        <a:srgbClr val="00467F"/>
      </a:dk2>
      <a:lt2>
        <a:srgbClr val="CCE7EA"/>
      </a:lt2>
      <a:accent1>
        <a:srgbClr val="008998"/>
      </a:accent1>
      <a:accent2>
        <a:srgbClr val="CC9C4A"/>
      </a:accent2>
      <a:accent3>
        <a:srgbClr val="EA7125"/>
      </a:accent3>
      <a:accent4>
        <a:srgbClr val="738539"/>
      </a:accent4>
      <a:accent5>
        <a:srgbClr val="9C552D"/>
      </a:accent5>
      <a:accent6>
        <a:srgbClr val="C0311A"/>
      </a:accent6>
      <a:hlink>
        <a:srgbClr val="0000FF"/>
      </a:hlink>
      <a:folHlink>
        <a:srgbClr val="800080"/>
      </a:folHlink>
    </a:clrScheme>
    <a:fontScheme name="Horizon">
      <a:maj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ＭＳ ゴシック"/>
        <a:font script="Hang" typeface="HY얕은샘물M"/>
        <a:font script="Hans" typeface="华文新魏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annerCrab.2019SAFE.CPTMeeting.Presentation.pptx" id="{C07FF72A-A7FA-5944-985E-CB62F0F337AD}" vid="{1D527E59-2320-884A-9981-A0E29823F6D0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NOAA_Fisheries</Template>
  <TotalTime>20192</TotalTime>
  <Words>388</Words>
  <Application>Microsoft Macintosh PowerPoint</Application>
  <PresentationFormat>Widescreen</PresentationFormat>
  <Paragraphs>104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Arial Narrow</vt:lpstr>
      <vt:lpstr>Calibri</vt:lpstr>
      <vt:lpstr>Cambria Math</vt:lpstr>
      <vt:lpstr>NOAA_Fisheries</vt:lpstr>
      <vt:lpstr>NOAA Fisheries Content Slides</vt:lpstr>
      <vt:lpstr>NOAA Divider Slides</vt:lpstr>
      <vt:lpstr>2026 Tanner Crab CIE Review  Spatial Considerations</vt:lpstr>
      <vt:lpstr>Stock structure and spatial considerations</vt:lpstr>
      <vt:lpstr>Tanner crab fishery management</vt:lpstr>
      <vt:lpstr>Survey Spatial Patterns</vt:lpstr>
      <vt:lpstr>Survey Spatial Patterns</vt:lpstr>
      <vt:lpstr>East/West Differences: Mature Male Biomass</vt:lpstr>
      <vt:lpstr>Survey Data By Management Region</vt:lpstr>
      <vt:lpstr>East/West Differences</vt:lpstr>
      <vt:lpstr>Survey Size Comps: Synchronous recruitment?</vt:lpstr>
      <vt:lpstr>Asymmetric larval transport?</vt:lpstr>
      <vt:lpstr>Spatial Patterns and Stock 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2021 Tanner Crab Stock Assessment</dc:title>
  <dc:creator>William Stockhausen</dc:creator>
  <cp:lastModifiedBy>William Stockhausen</cp:lastModifiedBy>
  <cp:revision>187</cp:revision>
  <cp:lastPrinted>2019-09-09T15:27:44Z</cp:lastPrinted>
  <dcterms:created xsi:type="dcterms:W3CDTF">2021-09-13T01:24:40Z</dcterms:created>
  <dcterms:modified xsi:type="dcterms:W3CDTF">2026-05-26T01:37:50Z</dcterms:modified>
</cp:coreProperties>
</file>