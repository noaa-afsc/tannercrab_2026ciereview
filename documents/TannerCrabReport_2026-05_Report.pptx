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0" r:id="rId2"/>
    <p:sldMasterId id="2147483674" r:id="rId3"/>
  </p:sldMasterIdLst>
  <p:notesMasterIdLst>
    <p:notesMasterId r:id="rId40"/>
  </p:notesMasterIdLst>
  <p:sldIdLst>
    <p:sldId id="256" r:id="rId4"/>
    <p:sldId id="627" r:id="rId5"/>
    <p:sldId id="784" r:id="rId6"/>
    <p:sldId id="807" r:id="rId7"/>
    <p:sldId id="680" r:id="rId8"/>
    <p:sldId id="786" r:id="rId9"/>
    <p:sldId id="787" r:id="rId10"/>
    <p:sldId id="788" r:id="rId11"/>
    <p:sldId id="790" r:id="rId12"/>
    <p:sldId id="789" r:id="rId13"/>
    <p:sldId id="783" r:id="rId14"/>
    <p:sldId id="261" r:id="rId15"/>
    <p:sldId id="275" r:id="rId16"/>
    <p:sldId id="798" r:id="rId17"/>
    <p:sldId id="751" r:id="rId18"/>
    <p:sldId id="678" r:id="rId19"/>
    <p:sldId id="679" r:id="rId20"/>
    <p:sldId id="595" r:id="rId21"/>
    <p:sldId id="785" r:id="rId22"/>
    <p:sldId id="794" r:id="rId23"/>
    <p:sldId id="795" r:id="rId24"/>
    <p:sldId id="796" r:id="rId25"/>
    <p:sldId id="799" r:id="rId26"/>
    <p:sldId id="800" r:id="rId27"/>
    <p:sldId id="801" r:id="rId28"/>
    <p:sldId id="802" r:id="rId29"/>
    <p:sldId id="803" r:id="rId30"/>
    <p:sldId id="797" r:id="rId31"/>
    <p:sldId id="804" r:id="rId32"/>
    <p:sldId id="793" r:id="rId33"/>
    <p:sldId id="792" r:id="rId34"/>
    <p:sldId id="791" r:id="rId35"/>
    <p:sldId id="805" r:id="rId36"/>
    <p:sldId id="806" r:id="rId37"/>
    <p:sldId id="782" r:id="rId38"/>
    <p:sldId id="70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89"/>
    <p:restoredTop sz="87687"/>
  </p:normalViewPr>
  <p:slideViewPr>
    <p:cSldViewPr snapToGrid="0" snapToObjects="1">
      <p:cViewPr varScale="1">
        <p:scale>
          <a:sx n="123" d="100"/>
          <a:sy n="123" d="100"/>
        </p:scale>
        <p:origin x="1520" y="176"/>
      </p:cViewPr>
      <p:guideLst/>
    </p:cSldViewPr>
  </p:slideViewPr>
  <p:notesTextViewPr>
    <p:cViewPr>
      <p:scale>
        <a:sx n="1" d="1"/>
        <a:sy n="1" d="1"/>
      </p:scale>
      <p:origin x="0" y="0"/>
    </p:cViewPr>
  </p:notesTextViewPr>
  <p:sorterViewPr>
    <p:cViewPr>
      <p:scale>
        <a:sx n="1" d="1"/>
        <a:sy n="1" d="1"/>
      </p:scale>
      <p:origin x="0" y="-69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2E994-B0ED-0A4E-A831-9F7B66D696A3}" type="datetimeFigureOut">
              <a:rPr lang="en-US" smtClean="0"/>
              <a:t>5/12/26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A4D2B-9145-8640-AE21-E479860AD72F}" type="slidenum">
              <a:rPr lang="en-US" smtClean="0"/>
              <a:t>‹#›</a:t>
            </a:fld>
            <a:endParaRPr lang="en-US"/>
          </a:p>
        </p:txBody>
      </p:sp>
    </p:spTree>
    <p:extLst>
      <p:ext uri="{BB962C8B-B14F-4D97-AF65-F5344CB8AC3E}">
        <p14:creationId xmlns:p14="http://schemas.microsoft.com/office/powerpoint/2010/main" val="2272155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1A4D2B-9145-8640-AE21-E479860AD72F}" type="slidenum">
              <a:rPr lang="en-US" smtClean="0"/>
              <a:t>1</a:t>
            </a:fld>
            <a:endParaRPr lang="en-US"/>
          </a:p>
        </p:txBody>
      </p:sp>
    </p:spTree>
    <p:extLst>
      <p:ext uri="{BB962C8B-B14F-4D97-AF65-F5344CB8AC3E}">
        <p14:creationId xmlns:p14="http://schemas.microsoft.com/office/powerpoint/2010/main" val="3832525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5BDA9-16FE-3BFC-FF93-6BEE3CC318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53325-7E54-ECEF-D1D5-ADD8BB171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5EEC2-7874-6C37-3915-3BC1B92B0F47}"/>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6CE553A9-EB84-7644-E0FE-9F40F8B8AB3B}"/>
              </a:ext>
            </a:extLst>
          </p:cNvPr>
          <p:cNvSpPr>
            <a:spLocks noGrp="1"/>
          </p:cNvSpPr>
          <p:nvPr>
            <p:ph type="sldNum" sz="quarter" idx="5"/>
          </p:nvPr>
        </p:nvSpPr>
        <p:spPr/>
        <p:txBody>
          <a:bodyPr/>
          <a:lstStyle/>
          <a:p>
            <a:fld id="{181A4D2B-9145-8640-AE21-E479860AD72F}" type="slidenum">
              <a:rPr lang="en-US" smtClean="0"/>
              <a:t>3</a:t>
            </a:fld>
            <a:endParaRPr lang="en-US"/>
          </a:p>
        </p:txBody>
      </p:sp>
    </p:spTree>
    <p:extLst>
      <p:ext uri="{BB962C8B-B14F-4D97-AF65-F5344CB8AC3E}">
        <p14:creationId xmlns:p14="http://schemas.microsoft.com/office/powerpoint/2010/main" val="1464690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1637E-1D4B-C608-1A2A-D1B4F665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C6135-0EB5-1ADD-3003-E3C1C3CF9A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81540-66F7-05EA-0FAE-15FCC0DC7FA0}"/>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5C358798-9B4D-9DA7-7DFE-A9B889EC6831}"/>
              </a:ext>
            </a:extLst>
          </p:cNvPr>
          <p:cNvSpPr>
            <a:spLocks noGrp="1"/>
          </p:cNvSpPr>
          <p:nvPr>
            <p:ph type="sldNum" sz="quarter" idx="5"/>
          </p:nvPr>
        </p:nvSpPr>
        <p:spPr/>
        <p:txBody>
          <a:bodyPr/>
          <a:lstStyle/>
          <a:p>
            <a:fld id="{181A4D2B-9145-8640-AE21-E479860AD72F}" type="slidenum">
              <a:rPr lang="en-US" smtClean="0"/>
              <a:t>4</a:t>
            </a:fld>
            <a:endParaRPr lang="en-US"/>
          </a:p>
        </p:txBody>
      </p:sp>
    </p:spTree>
    <p:extLst>
      <p:ext uri="{BB962C8B-B14F-4D97-AF65-F5344CB8AC3E}">
        <p14:creationId xmlns:p14="http://schemas.microsoft.com/office/powerpoint/2010/main" val="832051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a:t>
            </a:r>
          </a:p>
        </p:txBody>
      </p:sp>
      <p:sp>
        <p:nvSpPr>
          <p:cNvPr id="4" name="Slide Number Placeholder 3"/>
          <p:cNvSpPr>
            <a:spLocks noGrp="1"/>
          </p:cNvSpPr>
          <p:nvPr>
            <p:ph type="sldNum" sz="quarter" idx="5"/>
          </p:nvPr>
        </p:nvSpPr>
        <p:spPr/>
        <p:txBody>
          <a:bodyPr/>
          <a:lstStyle/>
          <a:p>
            <a:fld id="{181A4D2B-9145-8640-AE21-E479860AD72F}" type="slidenum">
              <a:rPr lang="en-US" smtClean="0"/>
              <a:t>5</a:t>
            </a:fld>
            <a:endParaRPr lang="en-US"/>
          </a:p>
        </p:txBody>
      </p:sp>
    </p:spTree>
    <p:extLst>
      <p:ext uri="{BB962C8B-B14F-4D97-AF65-F5344CB8AC3E}">
        <p14:creationId xmlns:p14="http://schemas.microsoft.com/office/powerpoint/2010/main" val="1760239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903A3-1790-E221-AFB3-4C44988CB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E6F61-7951-3F97-1C3C-9BA2AED22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D31DA-A965-0E3C-A08F-BEA425D6360D}"/>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9BAE3FE8-9D3E-AFBC-875C-B18C434D9985}"/>
              </a:ext>
            </a:extLst>
          </p:cNvPr>
          <p:cNvSpPr>
            <a:spLocks noGrp="1"/>
          </p:cNvSpPr>
          <p:nvPr>
            <p:ph type="sldNum" sz="quarter" idx="5"/>
          </p:nvPr>
        </p:nvSpPr>
        <p:spPr/>
        <p:txBody>
          <a:bodyPr/>
          <a:lstStyle/>
          <a:p>
            <a:fld id="{181A4D2B-9145-8640-AE21-E479860AD72F}" type="slidenum">
              <a:rPr lang="en-US" smtClean="0"/>
              <a:t>6</a:t>
            </a:fld>
            <a:endParaRPr lang="en-US"/>
          </a:p>
        </p:txBody>
      </p:sp>
    </p:spTree>
    <p:extLst>
      <p:ext uri="{BB962C8B-B14F-4D97-AF65-F5344CB8AC3E}">
        <p14:creationId xmlns:p14="http://schemas.microsoft.com/office/powerpoint/2010/main" val="2512358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DA1B6-AFDF-87F4-97B6-D19E0AA14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08A1F-09CA-8393-9020-B99F0A893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1A93BB-A3EB-F4C0-101D-6ED8D004F7D4}"/>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EBCAAA26-BF8C-590B-A936-BF03BCF4A02F}"/>
              </a:ext>
            </a:extLst>
          </p:cNvPr>
          <p:cNvSpPr>
            <a:spLocks noGrp="1"/>
          </p:cNvSpPr>
          <p:nvPr>
            <p:ph type="sldNum" sz="quarter" idx="5"/>
          </p:nvPr>
        </p:nvSpPr>
        <p:spPr/>
        <p:txBody>
          <a:bodyPr/>
          <a:lstStyle/>
          <a:p>
            <a:fld id="{181A4D2B-9145-8640-AE21-E479860AD72F}" type="slidenum">
              <a:rPr lang="en-US" smtClean="0"/>
              <a:t>7</a:t>
            </a:fld>
            <a:endParaRPr lang="en-US"/>
          </a:p>
        </p:txBody>
      </p:sp>
    </p:spTree>
    <p:extLst>
      <p:ext uri="{BB962C8B-B14F-4D97-AF65-F5344CB8AC3E}">
        <p14:creationId xmlns:p14="http://schemas.microsoft.com/office/powerpoint/2010/main" val="3163808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B68D6-097A-105B-6A9B-51D0BD5861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A825E-2B61-37B6-5094-6C6E968D11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95061-37F2-CD0F-31B8-DA7BECC3BE4B}"/>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1B69F6BB-7781-9F91-155F-6F383126FA3F}"/>
              </a:ext>
            </a:extLst>
          </p:cNvPr>
          <p:cNvSpPr>
            <a:spLocks noGrp="1"/>
          </p:cNvSpPr>
          <p:nvPr>
            <p:ph type="sldNum" sz="quarter" idx="5"/>
          </p:nvPr>
        </p:nvSpPr>
        <p:spPr/>
        <p:txBody>
          <a:bodyPr/>
          <a:lstStyle/>
          <a:p>
            <a:fld id="{181A4D2B-9145-8640-AE21-E479860AD72F}" type="slidenum">
              <a:rPr lang="en-US" smtClean="0"/>
              <a:t>8</a:t>
            </a:fld>
            <a:endParaRPr lang="en-US"/>
          </a:p>
        </p:txBody>
      </p:sp>
    </p:spTree>
    <p:extLst>
      <p:ext uri="{BB962C8B-B14F-4D97-AF65-F5344CB8AC3E}">
        <p14:creationId xmlns:p14="http://schemas.microsoft.com/office/powerpoint/2010/main" val="2143212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EE1F7-2DF0-0225-F5D6-656EC19F2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110F7-203D-E81A-0832-B3255DC13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BC243-A242-3774-099C-7EDFAAB86707}"/>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272BD695-17CE-7492-4D53-33FD04F99168}"/>
              </a:ext>
            </a:extLst>
          </p:cNvPr>
          <p:cNvSpPr>
            <a:spLocks noGrp="1"/>
          </p:cNvSpPr>
          <p:nvPr>
            <p:ph type="sldNum" sz="quarter" idx="5"/>
          </p:nvPr>
        </p:nvSpPr>
        <p:spPr/>
        <p:txBody>
          <a:bodyPr/>
          <a:lstStyle/>
          <a:p>
            <a:fld id="{181A4D2B-9145-8640-AE21-E479860AD72F}" type="slidenum">
              <a:rPr lang="en-US" smtClean="0"/>
              <a:t>9</a:t>
            </a:fld>
            <a:endParaRPr lang="en-US"/>
          </a:p>
        </p:txBody>
      </p:sp>
    </p:spTree>
    <p:extLst>
      <p:ext uri="{BB962C8B-B14F-4D97-AF65-F5344CB8AC3E}">
        <p14:creationId xmlns:p14="http://schemas.microsoft.com/office/powerpoint/2010/main" val="52811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6422E-8E0F-0F14-6F17-D01157843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5D40A-F0B3-24A1-62FF-48A10AA6C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A179EB-419F-6771-1D28-28486C1302C4}"/>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8332B483-23E3-3C90-AAA2-3AB3C9D38611}"/>
              </a:ext>
            </a:extLst>
          </p:cNvPr>
          <p:cNvSpPr>
            <a:spLocks noGrp="1"/>
          </p:cNvSpPr>
          <p:nvPr>
            <p:ph type="sldNum" sz="quarter" idx="5"/>
          </p:nvPr>
        </p:nvSpPr>
        <p:spPr/>
        <p:txBody>
          <a:bodyPr/>
          <a:lstStyle/>
          <a:p>
            <a:fld id="{181A4D2B-9145-8640-AE21-E479860AD72F}" type="slidenum">
              <a:rPr lang="en-US" smtClean="0"/>
              <a:t>10</a:t>
            </a:fld>
            <a:endParaRPr lang="en-US"/>
          </a:p>
        </p:txBody>
      </p:sp>
    </p:spTree>
    <p:extLst>
      <p:ext uri="{BB962C8B-B14F-4D97-AF65-F5344CB8AC3E}">
        <p14:creationId xmlns:p14="http://schemas.microsoft.com/office/powerpoint/2010/main" val="215859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C6A9-ED70-368E-58DE-891B84E3B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BD1D0-5A12-1285-754F-28BCCC842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099A9-8170-1822-92D8-B1EBE20D913B}"/>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64690DE1-BA94-F601-9386-89C1D407CE57}"/>
              </a:ext>
            </a:extLst>
          </p:cNvPr>
          <p:cNvSpPr>
            <a:spLocks noGrp="1"/>
          </p:cNvSpPr>
          <p:nvPr>
            <p:ph type="sldNum" sz="quarter" idx="5"/>
          </p:nvPr>
        </p:nvSpPr>
        <p:spPr/>
        <p:txBody>
          <a:bodyPr/>
          <a:lstStyle/>
          <a:p>
            <a:fld id="{181A4D2B-9145-8640-AE21-E479860AD72F}" type="slidenum">
              <a:rPr lang="en-US" smtClean="0"/>
              <a:t>11</a:t>
            </a:fld>
            <a:endParaRPr lang="en-US"/>
          </a:p>
        </p:txBody>
      </p:sp>
    </p:spTree>
    <p:extLst>
      <p:ext uri="{BB962C8B-B14F-4D97-AF65-F5344CB8AC3E}">
        <p14:creationId xmlns:p14="http://schemas.microsoft.com/office/powerpoint/2010/main" val="2376988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Updated 2024</a:t>
            </a:r>
          </a:p>
          <a:p>
            <a:endParaRPr lang="en-US" dirty="0"/>
          </a:p>
        </p:txBody>
      </p:sp>
      <p:sp>
        <p:nvSpPr>
          <p:cNvPr id="4" name="Slide Number Placeholder 3"/>
          <p:cNvSpPr>
            <a:spLocks noGrp="1"/>
          </p:cNvSpPr>
          <p:nvPr>
            <p:ph type="sldNum" sz="quarter" idx="5"/>
          </p:nvPr>
        </p:nvSpPr>
        <p:spPr/>
        <p:txBody>
          <a:bodyPr/>
          <a:lstStyle/>
          <a:p>
            <a:fld id="{181A4D2B-9145-8640-AE21-E479860AD72F}" type="slidenum">
              <a:rPr lang="en-US" smtClean="0"/>
              <a:t>12</a:t>
            </a:fld>
            <a:endParaRPr lang="en-US"/>
          </a:p>
        </p:txBody>
      </p:sp>
    </p:spTree>
    <p:extLst>
      <p:ext uri="{BB962C8B-B14F-4D97-AF65-F5344CB8AC3E}">
        <p14:creationId xmlns:p14="http://schemas.microsoft.com/office/powerpoint/2010/main" val="1371790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Updated 2024</a:t>
            </a:r>
          </a:p>
          <a:p>
            <a:endParaRPr lang="en-US" dirty="0"/>
          </a:p>
        </p:txBody>
      </p:sp>
      <p:sp>
        <p:nvSpPr>
          <p:cNvPr id="4" name="Slide Number Placeholder 3"/>
          <p:cNvSpPr>
            <a:spLocks noGrp="1"/>
          </p:cNvSpPr>
          <p:nvPr>
            <p:ph type="sldNum" sz="quarter" idx="5"/>
          </p:nvPr>
        </p:nvSpPr>
        <p:spPr/>
        <p:txBody>
          <a:bodyPr/>
          <a:lstStyle/>
          <a:p>
            <a:fld id="{181A4D2B-9145-8640-AE21-E479860AD72F}" type="slidenum">
              <a:rPr lang="en-US" smtClean="0"/>
              <a:t>13</a:t>
            </a:fld>
            <a:endParaRPr lang="en-US"/>
          </a:p>
        </p:txBody>
      </p:sp>
    </p:spTree>
    <p:extLst>
      <p:ext uri="{BB962C8B-B14F-4D97-AF65-F5344CB8AC3E}">
        <p14:creationId xmlns:p14="http://schemas.microsoft.com/office/powerpoint/2010/main" val="2378668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2024</a:t>
            </a:r>
          </a:p>
          <a:p>
            <a:endParaRPr lang="en-US" dirty="0"/>
          </a:p>
        </p:txBody>
      </p:sp>
      <p:sp>
        <p:nvSpPr>
          <p:cNvPr id="4" name="Slide Number Placeholder 3"/>
          <p:cNvSpPr>
            <a:spLocks noGrp="1"/>
          </p:cNvSpPr>
          <p:nvPr>
            <p:ph type="sldNum" sz="quarter" idx="5"/>
          </p:nvPr>
        </p:nvSpPr>
        <p:spPr/>
        <p:txBody>
          <a:bodyPr/>
          <a:lstStyle/>
          <a:p>
            <a:fld id="{181A4D2B-9145-8640-AE21-E479860AD72F}" type="slidenum">
              <a:rPr lang="en-US" smtClean="0"/>
              <a:t>14</a:t>
            </a:fld>
            <a:endParaRPr lang="en-US"/>
          </a:p>
        </p:txBody>
      </p:sp>
    </p:spTree>
    <p:extLst>
      <p:ext uri="{BB962C8B-B14F-4D97-AF65-F5344CB8AC3E}">
        <p14:creationId xmlns:p14="http://schemas.microsoft.com/office/powerpoint/2010/main" val="1041261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3AD03-6FA3-72AF-95A0-337D82D6D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EDF40-7923-AB51-08B3-005C922C6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452CCB-F1BE-7EC5-5CDD-3AF286EA97E5}"/>
              </a:ext>
            </a:extLst>
          </p:cNvPr>
          <p:cNvSpPr>
            <a:spLocks noGrp="1"/>
          </p:cNvSpPr>
          <p:nvPr>
            <p:ph type="body" idx="1"/>
          </p:nvPr>
        </p:nvSpPr>
        <p:spPr/>
        <p:txBody>
          <a:bodyPr/>
          <a:lstStyle/>
          <a:p>
            <a:r>
              <a:rPr lang="en-US" dirty="0"/>
              <a:t>2025</a:t>
            </a:r>
          </a:p>
        </p:txBody>
      </p:sp>
      <p:sp>
        <p:nvSpPr>
          <p:cNvPr id="4" name="Slide Number Placeholder 3">
            <a:extLst>
              <a:ext uri="{FF2B5EF4-FFF2-40B4-BE49-F238E27FC236}">
                <a16:creationId xmlns:a16="http://schemas.microsoft.com/office/drawing/2014/main" id="{88E352E2-2544-86B9-D3A3-3F11B54D95D4}"/>
              </a:ext>
            </a:extLst>
          </p:cNvPr>
          <p:cNvSpPr>
            <a:spLocks noGrp="1"/>
          </p:cNvSpPr>
          <p:nvPr>
            <p:ph type="sldNum" sz="quarter" idx="5"/>
          </p:nvPr>
        </p:nvSpPr>
        <p:spPr/>
        <p:txBody>
          <a:bodyPr/>
          <a:lstStyle/>
          <a:p>
            <a:fld id="{181A4D2B-9145-8640-AE21-E479860AD72F}" type="slidenum">
              <a:rPr lang="en-US" smtClean="0"/>
              <a:t>15</a:t>
            </a:fld>
            <a:endParaRPr lang="en-US"/>
          </a:p>
        </p:txBody>
      </p:sp>
    </p:spTree>
    <p:extLst>
      <p:ext uri="{BB962C8B-B14F-4D97-AF65-F5344CB8AC3E}">
        <p14:creationId xmlns:p14="http://schemas.microsoft.com/office/powerpoint/2010/main" val="1360051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a:t>
            </a:r>
          </a:p>
        </p:txBody>
      </p:sp>
      <p:sp>
        <p:nvSpPr>
          <p:cNvPr id="4" name="Slide Number Placeholder 3"/>
          <p:cNvSpPr>
            <a:spLocks noGrp="1"/>
          </p:cNvSpPr>
          <p:nvPr>
            <p:ph type="sldNum" sz="quarter" idx="5"/>
          </p:nvPr>
        </p:nvSpPr>
        <p:spPr/>
        <p:txBody>
          <a:bodyPr/>
          <a:lstStyle/>
          <a:p>
            <a:fld id="{181A4D2B-9145-8640-AE21-E479860AD72F}" type="slidenum">
              <a:rPr lang="en-US" smtClean="0"/>
              <a:t>16</a:t>
            </a:fld>
            <a:endParaRPr lang="en-US"/>
          </a:p>
        </p:txBody>
      </p:sp>
    </p:spTree>
    <p:extLst>
      <p:ext uri="{BB962C8B-B14F-4D97-AF65-F5344CB8AC3E}">
        <p14:creationId xmlns:p14="http://schemas.microsoft.com/office/powerpoint/2010/main" val="2630651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a:t>
            </a:r>
          </a:p>
        </p:txBody>
      </p:sp>
      <p:sp>
        <p:nvSpPr>
          <p:cNvPr id="4" name="Slide Number Placeholder 3"/>
          <p:cNvSpPr>
            <a:spLocks noGrp="1"/>
          </p:cNvSpPr>
          <p:nvPr>
            <p:ph type="sldNum" sz="quarter" idx="5"/>
          </p:nvPr>
        </p:nvSpPr>
        <p:spPr/>
        <p:txBody>
          <a:bodyPr/>
          <a:lstStyle/>
          <a:p>
            <a:fld id="{181A4D2B-9145-8640-AE21-E479860AD72F}" type="slidenum">
              <a:rPr lang="en-US" smtClean="0"/>
              <a:t>17</a:t>
            </a:fld>
            <a:endParaRPr lang="en-US"/>
          </a:p>
        </p:txBody>
      </p:sp>
    </p:spTree>
    <p:extLst>
      <p:ext uri="{BB962C8B-B14F-4D97-AF65-F5344CB8AC3E}">
        <p14:creationId xmlns:p14="http://schemas.microsoft.com/office/powerpoint/2010/main" val="40271842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a:t>
            </a:r>
          </a:p>
        </p:txBody>
      </p:sp>
      <p:sp>
        <p:nvSpPr>
          <p:cNvPr id="4" name="Slide Number Placeholder 3"/>
          <p:cNvSpPr>
            <a:spLocks noGrp="1"/>
          </p:cNvSpPr>
          <p:nvPr>
            <p:ph type="sldNum" sz="quarter" idx="5"/>
          </p:nvPr>
        </p:nvSpPr>
        <p:spPr/>
        <p:txBody>
          <a:bodyPr/>
          <a:lstStyle/>
          <a:p>
            <a:fld id="{181A4D2B-9145-8640-AE21-E479860AD72F}" type="slidenum">
              <a:rPr lang="en-US" smtClean="0"/>
              <a:t>18</a:t>
            </a:fld>
            <a:endParaRPr lang="en-US"/>
          </a:p>
        </p:txBody>
      </p:sp>
    </p:spTree>
    <p:extLst>
      <p:ext uri="{BB962C8B-B14F-4D97-AF65-F5344CB8AC3E}">
        <p14:creationId xmlns:p14="http://schemas.microsoft.com/office/powerpoint/2010/main" val="2135386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03763-85CF-0096-5B59-BBAC839F8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3DF44-48E4-2E06-CFE2-B4D066B50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11B17-9635-A794-8CCA-43619314AF6C}"/>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23A6ECAB-7CCE-F4CE-0EB4-B1DAB24D9C8B}"/>
              </a:ext>
            </a:extLst>
          </p:cNvPr>
          <p:cNvSpPr>
            <a:spLocks noGrp="1"/>
          </p:cNvSpPr>
          <p:nvPr>
            <p:ph type="sldNum" sz="quarter" idx="5"/>
          </p:nvPr>
        </p:nvSpPr>
        <p:spPr/>
        <p:txBody>
          <a:bodyPr/>
          <a:lstStyle/>
          <a:p>
            <a:fld id="{181A4D2B-9145-8640-AE21-E479860AD72F}" type="slidenum">
              <a:rPr lang="en-US" smtClean="0"/>
              <a:t>19</a:t>
            </a:fld>
            <a:endParaRPr lang="en-US"/>
          </a:p>
        </p:txBody>
      </p:sp>
    </p:spTree>
    <p:extLst>
      <p:ext uri="{BB962C8B-B14F-4D97-AF65-F5344CB8AC3E}">
        <p14:creationId xmlns:p14="http://schemas.microsoft.com/office/powerpoint/2010/main" val="4167417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BDAA7-593D-E9A7-3921-78523992F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D239C-4B18-AC3E-99BF-867140AF9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C1811-475D-2FE1-AB5B-D2DB9B9A835D}"/>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5005CBE2-4445-6BDD-BC44-473183469880}"/>
              </a:ext>
            </a:extLst>
          </p:cNvPr>
          <p:cNvSpPr>
            <a:spLocks noGrp="1"/>
          </p:cNvSpPr>
          <p:nvPr>
            <p:ph type="sldNum" sz="quarter" idx="5"/>
          </p:nvPr>
        </p:nvSpPr>
        <p:spPr/>
        <p:txBody>
          <a:bodyPr/>
          <a:lstStyle/>
          <a:p>
            <a:fld id="{181A4D2B-9145-8640-AE21-E479860AD72F}" type="slidenum">
              <a:rPr lang="en-US" smtClean="0"/>
              <a:t>20</a:t>
            </a:fld>
            <a:endParaRPr lang="en-US"/>
          </a:p>
        </p:txBody>
      </p:sp>
    </p:spTree>
    <p:extLst>
      <p:ext uri="{BB962C8B-B14F-4D97-AF65-F5344CB8AC3E}">
        <p14:creationId xmlns:p14="http://schemas.microsoft.com/office/powerpoint/2010/main" val="1957288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F9620-E039-C602-E19C-AC35A0A56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3D855F-DFCE-C49A-783E-31CC94D17C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D60F0-7F4F-E8FA-21A1-1B783356FCE4}"/>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C61E9A42-A7EA-C96B-A41A-F748512FF52B}"/>
              </a:ext>
            </a:extLst>
          </p:cNvPr>
          <p:cNvSpPr>
            <a:spLocks noGrp="1"/>
          </p:cNvSpPr>
          <p:nvPr>
            <p:ph type="sldNum" sz="quarter" idx="5"/>
          </p:nvPr>
        </p:nvSpPr>
        <p:spPr/>
        <p:txBody>
          <a:bodyPr/>
          <a:lstStyle/>
          <a:p>
            <a:fld id="{181A4D2B-9145-8640-AE21-E479860AD72F}" type="slidenum">
              <a:rPr lang="en-US" smtClean="0"/>
              <a:t>21</a:t>
            </a:fld>
            <a:endParaRPr lang="en-US"/>
          </a:p>
        </p:txBody>
      </p:sp>
    </p:spTree>
    <p:extLst>
      <p:ext uri="{BB962C8B-B14F-4D97-AF65-F5344CB8AC3E}">
        <p14:creationId xmlns:p14="http://schemas.microsoft.com/office/powerpoint/2010/main" val="304692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73C2F-F928-5F00-5AAC-C0D092A92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7EEE6-DA7A-4EF3-647F-A1432B9C6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9BB4E-082A-D03F-0DE7-41CA45D8145A}"/>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37D73176-5FBB-DBCC-BF7D-E712D7F727CC}"/>
              </a:ext>
            </a:extLst>
          </p:cNvPr>
          <p:cNvSpPr>
            <a:spLocks noGrp="1"/>
          </p:cNvSpPr>
          <p:nvPr>
            <p:ph type="sldNum" sz="quarter" idx="5"/>
          </p:nvPr>
        </p:nvSpPr>
        <p:spPr/>
        <p:txBody>
          <a:bodyPr/>
          <a:lstStyle/>
          <a:p>
            <a:fld id="{181A4D2B-9145-8640-AE21-E479860AD72F}" type="slidenum">
              <a:rPr lang="en-US" smtClean="0"/>
              <a:t>22</a:t>
            </a:fld>
            <a:endParaRPr lang="en-US"/>
          </a:p>
        </p:txBody>
      </p:sp>
    </p:spTree>
    <p:extLst>
      <p:ext uri="{BB962C8B-B14F-4D97-AF65-F5344CB8AC3E}">
        <p14:creationId xmlns:p14="http://schemas.microsoft.com/office/powerpoint/2010/main" val="2935109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5A94A-00F5-74C5-6324-FCC62AA8B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4D16B-C12C-535B-8BBC-EE0995B6C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1F2F50-D482-4510-A87A-59610444E98A}"/>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E829E85A-D325-CBAB-064E-09ED5CF36584}"/>
              </a:ext>
            </a:extLst>
          </p:cNvPr>
          <p:cNvSpPr>
            <a:spLocks noGrp="1"/>
          </p:cNvSpPr>
          <p:nvPr>
            <p:ph type="sldNum" sz="quarter" idx="5"/>
          </p:nvPr>
        </p:nvSpPr>
        <p:spPr/>
        <p:txBody>
          <a:bodyPr/>
          <a:lstStyle/>
          <a:p>
            <a:fld id="{181A4D2B-9145-8640-AE21-E479860AD72F}" type="slidenum">
              <a:rPr lang="en-US" smtClean="0"/>
              <a:t>23</a:t>
            </a:fld>
            <a:endParaRPr lang="en-US"/>
          </a:p>
        </p:txBody>
      </p:sp>
    </p:spTree>
    <p:extLst>
      <p:ext uri="{BB962C8B-B14F-4D97-AF65-F5344CB8AC3E}">
        <p14:creationId xmlns:p14="http://schemas.microsoft.com/office/powerpoint/2010/main" val="1763456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CD96-3832-C6C0-173B-14DD4491C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653271-F5B4-ED14-CCBF-5C13036BB6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8180D-1B00-5BE5-4CDF-3D6FBAC373F3}"/>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209A0347-E70B-C4D9-4662-4542CC7AB954}"/>
              </a:ext>
            </a:extLst>
          </p:cNvPr>
          <p:cNvSpPr>
            <a:spLocks noGrp="1"/>
          </p:cNvSpPr>
          <p:nvPr>
            <p:ph type="sldNum" sz="quarter" idx="5"/>
          </p:nvPr>
        </p:nvSpPr>
        <p:spPr/>
        <p:txBody>
          <a:bodyPr/>
          <a:lstStyle/>
          <a:p>
            <a:fld id="{181A4D2B-9145-8640-AE21-E479860AD72F}" type="slidenum">
              <a:rPr lang="en-US" smtClean="0"/>
              <a:t>24</a:t>
            </a:fld>
            <a:endParaRPr lang="en-US"/>
          </a:p>
        </p:txBody>
      </p:sp>
    </p:spTree>
    <p:extLst>
      <p:ext uri="{BB962C8B-B14F-4D97-AF65-F5344CB8AC3E}">
        <p14:creationId xmlns:p14="http://schemas.microsoft.com/office/powerpoint/2010/main" val="1441604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02F08-1FDA-600D-FA79-A647AA3E9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12B55-9D04-7252-C54B-EC4A3CA63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E9A35-BEDD-57DC-D355-5FC78FBF4421}"/>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C1B82FCB-B850-D95F-24A5-354D7767C42C}"/>
              </a:ext>
            </a:extLst>
          </p:cNvPr>
          <p:cNvSpPr>
            <a:spLocks noGrp="1"/>
          </p:cNvSpPr>
          <p:nvPr>
            <p:ph type="sldNum" sz="quarter" idx="5"/>
          </p:nvPr>
        </p:nvSpPr>
        <p:spPr/>
        <p:txBody>
          <a:bodyPr/>
          <a:lstStyle/>
          <a:p>
            <a:fld id="{181A4D2B-9145-8640-AE21-E479860AD72F}" type="slidenum">
              <a:rPr lang="en-US" smtClean="0"/>
              <a:t>25</a:t>
            </a:fld>
            <a:endParaRPr lang="en-US"/>
          </a:p>
        </p:txBody>
      </p:sp>
    </p:spTree>
    <p:extLst>
      <p:ext uri="{BB962C8B-B14F-4D97-AF65-F5344CB8AC3E}">
        <p14:creationId xmlns:p14="http://schemas.microsoft.com/office/powerpoint/2010/main" val="13008768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C5A72-260E-792D-CD2D-C121414BE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BDBCE-9294-752F-7D52-F3FEA69C5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694E8-6CFC-C407-DC10-144E2C6957F1}"/>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6C36D772-8754-329F-1AC0-A40B17398BC1}"/>
              </a:ext>
            </a:extLst>
          </p:cNvPr>
          <p:cNvSpPr>
            <a:spLocks noGrp="1"/>
          </p:cNvSpPr>
          <p:nvPr>
            <p:ph type="sldNum" sz="quarter" idx="5"/>
          </p:nvPr>
        </p:nvSpPr>
        <p:spPr/>
        <p:txBody>
          <a:bodyPr/>
          <a:lstStyle/>
          <a:p>
            <a:fld id="{181A4D2B-9145-8640-AE21-E479860AD72F}" type="slidenum">
              <a:rPr lang="en-US" smtClean="0"/>
              <a:t>26</a:t>
            </a:fld>
            <a:endParaRPr lang="en-US"/>
          </a:p>
        </p:txBody>
      </p:sp>
    </p:spTree>
    <p:extLst>
      <p:ext uri="{BB962C8B-B14F-4D97-AF65-F5344CB8AC3E}">
        <p14:creationId xmlns:p14="http://schemas.microsoft.com/office/powerpoint/2010/main" val="18324363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A9CB3-7022-6C78-D785-E762B1B23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B7F6F-9484-F4AD-22F9-2CB50D594C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09A60-3668-1818-428E-145BBA8CFC08}"/>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CA2BCEBB-2EF3-08C9-7C1F-068CED24538D}"/>
              </a:ext>
            </a:extLst>
          </p:cNvPr>
          <p:cNvSpPr>
            <a:spLocks noGrp="1"/>
          </p:cNvSpPr>
          <p:nvPr>
            <p:ph type="sldNum" sz="quarter" idx="5"/>
          </p:nvPr>
        </p:nvSpPr>
        <p:spPr/>
        <p:txBody>
          <a:bodyPr/>
          <a:lstStyle/>
          <a:p>
            <a:fld id="{181A4D2B-9145-8640-AE21-E479860AD72F}" type="slidenum">
              <a:rPr lang="en-US" smtClean="0"/>
              <a:t>27</a:t>
            </a:fld>
            <a:endParaRPr lang="en-US"/>
          </a:p>
        </p:txBody>
      </p:sp>
    </p:spTree>
    <p:extLst>
      <p:ext uri="{BB962C8B-B14F-4D97-AF65-F5344CB8AC3E}">
        <p14:creationId xmlns:p14="http://schemas.microsoft.com/office/powerpoint/2010/main" val="34119139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B8F40-9951-FDB5-5401-09A292FF55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77821-5266-5DA4-C3E9-C5F9E5D65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2B33E-0E20-A89E-BB50-4904AB3D2729}"/>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C74A0B58-9EFF-706F-3CF1-5792979C157A}"/>
              </a:ext>
            </a:extLst>
          </p:cNvPr>
          <p:cNvSpPr>
            <a:spLocks noGrp="1"/>
          </p:cNvSpPr>
          <p:nvPr>
            <p:ph type="sldNum" sz="quarter" idx="5"/>
          </p:nvPr>
        </p:nvSpPr>
        <p:spPr/>
        <p:txBody>
          <a:bodyPr/>
          <a:lstStyle/>
          <a:p>
            <a:fld id="{181A4D2B-9145-8640-AE21-E479860AD72F}" type="slidenum">
              <a:rPr lang="en-US" smtClean="0"/>
              <a:t>28</a:t>
            </a:fld>
            <a:endParaRPr lang="en-US"/>
          </a:p>
        </p:txBody>
      </p:sp>
    </p:spTree>
    <p:extLst>
      <p:ext uri="{BB962C8B-B14F-4D97-AF65-F5344CB8AC3E}">
        <p14:creationId xmlns:p14="http://schemas.microsoft.com/office/powerpoint/2010/main" val="26896400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CD42A-6C73-7166-58D9-4C0BDD718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D8AD5-0FC7-63C4-8F30-D8C2E8297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415184-20F4-E962-DBFB-EA8A19B4EB99}"/>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C15049CA-0437-6449-E7BC-B0E99E1E05BE}"/>
              </a:ext>
            </a:extLst>
          </p:cNvPr>
          <p:cNvSpPr>
            <a:spLocks noGrp="1"/>
          </p:cNvSpPr>
          <p:nvPr>
            <p:ph type="sldNum" sz="quarter" idx="5"/>
          </p:nvPr>
        </p:nvSpPr>
        <p:spPr/>
        <p:txBody>
          <a:bodyPr/>
          <a:lstStyle/>
          <a:p>
            <a:fld id="{181A4D2B-9145-8640-AE21-E479860AD72F}" type="slidenum">
              <a:rPr lang="en-US" smtClean="0"/>
              <a:t>29</a:t>
            </a:fld>
            <a:endParaRPr lang="en-US"/>
          </a:p>
        </p:txBody>
      </p:sp>
    </p:spTree>
    <p:extLst>
      <p:ext uri="{BB962C8B-B14F-4D97-AF65-F5344CB8AC3E}">
        <p14:creationId xmlns:p14="http://schemas.microsoft.com/office/powerpoint/2010/main" val="30440238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4D77-3523-5AE5-0613-D33B32C43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FECBC-2382-C87E-1CCD-6B84F8B52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D90FB-FF9B-8828-1AD6-E21D22B93C65}"/>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2827C9DD-25F4-DB6B-0B4C-0BB2937D5B50}"/>
              </a:ext>
            </a:extLst>
          </p:cNvPr>
          <p:cNvSpPr>
            <a:spLocks noGrp="1"/>
          </p:cNvSpPr>
          <p:nvPr>
            <p:ph type="sldNum" sz="quarter" idx="5"/>
          </p:nvPr>
        </p:nvSpPr>
        <p:spPr/>
        <p:txBody>
          <a:bodyPr/>
          <a:lstStyle/>
          <a:p>
            <a:fld id="{181A4D2B-9145-8640-AE21-E479860AD72F}" type="slidenum">
              <a:rPr lang="en-US" smtClean="0"/>
              <a:t>30</a:t>
            </a:fld>
            <a:endParaRPr lang="en-US"/>
          </a:p>
        </p:txBody>
      </p:sp>
    </p:spTree>
    <p:extLst>
      <p:ext uri="{BB962C8B-B14F-4D97-AF65-F5344CB8AC3E}">
        <p14:creationId xmlns:p14="http://schemas.microsoft.com/office/powerpoint/2010/main" val="39588663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BFA9-4E92-4AF0-E0F6-758C42907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ABBF1-1BFA-E440-0BD8-6907E806C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CD17F-77F5-A062-13E3-294E3463B267}"/>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CE19B15C-798F-D8E4-EE71-C03D86E52D76}"/>
              </a:ext>
            </a:extLst>
          </p:cNvPr>
          <p:cNvSpPr>
            <a:spLocks noGrp="1"/>
          </p:cNvSpPr>
          <p:nvPr>
            <p:ph type="sldNum" sz="quarter" idx="5"/>
          </p:nvPr>
        </p:nvSpPr>
        <p:spPr/>
        <p:txBody>
          <a:bodyPr/>
          <a:lstStyle/>
          <a:p>
            <a:fld id="{181A4D2B-9145-8640-AE21-E479860AD72F}" type="slidenum">
              <a:rPr lang="en-US" smtClean="0"/>
              <a:t>31</a:t>
            </a:fld>
            <a:endParaRPr lang="en-US"/>
          </a:p>
        </p:txBody>
      </p:sp>
    </p:spTree>
    <p:extLst>
      <p:ext uri="{BB962C8B-B14F-4D97-AF65-F5344CB8AC3E}">
        <p14:creationId xmlns:p14="http://schemas.microsoft.com/office/powerpoint/2010/main" val="10059345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C0307-8624-4A81-3E37-535D73B70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D242C-FC50-692F-592B-6FF81711E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4F9A4C-AD20-3DB6-E83A-AC5CA97C4771}"/>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86684301-C2E8-77F6-A63A-848C91C5D9EE}"/>
              </a:ext>
            </a:extLst>
          </p:cNvPr>
          <p:cNvSpPr>
            <a:spLocks noGrp="1"/>
          </p:cNvSpPr>
          <p:nvPr>
            <p:ph type="sldNum" sz="quarter" idx="5"/>
          </p:nvPr>
        </p:nvSpPr>
        <p:spPr/>
        <p:txBody>
          <a:bodyPr/>
          <a:lstStyle/>
          <a:p>
            <a:fld id="{181A4D2B-9145-8640-AE21-E479860AD72F}" type="slidenum">
              <a:rPr lang="en-US" smtClean="0"/>
              <a:t>32</a:t>
            </a:fld>
            <a:endParaRPr lang="en-US"/>
          </a:p>
        </p:txBody>
      </p:sp>
    </p:spTree>
    <p:extLst>
      <p:ext uri="{BB962C8B-B14F-4D97-AF65-F5344CB8AC3E}">
        <p14:creationId xmlns:p14="http://schemas.microsoft.com/office/powerpoint/2010/main" val="3816498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7001A-3377-3A0F-D30B-FDECEC532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A77A3-3CE3-A4D0-5D95-FA0835CDB7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2C3CF-589C-9D86-5104-EE48D96FDE13}"/>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01A075F1-0B0B-014F-9D33-6C0A94949BC0}"/>
              </a:ext>
            </a:extLst>
          </p:cNvPr>
          <p:cNvSpPr>
            <a:spLocks noGrp="1"/>
          </p:cNvSpPr>
          <p:nvPr>
            <p:ph type="sldNum" sz="quarter" idx="5"/>
          </p:nvPr>
        </p:nvSpPr>
        <p:spPr/>
        <p:txBody>
          <a:bodyPr/>
          <a:lstStyle/>
          <a:p>
            <a:fld id="{181A4D2B-9145-8640-AE21-E479860AD72F}" type="slidenum">
              <a:rPr lang="en-US" smtClean="0"/>
              <a:t>33</a:t>
            </a:fld>
            <a:endParaRPr lang="en-US"/>
          </a:p>
        </p:txBody>
      </p:sp>
    </p:spTree>
    <p:extLst>
      <p:ext uri="{BB962C8B-B14F-4D97-AF65-F5344CB8AC3E}">
        <p14:creationId xmlns:p14="http://schemas.microsoft.com/office/powerpoint/2010/main" val="39948442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181D-6ED0-A798-2DA7-525F41153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A5336-4866-7EC7-D3C7-A45B5A07A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DDC9E-D090-4095-41E3-025332A62973}"/>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AD4BCFE9-F38F-4AC9-3551-3EF2AF3F1D36}"/>
              </a:ext>
            </a:extLst>
          </p:cNvPr>
          <p:cNvSpPr>
            <a:spLocks noGrp="1"/>
          </p:cNvSpPr>
          <p:nvPr>
            <p:ph type="sldNum" sz="quarter" idx="5"/>
          </p:nvPr>
        </p:nvSpPr>
        <p:spPr/>
        <p:txBody>
          <a:bodyPr/>
          <a:lstStyle/>
          <a:p>
            <a:fld id="{181A4D2B-9145-8640-AE21-E479860AD72F}" type="slidenum">
              <a:rPr lang="en-US" smtClean="0"/>
              <a:t>34</a:t>
            </a:fld>
            <a:endParaRPr lang="en-US"/>
          </a:p>
        </p:txBody>
      </p:sp>
    </p:spTree>
    <p:extLst>
      <p:ext uri="{BB962C8B-B14F-4D97-AF65-F5344CB8AC3E}">
        <p14:creationId xmlns:p14="http://schemas.microsoft.com/office/powerpoint/2010/main" val="8695193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2B3A0-BBEB-3EAC-3ACA-19CF19AD6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50E03-608C-F788-29DF-ED1911889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E3C9A-2D25-FB81-035B-C03F09D9B02B}"/>
              </a:ext>
            </a:extLst>
          </p:cNvPr>
          <p:cNvSpPr>
            <a:spLocks noGrp="1"/>
          </p:cNvSpPr>
          <p:nvPr>
            <p:ph type="body" idx="1"/>
          </p:nvPr>
        </p:nvSpPr>
        <p:spPr/>
        <p:txBody>
          <a:bodyPr/>
          <a:lstStyle/>
          <a:p>
            <a:r>
              <a:rPr lang="en-US" dirty="0"/>
              <a:t>2022</a:t>
            </a:r>
          </a:p>
        </p:txBody>
      </p:sp>
      <p:sp>
        <p:nvSpPr>
          <p:cNvPr id="4" name="Slide Number Placeholder 3">
            <a:extLst>
              <a:ext uri="{FF2B5EF4-FFF2-40B4-BE49-F238E27FC236}">
                <a16:creationId xmlns:a16="http://schemas.microsoft.com/office/drawing/2014/main" id="{0CC3AA52-AA23-BED6-92F9-6211A7D90748}"/>
              </a:ext>
            </a:extLst>
          </p:cNvPr>
          <p:cNvSpPr>
            <a:spLocks noGrp="1"/>
          </p:cNvSpPr>
          <p:nvPr>
            <p:ph type="sldNum" sz="quarter" idx="5"/>
          </p:nvPr>
        </p:nvSpPr>
        <p:spPr/>
        <p:txBody>
          <a:bodyPr/>
          <a:lstStyle/>
          <a:p>
            <a:fld id="{181A4D2B-9145-8640-AE21-E479860AD72F}" type="slidenum">
              <a:rPr lang="en-US" smtClean="0"/>
              <a:t>35</a:t>
            </a:fld>
            <a:endParaRPr lang="en-US"/>
          </a:p>
        </p:txBody>
      </p:sp>
    </p:spTree>
    <p:extLst>
      <p:ext uri="{BB962C8B-B14F-4D97-AF65-F5344CB8AC3E}">
        <p14:creationId xmlns:p14="http://schemas.microsoft.com/office/powerpoint/2010/main" val="26412164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a:t>
            </a:r>
          </a:p>
        </p:txBody>
      </p:sp>
      <p:sp>
        <p:nvSpPr>
          <p:cNvPr id="4" name="Slide Number Placeholder 3"/>
          <p:cNvSpPr>
            <a:spLocks noGrp="1"/>
          </p:cNvSpPr>
          <p:nvPr>
            <p:ph type="sldNum" sz="quarter" idx="5"/>
          </p:nvPr>
        </p:nvSpPr>
        <p:spPr/>
        <p:txBody>
          <a:bodyPr/>
          <a:lstStyle/>
          <a:p>
            <a:fld id="{181A4D2B-9145-8640-AE21-E479860AD72F}" type="slidenum">
              <a:rPr lang="en-US" smtClean="0"/>
              <a:t>36</a:t>
            </a:fld>
            <a:endParaRPr lang="en-US"/>
          </a:p>
        </p:txBody>
      </p:sp>
    </p:spTree>
    <p:extLst>
      <p:ext uri="{BB962C8B-B14F-4D97-AF65-F5344CB8AC3E}">
        <p14:creationId xmlns:p14="http://schemas.microsoft.com/office/powerpoint/2010/main" val="1494611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No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Click to 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224709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 Boats">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Click to 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626597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 Turtle">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Click to 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91310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Seafood">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Click to 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864681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 Fish">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p>
            <a:pPr lvl="0"/>
            <a:r>
              <a:rPr lang="en-US"/>
              <a:t>Click to 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accent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lvl1pPr>
          </a:lstStyle>
          <a:p>
            <a:pPr lvl="0"/>
            <a:r>
              <a:rPr lang="en-US" dirty="0"/>
              <a:t>July 19, 2012</a:t>
            </a:r>
          </a:p>
        </p:txBody>
      </p:sp>
    </p:spTree>
    <p:extLst>
      <p:ext uri="{BB962C8B-B14F-4D97-AF65-F5344CB8AC3E}">
        <p14:creationId xmlns:p14="http://schemas.microsoft.com/office/powerpoint/2010/main" val="2678529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Dark">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FFFF"/>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4269317" y="2707458"/>
            <a:ext cx="7313083" cy="1224439"/>
          </a:xfrm>
        </p:spPr>
        <p:txBody>
          <a:bodyPr/>
          <a:lstStyle>
            <a:lvl1pPr>
              <a:defRPr>
                <a:solidFill>
                  <a:srgbClr val="FFFFFF"/>
                </a:solidFill>
              </a:defRPr>
            </a:lvl1pPr>
          </a:lstStyle>
          <a:p>
            <a:pPr lvl="0"/>
            <a:r>
              <a:rPr lang="en-US"/>
              <a:t>Click to edit Master text styles</a:t>
            </a:r>
          </a:p>
        </p:txBody>
      </p:sp>
      <p:sp>
        <p:nvSpPr>
          <p:cNvPr id="6" name="Text Placeholder 5"/>
          <p:cNvSpPr>
            <a:spLocks noGrp="1"/>
          </p:cNvSpPr>
          <p:nvPr>
            <p:ph type="body" sz="quarter" idx="11" hasCustomPrompt="1"/>
          </p:nvPr>
        </p:nvSpPr>
        <p:spPr>
          <a:xfrm>
            <a:off x="618067" y="3118591"/>
            <a:ext cx="1725084" cy="752475"/>
          </a:xfrm>
        </p:spPr>
        <p:txBody>
          <a:bodyPr lIns="0" tIns="0" rIns="0" bIns="0">
            <a:normAutofit/>
          </a:bodyPr>
          <a:lstStyle>
            <a:lvl1pPr algn="l">
              <a:defRPr sz="1800" b="1">
                <a:solidFill>
                  <a:schemeClr val="bg1"/>
                </a:solidFill>
              </a:defRPr>
            </a:lvl1pPr>
          </a:lstStyle>
          <a:p>
            <a:pPr lvl="0"/>
            <a:r>
              <a:rPr lang="en-US" dirty="0"/>
              <a:t>Regional Unit</a:t>
            </a:r>
          </a:p>
        </p:txBody>
      </p:sp>
      <p:sp>
        <p:nvSpPr>
          <p:cNvPr id="8" name="Text Placeholder 7"/>
          <p:cNvSpPr>
            <a:spLocks noGrp="1"/>
          </p:cNvSpPr>
          <p:nvPr>
            <p:ph type="body" sz="quarter" idx="12" hasCustomPrompt="1"/>
          </p:nvPr>
        </p:nvSpPr>
        <p:spPr>
          <a:xfrm>
            <a:off x="4269317" y="4282303"/>
            <a:ext cx="7313083" cy="577850"/>
          </a:xfrm>
        </p:spPr>
        <p:txBody>
          <a:bodyPr>
            <a:normAutofit/>
          </a:bodyPr>
          <a:lstStyle>
            <a:lvl1pPr>
              <a:defRPr sz="1800">
                <a:solidFill>
                  <a:srgbClr val="FFFFFF"/>
                </a:solidFill>
              </a:defRPr>
            </a:lvl1pPr>
          </a:lstStyle>
          <a:p>
            <a:pPr lvl="0"/>
            <a:r>
              <a:rPr lang="en-US" dirty="0"/>
              <a:t>July 19, 2012</a:t>
            </a:r>
          </a:p>
        </p:txBody>
      </p:sp>
      <p:sp>
        <p:nvSpPr>
          <p:cNvPr id="7" name="Freeform 6"/>
          <p:cNvSpPr/>
          <p:nvPr/>
        </p:nvSpPr>
        <p:spPr>
          <a:xfrm>
            <a:off x="-12253" y="4417161"/>
            <a:ext cx="12227564" cy="2457785"/>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673" h="2457785">
                <a:moveTo>
                  <a:pt x="2887" y="2375696"/>
                </a:moveTo>
                <a:cubicBezTo>
                  <a:pt x="23548" y="2372367"/>
                  <a:pt x="7344315" y="2502055"/>
                  <a:pt x="9170673" y="0"/>
                </a:cubicBezTo>
                <a:cubicBezTo>
                  <a:pt x="9168091" y="819774"/>
                  <a:pt x="9157766" y="1631806"/>
                  <a:pt x="9155184" y="2451580"/>
                </a:cubicBezTo>
                <a:lnTo>
                  <a:pt x="0" y="2457785"/>
                </a:lnTo>
                <a:cubicBezTo>
                  <a:pt x="-1" y="2415623"/>
                  <a:pt x="2888" y="2417858"/>
                  <a:pt x="2887" y="2375696"/>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965149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2DE65052-80B5-D141-90BA-19CA8E22EBCD}" type="datetimeFigureOut">
              <a:rPr lang="en-US" smtClean="0"/>
              <a:t>5/12/26</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2F4A1433-DF31-E847-87B2-2D278BA6D101}" type="slidenum">
              <a:rPr lang="en-US" smtClean="0"/>
              <a:t>‹#›</a:t>
            </a:fld>
            <a:endParaRPr lang="en-US"/>
          </a:p>
        </p:txBody>
      </p:sp>
    </p:spTree>
    <p:extLst>
      <p:ext uri="{BB962C8B-B14F-4D97-AF65-F5344CB8AC3E}">
        <p14:creationId xmlns:p14="http://schemas.microsoft.com/office/powerpoint/2010/main" val="3656613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51"/>
            <a:ext cx="2844800" cy="365125"/>
          </a:xfrm>
          <a:prstGeom prst="rect">
            <a:avLst/>
          </a:prstGeom>
        </p:spPr>
        <p:txBody>
          <a:bodyPr/>
          <a:lstStyle/>
          <a:p>
            <a:fld id="{2DE65052-80B5-D141-90BA-19CA8E22EBCD}" type="datetimeFigureOut">
              <a:rPr lang="en-US" smtClean="0"/>
              <a:t>5/12/26</a:t>
            </a:fld>
            <a:endParaRPr lang="en-US"/>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2F4A1433-DF31-E847-87B2-2D278BA6D101}" type="slidenum">
              <a:rPr lang="en-US" smtClean="0"/>
              <a:t>‹#›</a:t>
            </a:fld>
            <a:endParaRPr lang="en-US"/>
          </a:p>
        </p:txBody>
      </p:sp>
    </p:spTree>
    <p:extLst>
      <p:ext uri="{BB962C8B-B14F-4D97-AF65-F5344CB8AC3E}">
        <p14:creationId xmlns:p14="http://schemas.microsoft.com/office/powerpoint/2010/main" val="319523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0BC3-F8B0-AB46-907C-AD258F3520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660836-6EFD-9544-9200-5470F99F89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501848-9FC8-AA44-A1AF-40D764705DF1}"/>
              </a:ext>
            </a:extLst>
          </p:cNvPr>
          <p:cNvSpPr>
            <a:spLocks noGrp="1"/>
          </p:cNvSpPr>
          <p:nvPr>
            <p:ph type="dt" sz="half" idx="10"/>
          </p:nvPr>
        </p:nvSpPr>
        <p:spPr/>
        <p:txBody>
          <a:bodyPr/>
          <a:lstStyle/>
          <a:p>
            <a:fld id="{2DE65052-80B5-D141-90BA-19CA8E22EBCD}" type="datetimeFigureOut">
              <a:rPr lang="en-US" smtClean="0"/>
              <a:t>5/12/26</a:t>
            </a:fld>
            <a:endParaRPr lang="en-US"/>
          </a:p>
        </p:txBody>
      </p:sp>
      <p:sp>
        <p:nvSpPr>
          <p:cNvPr id="5" name="Footer Placeholder 4">
            <a:extLst>
              <a:ext uri="{FF2B5EF4-FFF2-40B4-BE49-F238E27FC236}">
                <a16:creationId xmlns:a16="http://schemas.microsoft.com/office/drawing/2014/main" id="{ED4FB5FD-7D8B-D045-92A0-F7EF5FC97C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22942A-35E5-DC4A-B220-4DA941DFFDDB}"/>
              </a:ext>
            </a:extLst>
          </p:cNvPr>
          <p:cNvSpPr>
            <a:spLocks noGrp="1"/>
          </p:cNvSpPr>
          <p:nvPr>
            <p:ph type="sldNum" sz="quarter" idx="12"/>
          </p:nvPr>
        </p:nvSpPr>
        <p:spPr/>
        <p:txBody>
          <a:bodyPr/>
          <a:lstStyle/>
          <a:p>
            <a:fld id="{2F4A1433-DF31-E847-87B2-2D278BA6D101}" type="slidenum">
              <a:rPr lang="en-US" smtClean="0"/>
              <a:t>‹#›</a:t>
            </a:fld>
            <a:endParaRPr lang="en-US"/>
          </a:p>
        </p:txBody>
      </p:sp>
    </p:spTree>
    <p:extLst>
      <p:ext uri="{BB962C8B-B14F-4D97-AF65-F5344CB8AC3E}">
        <p14:creationId xmlns:p14="http://schemas.microsoft.com/office/powerpoint/2010/main" val="1579667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p:cNvSpPr>
            <a:spLocks noGrp="1"/>
          </p:cNvSpPr>
          <p:nvPr>
            <p:ph type="sldNum" sz="quarter" idx="10"/>
          </p:nvPr>
        </p:nvSpPr>
        <p:spPr/>
        <p:txBody>
          <a:bodyPr/>
          <a:lstStyle/>
          <a:p>
            <a:r>
              <a:rPr lang="en-US"/>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93758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C3FFE5A4-DFEE-4EDF-87CD-A33ADA528450}" type="datetimeFigureOut">
              <a:rPr lang="en-US" smtClean="0"/>
              <a:t>5/12/26</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16C6FAA7-E426-4F7E-8C8A-64E11EFE5471}" type="slidenum">
              <a:rPr lang="en-US" smtClean="0"/>
              <a:t>‹#›</a:t>
            </a:fld>
            <a:endParaRPr lang="en-US"/>
          </a:p>
        </p:txBody>
      </p:sp>
    </p:spTree>
    <p:extLst>
      <p:ext uri="{BB962C8B-B14F-4D97-AF65-F5344CB8AC3E}">
        <p14:creationId xmlns:p14="http://schemas.microsoft.com/office/powerpoint/2010/main" val="2953989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51"/>
            <a:ext cx="2844800" cy="365125"/>
          </a:xfrm>
          <a:prstGeom prst="rect">
            <a:avLst/>
          </a:prstGeom>
        </p:spPr>
        <p:txBody>
          <a:bodyPr/>
          <a:lstStyle/>
          <a:p>
            <a:fld id="{C3FFE5A4-DFEE-4EDF-87CD-A33ADA528450}" type="datetimeFigureOut">
              <a:rPr lang="en-US" smtClean="0"/>
              <a:t>5/12/26</a:t>
            </a:fld>
            <a:endParaRPr lang="en-US"/>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16C6FAA7-E426-4F7E-8C8A-64E11EFE5471}" type="slidenum">
              <a:rPr lang="en-US" smtClean="0"/>
              <a:t>‹#›</a:t>
            </a:fld>
            <a:endParaRPr lang="en-US"/>
          </a:p>
        </p:txBody>
      </p:sp>
    </p:spTree>
    <p:extLst>
      <p:ext uri="{BB962C8B-B14F-4D97-AF65-F5344CB8AC3E}">
        <p14:creationId xmlns:p14="http://schemas.microsoft.com/office/powerpoint/2010/main" val="1152029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p:bg>
      <p:bgPr>
        <a:solidFill>
          <a:srgbClr val="1E5C90"/>
        </a:solidFill>
        <a:effectLst/>
      </p:bgPr>
    </p:bg>
    <p:spTree>
      <p:nvGrpSpPr>
        <p:cNvPr id="1" name=""/>
        <p:cNvGrpSpPr/>
        <p:nvPr/>
      </p:nvGrpSpPr>
      <p:grpSpPr>
        <a:xfrm>
          <a:off x="0" y="0"/>
          <a:ext cx="0" cy="0"/>
          <a:chOff x="0" y="0"/>
          <a:chExt cx="0" cy="0"/>
        </a:xfrm>
      </p:grpSpPr>
      <p:sp>
        <p:nvSpPr>
          <p:cNvPr id="13" name="Freeform 12"/>
          <p:cNvSpPr/>
          <p:nvPr/>
        </p:nvSpPr>
        <p:spPr>
          <a:xfrm flipH="1" flipV="1">
            <a:off x="-1" y="-24487"/>
            <a:ext cx="12184781" cy="2515079"/>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 name="connsiteX0" fmla="*/ 2887 w 9170673"/>
              <a:gd name="connsiteY0" fmla="*/ 2375696 h 2508024"/>
              <a:gd name="connsiteX1" fmla="*/ 9170673 w 9170673"/>
              <a:gd name="connsiteY1" fmla="*/ 0 h 2508024"/>
              <a:gd name="connsiteX2" fmla="*/ 9169295 w 9170673"/>
              <a:gd name="connsiteY2" fmla="*/ 2508024 h 2508024"/>
              <a:gd name="connsiteX3" fmla="*/ 0 w 9170673"/>
              <a:gd name="connsiteY3" fmla="*/ 2457785 h 2508024"/>
              <a:gd name="connsiteX4" fmla="*/ 2887 w 9170673"/>
              <a:gd name="connsiteY4" fmla="*/ 2375696 h 2508024"/>
              <a:gd name="connsiteX0" fmla="*/ 0 w 9167786"/>
              <a:gd name="connsiteY0" fmla="*/ 2375696 h 2508024"/>
              <a:gd name="connsiteX1" fmla="*/ 9167786 w 9167786"/>
              <a:gd name="connsiteY1" fmla="*/ 0 h 2508024"/>
              <a:gd name="connsiteX2" fmla="*/ 9166408 w 9167786"/>
              <a:gd name="connsiteY2" fmla="*/ 2508024 h 2508024"/>
              <a:gd name="connsiteX3" fmla="*/ 4169 w 9167786"/>
              <a:gd name="connsiteY3" fmla="*/ 2500118 h 2508024"/>
              <a:gd name="connsiteX4" fmla="*/ 0 w 9167786"/>
              <a:gd name="connsiteY4" fmla="*/ 2375696 h 2508024"/>
              <a:gd name="connsiteX0" fmla="*/ 0 w 9166452"/>
              <a:gd name="connsiteY0" fmla="*/ 2375696 h 2508024"/>
              <a:gd name="connsiteX1" fmla="*/ 9061952 w 9166452"/>
              <a:gd name="connsiteY1" fmla="*/ 0 h 2508024"/>
              <a:gd name="connsiteX2" fmla="*/ 9166408 w 9166452"/>
              <a:gd name="connsiteY2" fmla="*/ 2508024 h 2508024"/>
              <a:gd name="connsiteX3" fmla="*/ 4169 w 9166452"/>
              <a:gd name="connsiteY3" fmla="*/ 2500118 h 2508024"/>
              <a:gd name="connsiteX4" fmla="*/ 0 w 9166452"/>
              <a:gd name="connsiteY4" fmla="*/ 2375696 h 2508024"/>
              <a:gd name="connsiteX0" fmla="*/ 0 w 9166808"/>
              <a:gd name="connsiteY0" fmla="*/ 2382751 h 2515079"/>
              <a:gd name="connsiteX1" fmla="*/ 9160729 w 9166808"/>
              <a:gd name="connsiteY1" fmla="*/ 0 h 2515079"/>
              <a:gd name="connsiteX2" fmla="*/ 9166408 w 9166808"/>
              <a:gd name="connsiteY2" fmla="*/ 2515079 h 2515079"/>
              <a:gd name="connsiteX3" fmla="*/ 4169 w 9166808"/>
              <a:gd name="connsiteY3" fmla="*/ 2507173 h 2515079"/>
              <a:gd name="connsiteX4" fmla="*/ 0 w 9166808"/>
              <a:gd name="connsiteY4" fmla="*/ 2382751 h 2515079"/>
              <a:gd name="connsiteX0" fmla="*/ 9943 w 9162640"/>
              <a:gd name="connsiteY0" fmla="*/ 2382751 h 2515079"/>
              <a:gd name="connsiteX1" fmla="*/ 9156561 w 9162640"/>
              <a:gd name="connsiteY1" fmla="*/ 0 h 2515079"/>
              <a:gd name="connsiteX2" fmla="*/ 9162240 w 9162640"/>
              <a:gd name="connsiteY2" fmla="*/ 2515079 h 2515079"/>
              <a:gd name="connsiteX3" fmla="*/ 1 w 9162640"/>
              <a:gd name="connsiteY3" fmla="*/ 2507173 h 2515079"/>
              <a:gd name="connsiteX4" fmla="*/ 9943 w 9162640"/>
              <a:gd name="connsiteY4" fmla="*/ 2382751 h 2515079"/>
              <a:gd name="connsiteX0" fmla="*/ 0 w 9152697"/>
              <a:gd name="connsiteY0" fmla="*/ 2382751 h 2515079"/>
              <a:gd name="connsiteX1" fmla="*/ 9146618 w 9152697"/>
              <a:gd name="connsiteY1" fmla="*/ 0 h 2515079"/>
              <a:gd name="connsiteX2" fmla="*/ 9152297 w 9152697"/>
              <a:gd name="connsiteY2" fmla="*/ 2515079 h 2515079"/>
              <a:gd name="connsiteX3" fmla="*/ 187614 w 9152697"/>
              <a:gd name="connsiteY3" fmla="*/ 2507173 h 2515079"/>
              <a:gd name="connsiteX4" fmla="*/ 0 w 9152697"/>
              <a:gd name="connsiteY4" fmla="*/ 2382751 h 2515079"/>
              <a:gd name="connsiteX0" fmla="*/ 0 w 9068030"/>
              <a:gd name="connsiteY0" fmla="*/ 2382751 h 2515079"/>
              <a:gd name="connsiteX1" fmla="*/ 9061951 w 9068030"/>
              <a:gd name="connsiteY1" fmla="*/ 0 h 2515079"/>
              <a:gd name="connsiteX2" fmla="*/ 9067630 w 9068030"/>
              <a:gd name="connsiteY2" fmla="*/ 2515079 h 2515079"/>
              <a:gd name="connsiteX3" fmla="*/ 102947 w 9068030"/>
              <a:gd name="connsiteY3" fmla="*/ 2507173 h 2515079"/>
              <a:gd name="connsiteX4" fmla="*/ 0 w 9068030"/>
              <a:gd name="connsiteY4" fmla="*/ 2382751 h 2515079"/>
              <a:gd name="connsiteX0" fmla="*/ 0 w 9138586"/>
              <a:gd name="connsiteY0" fmla="*/ 2382751 h 2515079"/>
              <a:gd name="connsiteX1" fmla="*/ 9132507 w 9138586"/>
              <a:gd name="connsiteY1" fmla="*/ 0 h 2515079"/>
              <a:gd name="connsiteX2" fmla="*/ 9138186 w 9138586"/>
              <a:gd name="connsiteY2" fmla="*/ 2515079 h 2515079"/>
              <a:gd name="connsiteX3" fmla="*/ 173503 w 9138586"/>
              <a:gd name="connsiteY3" fmla="*/ 2507173 h 2515079"/>
              <a:gd name="connsiteX4" fmla="*/ 0 w 9138586"/>
              <a:gd name="connsiteY4" fmla="*/ 2382751 h 2515079"/>
              <a:gd name="connsiteX0" fmla="*/ 0 w 9138586"/>
              <a:gd name="connsiteY0" fmla="*/ 2382751 h 2515079"/>
              <a:gd name="connsiteX1" fmla="*/ 9132507 w 9138586"/>
              <a:gd name="connsiteY1" fmla="*/ 0 h 2515079"/>
              <a:gd name="connsiteX2" fmla="*/ 9138186 w 9138586"/>
              <a:gd name="connsiteY2" fmla="*/ 2515079 h 2515079"/>
              <a:gd name="connsiteX3" fmla="*/ 4170 w 9138586"/>
              <a:gd name="connsiteY3" fmla="*/ 2507173 h 2515079"/>
              <a:gd name="connsiteX4" fmla="*/ 0 w 9138586"/>
              <a:gd name="connsiteY4" fmla="*/ 2382751 h 2515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8586" h="2515079">
                <a:moveTo>
                  <a:pt x="0" y="2382751"/>
                </a:moveTo>
                <a:cubicBezTo>
                  <a:pt x="20661" y="2379422"/>
                  <a:pt x="7306149" y="2502055"/>
                  <a:pt x="9132507" y="0"/>
                </a:cubicBezTo>
                <a:cubicBezTo>
                  <a:pt x="9129925" y="819774"/>
                  <a:pt x="9140768" y="1695305"/>
                  <a:pt x="9138186" y="2515079"/>
                </a:cubicBezTo>
                <a:lnTo>
                  <a:pt x="4170" y="2507173"/>
                </a:lnTo>
                <a:cubicBezTo>
                  <a:pt x="4169" y="2465011"/>
                  <a:pt x="1" y="2424913"/>
                  <a:pt x="0" y="2382751"/>
                </a:cubicBez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bg1"/>
              </a:solidFill>
            </a:endParaRPr>
          </a:p>
        </p:txBody>
      </p:sp>
      <p:sp>
        <p:nvSpPr>
          <p:cNvPr id="2" name="Title 1"/>
          <p:cNvSpPr>
            <a:spLocks noGrp="1"/>
          </p:cNvSpPr>
          <p:nvPr>
            <p:ph type="title" hasCustomPrompt="1"/>
          </p:nvPr>
        </p:nvSpPr>
        <p:spPr>
          <a:xfrm>
            <a:off x="609599" y="457169"/>
            <a:ext cx="10972800" cy="772250"/>
          </a:xfrm>
        </p:spPr>
        <p:txBody>
          <a:bodyPr anchor="t"/>
          <a:lstStyle>
            <a:lvl1pPr algn="l">
              <a:defRPr sz="4000" b="1" cap="none">
                <a:solidFill>
                  <a:srgbClr val="FFFFFF"/>
                </a:solidFill>
              </a:defRPr>
            </a:lvl1pPr>
          </a:lstStyle>
          <a:p>
            <a:r>
              <a:rPr lang="en-US" dirty="0"/>
              <a:t>Click to edit master title style</a:t>
            </a:r>
          </a:p>
        </p:txBody>
      </p:sp>
      <p:sp>
        <p:nvSpPr>
          <p:cNvPr id="3" name="Text Placeholder 2"/>
          <p:cNvSpPr>
            <a:spLocks noGrp="1"/>
          </p:cNvSpPr>
          <p:nvPr>
            <p:ph type="body" idx="1"/>
          </p:nvPr>
        </p:nvSpPr>
        <p:spPr>
          <a:xfrm>
            <a:off x="609600" y="1415623"/>
            <a:ext cx="10972800" cy="1500187"/>
          </a:xfrm>
        </p:spPr>
        <p:txBody>
          <a:bodyPr anchor="t" anchorCtr="0"/>
          <a:lstStyle>
            <a:lvl1pPr marL="0" indent="0" algn="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solidFill>
                  <a:srgbClr val="FFFFFF"/>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2973011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hoto Divider">
    <p:spTree>
      <p:nvGrpSpPr>
        <p:cNvPr id="1" name=""/>
        <p:cNvGrpSpPr/>
        <p:nvPr/>
      </p:nvGrpSpPr>
      <p:grpSpPr>
        <a:xfrm>
          <a:off x="0" y="0"/>
          <a:ext cx="0" cy="0"/>
          <a:chOff x="0" y="0"/>
          <a:chExt cx="0" cy="0"/>
        </a:xfrm>
      </p:grpSpPr>
      <p:sp>
        <p:nvSpPr>
          <p:cNvPr id="13" name="Freeform 12"/>
          <p:cNvSpPr/>
          <p:nvPr/>
        </p:nvSpPr>
        <p:spPr>
          <a:xfrm flipH="1" flipV="1">
            <a:off x="-25423" y="-30696"/>
            <a:ext cx="12227564" cy="2457785"/>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673" h="2457785">
                <a:moveTo>
                  <a:pt x="2887" y="2375696"/>
                </a:moveTo>
                <a:cubicBezTo>
                  <a:pt x="23548" y="2372367"/>
                  <a:pt x="7344315" y="2502055"/>
                  <a:pt x="9170673" y="0"/>
                </a:cubicBezTo>
                <a:cubicBezTo>
                  <a:pt x="9168091" y="819774"/>
                  <a:pt x="9157766" y="1631806"/>
                  <a:pt x="9155184" y="2451580"/>
                </a:cubicBezTo>
                <a:lnTo>
                  <a:pt x="0" y="2457785"/>
                </a:lnTo>
                <a:cubicBezTo>
                  <a:pt x="-1" y="2415623"/>
                  <a:pt x="2888" y="2417858"/>
                  <a:pt x="2887" y="2375696"/>
                </a:cubicBezTo>
                <a:close/>
              </a:path>
            </a:pathLst>
          </a:custGeom>
          <a:solidFill>
            <a:schemeClr val="bg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bg1"/>
              </a:solidFill>
            </a:endParaRPr>
          </a:p>
        </p:txBody>
      </p:sp>
      <p:sp>
        <p:nvSpPr>
          <p:cNvPr id="2" name="Title 1"/>
          <p:cNvSpPr>
            <a:spLocks noGrp="1"/>
          </p:cNvSpPr>
          <p:nvPr>
            <p:ph type="title" hasCustomPrompt="1"/>
          </p:nvPr>
        </p:nvSpPr>
        <p:spPr>
          <a:xfrm>
            <a:off x="609599" y="457200"/>
            <a:ext cx="10972800" cy="772250"/>
          </a:xfrm>
          <a:effectLst>
            <a:outerShdw blurRad="50800" dist="38100" dir="2700000" algn="tl" rotWithShape="0">
              <a:prstClr val="black">
                <a:alpha val="40000"/>
              </a:prstClr>
            </a:outerShdw>
          </a:effectLst>
        </p:spPr>
        <p:txBody>
          <a:bodyPr anchor="t"/>
          <a:lstStyle>
            <a:lvl1pPr algn="l">
              <a:defRPr sz="4000" b="1" cap="none">
                <a:solidFill>
                  <a:srgbClr val="FFFFFF"/>
                </a:solidFill>
              </a:defRPr>
            </a:lvl1pPr>
          </a:lstStyle>
          <a:p>
            <a:r>
              <a:rPr lang="en-US" dirty="0"/>
              <a:t>Click to edit master title style</a:t>
            </a:r>
          </a:p>
        </p:txBody>
      </p:sp>
      <p:sp>
        <p:nvSpPr>
          <p:cNvPr id="3" name="Text Placeholder 2"/>
          <p:cNvSpPr>
            <a:spLocks noGrp="1"/>
          </p:cNvSpPr>
          <p:nvPr>
            <p:ph type="body" idx="1"/>
          </p:nvPr>
        </p:nvSpPr>
        <p:spPr>
          <a:xfrm>
            <a:off x="609600" y="1415654"/>
            <a:ext cx="10972800" cy="1500187"/>
          </a:xfrm>
          <a:effectLst>
            <a:outerShdw blurRad="50800" dist="38100" dir="2700000" algn="tl" rotWithShape="0">
              <a:prstClr val="black">
                <a:alpha val="40000"/>
              </a:prstClr>
            </a:outerShdw>
          </a:effectLst>
        </p:spPr>
        <p:txBody>
          <a:bodyPr anchor="t" anchorCtr="0"/>
          <a:lstStyle>
            <a:lvl1pPr marL="0" indent="0" algn="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3"/>
          <p:cNvSpPr>
            <a:spLocks noGrp="1"/>
          </p:cNvSpPr>
          <p:nvPr>
            <p:ph type="sldNum" sz="quarter" idx="14"/>
          </p:nvPr>
        </p:nvSpPr>
        <p:spPr/>
        <p:txBody>
          <a:bodyPr/>
          <a:lstStyle>
            <a:lvl1pPr>
              <a:defRPr>
                <a:solidFill>
                  <a:schemeClr val="bg1"/>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spTree>
    <p:extLst>
      <p:ext uri="{BB962C8B-B14F-4D97-AF65-F5344CB8AC3E}">
        <p14:creationId xmlns:p14="http://schemas.microsoft.com/office/powerpoint/2010/main" val="1314466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1" cstate="print">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68909" y="1141666"/>
            <a:ext cx="7313491" cy="1398472"/>
          </a:xfrm>
          <a:prstGeom prst="rect">
            <a:avLst/>
          </a:prstGeom>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268910" y="2631404"/>
            <a:ext cx="7313489" cy="1277675"/>
          </a:xfrm>
          <a:prstGeom prst="rect">
            <a:avLst/>
          </a:prstGeom>
        </p:spPr>
        <p:txBody>
          <a:bodyPr vert="horz" lIns="91440" tIns="45720" rIns="91440" bIns="45720" rtlCol="0">
            <a:normAutofit/>
          </a:bodyPr>
          <a:lstStyle/>
          <a:p>
            <a:pPr lvl="0"/>
            <a:r>
              <a:rPr lang="en-US" dirty="0"/>
              <a:t>Click to edit Master text styles</a:t>
            </a:r>
          </a:p>
        </p:txBody>
      </p:sp>
      <p:sp>
        <p:nvSpPr>
          <p:cNvPr id="7" name="Freeform 6"/>
          <p:cNvSpPr/>
          <p:nvPr/>
        </p:nvSpPr>
        <p:spPr>
          <a:xfrm>
            <a:off x="-12253" y="4417161"/>
            <a:ext cx="12227564" cy="2457785"/>
          </a:xfrm>
          <a:custGeom>
            <a:avLst/>
            <a:gdLst>
              <a:gd name="connsiteX0" fmla="*/ 0 w 10289745"/>
              <a:gd name="connsiteY0" fmla="*/ 2348314 h 2694297"/>
              <a:gd name="connsiteX1" fmla="*/ 9145997 w 10289745"/>
              <a:gd name="connsiteY1" fmla="*/ 81 h 2694297"/>
              <a:gd name="connsiteX2" fmla="*/ 9145997 w 10289745"/>
              <a:gd name="connsiteY2" fmla="*/ 2436173 h 2694297"/>
              <a:gd name="connsiteX3" fmla="*/ 0 w 10289745"/>
              <a:gd name="connsiteY3" fmla="*/ 2348314 h 2694297"/>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0 w 10289745"/>
              <a:gd name="connsiteY0" fmla="*/ 2348233 h 2694216"/>
              <a:gd name="connsiteX1" fmla="*/ 9145997 w 10289745"/>
              <a:gd name="connsiteY1" fmla="*/ 0 h 2694216"/>
              <a:gd name="connsiteX2" fmla="*/ 9145997 w 10289745"/>
              <a:gd name="connsiteY2" fmla="*/ 2436092 h 2694216"/>
              <a:gd name="connsiteX3" fmla="*/ 0 w 10289745"/>
              <a:gd name="connsiteY3" fmla="*/ 2348233 h 2694216"/>
              <a:gd name="connsiteX0" fmla="*/ 2 w 10271923"/>
              <a:gd name="connsiteY0" fmla="*/ 1961048 h 2259210"/>
              <a:gd name="connsiteX1" fmla="*/ 9115022 w 10271923"/>
              <a:gd name="connsiteY1" fmla="*/ 0 h 2259210"/>
              <a:gd name="connsiteX2" fmla="*/ 9145999 w 10271923"/>
              <a:gd name="connsiteY2" fmla="*/ 2048907 h 2259210"/>
              <a:gd name="connsiteX3" fmla="*/ 2 w 10271923"/>
              <a:gd name="connsiteY3" fmla="*/ 1961048 h 2259210"/>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2 w 10302372"/>
              <a:gd name="connsiteY0" fmla="*/ 2355976 h 2702917"/>
              <a:gd name="connsiteX1" fmla="*/ 9169232 w 10302372"/>
              <a:gd name="connsiteY1" fmla="*/ 0 h 2702917"/>
              <a:gd name="connsiteX2" fmla="*/ 9145999 w 10302372"/>
              <a:gd name="connsiteY2" fmla="*/ 2443835 h 2702917"/>
              <a:gd name="connsiteX3" fmla="*/ 2 w 10302372"/>
              <a:gd name="connsiteY3" fmla="*/ 2355976 h 2702917"/>
              <a:gd name="connsiteX0" fmla="*/ 1 w 10359948"/>
              <a:gd name="connsiteY0" fmla="*/ 2534080 h 2803153"/>
              <a:gd name="connsiteX1" fmla="*/ 9223441 w 10359948"/>
              <a:gd name="connsiteY1" fmla="*/ 0 h 2803153"/>
              <a:gd name="connsiteX2" fmla="*/ 9200208 w 10359948"/>
              <a:gd name="connsiteY2" fmla="*/ 2443835 h 2803153"/>
              <a:gd name="connsiteX3" fmla="*/ 1 w 10359948"/>
              <a:gd name="connsiteY3" fmla="*/ 2534080 h 2803153"/>
              <a:gd name="connsiteX0" fmla="*/ 2 w 10302373"/>
              <a:gd name="connsiteY0" fmla="*/ 2371463 h 2710654"/>
              <a:gd name="connsiteX1" fmla="*/ 9169233 w 10302373"/>
              <a:gd name="connsiteY1" fmla="*/ 0 h 2710654"/>
              <a:gd name="connsiteX2" fmla="*/ 9146000 w 10302373"/>
              <a:gd name="connsiteY2" fmla="*/ 2443835 h 2710654"/>
              <a:gd name="connsiteX3" fmla="*/ 2 w 10302373"/>
              <a:gd name="connsiteY3" fmla="*/ 2371463 h 2710654"/>
              <a:gd name="connsiteX0" fmla="*/ 22101 w 10324472"/>
              <a:gd name="connsiteY0" fmla="*/ 2371463 h 2601940"/>
              <a:gd name="connsiteX1" fmla="*/ 9191332 w 10324472"/>
              <a:gd name="connsiteY1" fmla="*/ 0 h 2601940"/>
              <a:gd name="connsiteX2" fmla="*/ 9168099 w 10324472"/>
              <a:gd name="connsiteY2" fmla="*/ 2443835 h 2601940"/>
              <a:gd name="connsiteX3" fmla="*/ 22101 w 10324472"/>
              <a:gd name="connsiteY3" fmla="*/ 2371463 h 2601940"/>
              <a:gd name="connsiteX0" fmla="*/ 454248 w 10756619"/>
              <a:gd name="connsiteY0" fmla="*/ 2371463 h 2635640"/>
              <a:gd name="connsiteX1" fmla="*/ 9623479 w 10756619"/>
              <a:gd name="connsiteY1" fmla="*/ 0 h 2635640"/>
              <a:gd name="connsiteX2" fmla="*/ 9600246 w 10756619"/>
              <a:gd name="connsiteY2" fmla="*/ 2443835 h 2635640"/>
              <a:gd name="connsiteX3" fmla="*/ 2243166 w 10756619"/>
              <a:gd name="connsiteY3" fmla="*/ 2466974 h 2635640"/>
              <a:gd name="connsiteX4" fmla="*/ 454248 w 10756619"/>
              <a:gd name="connsiteY4" fmla="*/ 2371463 h 2635640"/>
              <a:gd name="connsiteX0" fmla="*/ 1153431 w 11456764"/>
              <a:gd name="connsiteY0" fmla="*/ 2371463 h 2641277"/>
              <a:gd name="connsiteX1" fmla="*/ 10322662 w 11456764"/>
              <a:gd name="connsiteY1" fmla="*/ 0 h 2641277"/>
              <a:gd name="connsiteX2" fmla="*/ 10299429 w 11456764"/>
              <a:gd name="connsiteY2" fmla="*/ 2443835 h 2641277"/>
              <a:gd name="connsiteX3" fmla="*/ 1137944 w 11456764"/>
              <a:gd name="connsiteY3" fmla="*/ 2482461 h 2641277"/>
              <a:gd name="connsiteX4" fmla="*/ 1153431 w 11456764"/>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641277"/>
              <a:gd name="connsiteX1" fmla="*/ 9184718 w 10318820"/>
              <a:gd name="connsiteY1" fmla="*/ 0 h 2641277"/>
              <a:gd name="connsiteX2" fmla="*/ 9161485 w 10318820"/>
              <a:gd name="connsiteY2" fmla="*/ 2443835 h 2641277"/>
              <a:gd name="connsiteX3" fmla="*/ 0 w 10318820"/>
              <a:gd name="connsiteY3" fmla="*/ 2482461 h 2641277"/>
              <a:gd name="connsiteX4" fmla="*/ 15487 w 10318820"/>
              <a:gd name="connsiteY4" fmla="*/ 2371463 h 2641277"/>
              <a:gd name="connsiteX0" fmla="*/ 15487 w 10318820"/>
              <a:gd name="connsiteY0" fmla="*/ 2371463 h 2482461"/>
              <a:gd name="connsiteX1" fmla="*/ 9184718 w 10318820"/>
              <a:gd name="connsiteY1" fmla="*/ 0 h 2482461"/>
              <a:gd name="connsiteX2" fmla="*/ 9161485 w 10318820"/>
              <a:gd name="connsiteY2" fmla="*/ 2443835 h 2482461"/>
              <a:gd name="connsiteX3" fmla="*/ 0 w 10318820"/>
              <a:gd name="connsiteY3" fmla="*/ 2482461 h 2482461"/>
              <a:gd name="connsiteX4" fmla="*/ 15487 w 10318820"/>
              <a:gd name="connsiteY4" fmla="*/ 2371463 h 2482461"/>
              <a:gd name="connsiteX0" fmla="*/ 15487 w 10252186"/>
              <a:gd name="connsiteY0" fmla="*/ 2371463 h 2482461"/>
              <a:gd name="connsiteX1" fmla="*/ 9184718 w 10252186"/>
              <a:gd name="connsiteY1" fmla="*/ 0 h 2482461"/>
              <a:gd name="connsiteX2" fmla="*/ 9022088 w 10252186"/>
              <a:gd name="connsiteY2" fmla="*/ 2242499 h 2482461"/>
              <a:gd name="connsiteX3" fmla="*/ 0 w 10252186"/>
              <a:gd name="connsiteY3" fmla="*/ 2482461 h 2482461"/>
              <a:gd name="connsiteX4" fmla="*/ 15487 w 10252186"/>
              <a:gd name="connsiteY4" fmla="*/ 2371463 h 2482461"/>
              <a:gd name="connsiteX0" fmla="*/ 15487 w 10311181"/>
              <a:gd name="connsiteY0" fmla="*/ 2371463 h 2482461"/>
              <a:gd name="connsiteX1" fmla="*/ 9184718 w 10311181"/>
              <a:gd name="connsiteY1" fmla="*/ 0 h 2482461"/>
              <a:gd name="connsiteX2" fmla="*/ 9145996 w 10311181"/>
              <a:gd name="connsiteY2" fmla="*/ 2443835 h 2482461"/>
              <a:gd name="connsiteX3" fmla="*/ 0 w 10311181"/>
              <a:gd name="connsiteY3" fmla="*/ 2482461 h 2482461"/>
              <a:gd name="connsiteX4" fmla="*/ 15487 w 10311181"/>
              <a:gd name="connsiteY4" fmla="*/ 2371463 h 2482461"/>
              <a:gd name="connsiteX0" fmla="*/ 15487 w 9184718"/>
              <a:gd name="connsiteY0" fmla="*/ 2371463 h 2482461"/>
              <a:gd name="connsiteX1" fmla="*/ 9184718 w 9184718"/>
              <a:gd name="connsiteY1" fmla="*/ 0 h 2482461"/>
              <a:gd name="connsiteX2" fmla="*/ 9145996 w 9184718"/>
              <a:gd name="connsiteY2" fmla="*/ 2443835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15487 w 9184718"/>
              <a:gd name="connsiteY0" fmla="*/ 2371463 h 2482461"/>
              <a:gd name="connsiteX1" fmla="*/ 9184718 w 9184718"/>
              <a:gd name="connsiteY1" fmla="*/ 0 h 2482461"/>
              <a:gd name="connsiteX2" fmla="*/ 9176973 w 9184718"/>
              <a:gd name="connsiteY2" fmla="*/ 2459323 h 2482461"/>
              <a:gd name="connsiteX3" fmla="*/ 0 w 9184718"/>
              <a:gd name="connsiteY3" fmla="*/ 2482461 h 2482461"/>
              <a:gd name="connsiteX4" fmla="*/ 15487 w 9184718"/>
              <a:gd name="connsiteY4" fmla="*/ 2371463 h 2482461"/>
              <a:gd name="connsiteX0" fmla="*/ 0 w 9215696"/>
              <a:gd name="connsiteY0" fmla="*/ 2371463 h 2482461"/>
              <a:gd name="connsiteX1" fmla="*/ 9215696 w 9215696"/>
              <a:gd name="connsiteY1" fmla="*/ 0 h 2482461"/>
              <a:gd name="connsiteX2" fmla="*/ 9207951 w 9215696"/>
              <a:gd name="connsiteY2" fmla="*/ 2459323 h 2482461"/>
              <a:gd name="connsiteX3" fmla="*/ 30978 w 9215696"/>
              <a:gd name="connsiteY3" fmla="*/ 2482461 h 2482461"/>
              <a:gd name="connsiteX4" fmla="*/ 0 w 9215696"/>
              <a:gd name="connsiteY4" fmla="*/ 2371463 h 2482461"/>
              <a:gd name="connsiteX0" fmla="*/ 0 w 9215696"/>
              <a:gd name="connsiteY0" fmla="*/ 2371463 h 2497949"/>
              <a:gd name="connsiteX1" fmla="*/ 9215696 w 9215696"/>
              <a:gd name="connsiteY1" fmla="*/ 0 h 2497949"/>
              <a:gd name="connsiteX2" fmla="*/ 9207951 w 9215696"/>
              <a:gd name="connsiteY2" fmla="*/ 2459323 h 2497949"/>
              <a:gd name="connsiteX3" fmla="*/ 2 w 9215696"/>
              <a:gd name="connsiteY3" fmla="*/ 2497949 h 2497949"/>
              <a:gd name="connsiteX4" fmla="*/ 0 w 9215696"/>
              <a:gd name="connsiteY4" fmla="*/ 2371463 h 2497949"/>
              <a:gd name="connsiteX0" fmla="*/ 0 w 9215696"/>
              <a:gd name="connsiteY0" fmla="*/ 2371463 h 2474718"/>
              <a:gd name="connsiteX1" fmla="*/ 9215696 w 9215696"/>
              <a:gd name="connsiteY1" fmla="*/ 0 h 2474718"/>
              <a:gd name="connsiteX2" fmla="*/ 9207951 w 9215696"/>
              <a:gd name="connsiteY2" fmla="*/ 2459323 h 2474718"/>
              <a:gd name="connsiteX3" fmla="*/ 30979 w 9215696"/>
              <a:gd name="connsiteY3" fmla="*/ 2474718 h 2474718"/>
              <a:gd name="connsiteX4" fmla="*/ 0 w 9215696"/>
              <a:gd name="connsiteY4" fmla="*/ 2371463 h 2474718"/>
              <a:gd name="connsiteX0" fmla="*/ 0 w 9208117"/>
              <a:gd name="connsiteY0" fmla="*/ 2371463 h 2474718"/>
              <a:gd name="connsiteX1" fmla="*/ 9184719 w 9208117"/>
              <a:gd name="connsiteY1" fmla="*/ 0 h 2474718"/>
              <a:gd name="connsiteX2" fmla="*/ 9207951 w 9208117"/>
              <a:gd name="connsiteY2" fmla="*/ 2459323 h 2474718"/>
              <a:gd name="connsiteX3" fmla="*/ 30979 w 9208117"/>
              <a:gd name="connsiteY3" fmla="*/ 2474718 h 2474718"/>
              <a:gd name="connsiteX4" fmla="*/ 0 w 9208117"/>
              <a:gd name="connsiteY4" fmla="*/ 2371463 h 2474718"/>
              <a:gd name="connsiteX0" fmla="*/ 0 w 9184719"/>
              <a:gd name="connsiteY0" fmla="*/ 2371463 h 2474718"/>
              <a:gd name="connsiteX1" fmla="*/ 9184719 w 9184719"/>
              <a:gd name="connsiteY1" fmla="*/ 0 h 2474718"/>
              <a:gd name="connsiteX2" fmla="*/ 9115020 w 9184719"/>
              <a:gd name="connsiteY2" fmla="*/ 2381886 h 2474718"/>
              <a:gd name="connsiteX3" fmla="*/ 30979 w 9184719"/>
              <a:gd name="connsiteY3" fmla="*/ 2474718 h 2474718"/>
              <a:gd name="connsiteX4" fmla="*/ 0 w 9184719"/>
              <a:gd name="connsiteY4" fmla="*/ 2371463 h 2474718"/>
              <a:gd name="connsiteX0" fmla="*/ 0 w 9184719"/>
              <a:gd name="connsiteY0" fmla="*/ 2371463 h 2474718"/>
              <a:gd name="connsiteX1" fmla="*/ 9184719 w 9184719"/>
              <a:gd name="connsiteY1" fmla="*/ 0 h 2474718"/>
              <a:gd name="connsiteX2" fmla="*/ 9169230 w 9184719"/>
              <a:gd name="connsiteY2" fmla="*/ 2451580 h 2474718"/>
              <a:gd name="connsiteX3" fmla="*/ 30979 w 9184719"/>
              <a:gd name="connsiteY3" fmla="*/ 2474718 h 2474718"/>
              <a:gd name="connsiteX4" fmla="*/ 0 w 9184719"/>
              <a:gd name="connsiteY4" fmla="*/ 2371463 h 2474718"/>
              <a:gd name="connsiteX0" fmla="*/ 0 w 9167786"/>
              <a:gd name="connsiteY0" fmla="*/ 2375696 h 2474718"/>
              <a:gd name="connsiteX1" fmla="*/ 9167786 w 9167786"/>
              <a:gd name="connsiteY1" fmla="*/ 0 h 2474718"/>
              <a:gd name="connsiteX2" fmla="*/ 9152297 w 9167786"/>
              <a:gd name="connsiteY2" fmla="*/ 2451580 h 2474718"/>
              <a:gd name="connsiteX3" fmla="*/ 14046 w 9167786"/>
              <a:gd name="connsiteY3" fmla="*/ 2474718 h 2474718"/>
              <a:gd name="connsiteX4" fmla="*/ 0 w 9167786"/>
              <a:gd name="connsiteY4" fmla="*/ 2375696 h 2474718"/>
              <a:gd name="connsiteX0" fmla="*/ 2887 w 9170673"/>
              <a:gd name="connsiteY0" fmla="*/ 2375696 h 2474718"/>
              <a:gd name="connsiteX1" fmla="*/ 9170673 w 9170673"/>
              <a:gd name="connsiteY1" fmla="*/ 0 h 2474718"/>
              <a:gd name="connsiteX2" fmla="*/ 9155184 w 9170673"/>
              <a:gd name="connsiteY2" fmla="*/ 2451580 h 2474718"/>
              <a:gd name="connsiteX3" fmla="*/ 0 w 9170673"/>
              <a:gd name="connsiteY3" fmla="*/ 2474718 h 2474718"/>
              <a:gd name="connsiteX4" fmla="*/ 2887 w 9170673"/>
              <a:gd name="connsiteY4" fmla="*/ 2375696 h 2474718"/>
              <a:gd name="connsiteX0" fmla="*/ 2887 w 9170673"/>
              <a:gd name="connsiteY0" fmla="*/ 2375696 h 2457785"/>
              <a:gd name="connsiteX1" fmla="*/ 9170673 w 9170673"/>
              <a:gd name="connsiteY1" fmla="*/ 0 h 2457785"/>
              <a:gd name="connsiteX2" fmla="*/ 9155184 w 9170673"/>
              <a:gd name="connsiteY2" fmla="*/ 2451580 h 2457785"/>
              <a:gd name="connsiteX3" fmla="*/ 0 w 9170673"/>
              <a:gd name="connsiteY3" fmla="*/ 2457785 h 2457785"/>
              <a:gd name="connsiteX4" fmla="*/ 2887 w 9170673"/>
              <a:gd name="connsiteY4" fmla="*/ 2375696 h 2457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0673" h="2457785">
                <a:moveTo>
                  <a:pt x="2887" y="2375696"/>
                </a:moveTo>
                <a:cubicBezTo>
                  <a:pt x="23548" y="2372367"/>
                  <a:pt x="7344315" y="2502055"/>
                  <a:pt x="9170673" y="0"/>
                </a:cubicBezTo>
                <a:cubicBezTo>
                  <a:pt x="9168091" y="819774"/>
                  <a:pt x="9157766" y="1631806"/>
                  <a:pt x="9155184" y="2451580"/>
                </a:cubicBezTo>
                <a:lnTo>
                  <a:pt x="0" y="2457785"/>
                </a:lnTo>
                <a:cubicBezTo>
                  <a:pt x="-1" y="2415623"/>
                  <a:pt x="2888" y="2417858"/>
                  <a:pt x="2887" y="2375696"/>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7255494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r" defTabSz="457200" rtl="0" eaLnBrk="1" latinLnBrk="0" hangingPunct="1">
        <a:lnSpc>
          <a:spcPct val="80000"/>
        </a:lnSpc>
        <a:spcBef>
          <a:spcPct val="0"/>
        </a:spcBef>
        <a:buNone/>
        <a:defRPr sz="4400" b="1" i="0" kern="1200">
          <a:solidFill>
            <a:schemeClr val="accent1"/>
          </a:solidFill>
          <a:latin typeface="+mj-lt"/>
          <a:ea typeface="+mj-ea"/>
          <a:cs typeface="Arial Narrow Bold"/>
        </a:defRPr>
      </a:lvl1pPr>
    </p:titleStyle>
    <p:bodyStyle>
      <a:lvl1pPr marL="0" indent="0" algn="r" defTabSz="457200" rtl="0" eaLnBrk="1" latinLnBrk="0" hangingPunct="1">
        <a:spcBef>
          <a:spcPct val="20000"/>
        </a:spcBef>
        <a:buFont typeface="Arial"/>
        <a:buNone/>
        <a:defRPr sz="2400" kern="1200">
          <a:solidFill>
            <a:schemeClr val="tx2"/>
          </a:solidFill>
          <a:latin typeface="+mn-lt"/>
          <a:ea typeface="+mn-ea"/>
          <a:cs typeface="+mn-cs"/>
        </a:defRPr>
      </a:lvl1pPr>
      <a:lvl2pPr marL="742950" indent="-285750" algn="l" defTabSz="457200" rtl="0" eaLnBrk="1" latinLnBrk="0" hangingPunct="1">
        <a:spcBef>
          <a:spcPct val="20000"/>
        </a:spcBef>
        <a:buFont typeface="Arial"/>
        <a:buChar char="•"/>
        <a:defRPr sz="32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8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8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5080"/>
            <a:ext cx="121920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609600" y="457200"/>
            <a:ext cx="10972800" cy="676014"/>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207294"/>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3048000" y="6355081"/>
            <a:ext cx="8534401" cy="502919"/>
          </a:xfrm>
          <a:prstGeom prst="rect">
            <a:avLst/>
          </a:prstGeom>
        </p:spPr>
        <p:txBody>
          <a:bodyPr vert="horz" lIns="0" tIns="45720" rIns="0" bIns="45720" rtlCol="0" anchor="ctr"/>
          <a:lstStyle>
            <a:lvl1pPr algn="r">
              <a:defRPr sz="800">
                <a:solidFill>
                  <a:srgbClr val="000000"/>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sp>
        <p:nvSpPr>
          <p:cNvPr id="7" name="Rectangle 6"/>
          <p:cNvSpPr/>
          <p:nvPr/>
        </p:nvSpPr>
        <p:spPr>
          <a:xfrm>
            <a:off x="0" y="0"/>
            <a:ext cx="12192000" cy="914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8" name="Picture 7" descr="NOAA-Fisheries-horizontal.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2672" y="6419089"/>
            <a:ext cx="2191920" cy="388747"/>
          </a:xfrm>
          <a:prstGeom prst="rect">
            <a:avLst/>
          </a:prstGeom>
        </p:spPr>
      </p:pic>
    </p:spTree>
    <p:extLst>
      <p:ext uri="{BB962C8B-B14F-4D97-AF65-F5344CB8AC3E}">
        <p14:creationId xmlns:p14="http://schemas.microsoft.com/office/powerpoint/2010/main" val="176905534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hf hdr="0"/>
  <p:txStyles>
    <p:titleStyle>
      <a:lvl1pPr algn="l" defTabSz="457200" rtl="0" eaLnBrk="1" latinLnBrk="0" hangingPunct="1">
        <a:spcBef>
          <a:spcPct val="0"/>
        </a:spcBef>
        <a:buNone/>
        <a:defRPr sz="3600" b="1" i="0" kern="1200">
          <a:solidFill>
            <a:schemeClr val="accent1"/>
          </a:solidFill>
          <a:latin typeface="+mj-lt"/>
          <a:ea typeface="+mj-ea"/>
          <a:cs typeface="Arial Narrow Bold"/>
        </a:defRPr>
      </a:lvl1pPr>
    </p:titleStyle>
    <p:bodyStyle>
      <a:lvl1pPr marL="342900" indent="-342900" algn="l" defTabSz="457200" rtl="0" eaLnBrk="1" latinLnBrk="0" hangingPunct="1">
        <a:spcBef>
          <a:spcPct val="20000"/>
        </a:spcBef>
        <a:buFont typeface="Arial"/>
        <a:buChar char="•"/>
        <a:defRPr sz="3200" kern="1200">
          <a:solidFill>
            <a:schemeClr val="tx2"/>
          </a:solidFill>
          <a:latin typeface="+mn-lt"/>
          <a:ea typeface="+mn-ea"/>
          <a:cs typeface="+mn-cs"/>
        </a:defRPr>
      </a:lvl1pPr>
      <a:lvl2pPr marL="742950" indent="-285750" algn="l" defTabSz="457200" rtl="0" eaLnBrk="1" latinLnBrk="0" hangingPunct="1">
        <a:spcBef>
          <a:spcPct val="20000"/>
        </a:spcBef>
        <a:buFont typeface="Arial"/>
        <a:buChar char="•"/>
        <a:defRPr sz="32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8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8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355080"/>
            <a:ext cx="1219200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609600" y="457200"/>
            <a:ext cx="10972800" cy="676014"/>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207294"/>
            <a:ext cx="10972800" cy="4525963"/>
          </a:xfrm>
          <a:prstGeom prst="rect">
            <a:avLst/>
          </a:prstGeom>
        </p:spPr>
        <p:txBody>
          <a:bodyPr vert="horz" lIns="91440" tIns="45720" rIns="91440" bIns="45720" rtlCol="0">
            <a:normAutofit/>
          </a:bodyPr>
          <a:lstStyle/>
          <a:p>
            <a:pPr lvl="0"/>
            <a:r>
              <a:rPr lang="en-US" dirty="0"/>
              <a:t>Click to edit Master text styles</a:t>
            </a:r>
          </a:p>
        </p:txBody>
      </p:sp>
      <p:sp>
        <p:nvSpPr>
          <p:cNvPr id="6" name="Slide Number Placeholder 5"/>
          <p:cNvSpPr>
            <a:spLocks noGrp="1"/>
          </p:cNvSpPr>
          <p:nvPr>
            <p:ph type="sldNum" sz="quarter" idx="4"/>
          </p:nvPr>
        </p:nvSpPr>
        <p:spPr>
          <a:xfrm>
            <a:off x="3048000" y="6355081"/>
            <a:ext cx="8534401" cy="502919"/>
          </a:xfrm>
          <a:prstGeom prst="rect">
            <a:avLst/>
          </a:prstGeom>
        </p:spPr>
        <p:txBody>
          <a:bodyPr vert="horz" lIns="0" tIns="45720" rIns="0" bIns="45720" rtlCol="0" anchor="ctr"/>
          <a:lstStyle>
            <a:lvl1pPr algn="r">
              <a:defRPr sz="800">
                <a:solidFill>
                  <a:schemeClr val="bg1"/>
                </a:solidFill>
              </a:defRPr>
            </a:lvl1pPr>
          </a:lstStyle>
          <a:p>
            <a:r>
              <a:rPr lang="en-US" dirty="0"/>
              <a:t>U.S. Department of Commerce | National Oceanic and Atmospheric Administration | NOAA Fisheries | Page </a:t>
            </a:r>
            <a:fld id="{632D3AEB-7CBE-3049-91AC-335C6B4F5BF6}" type="slidenum">
              <a:rPr lang="en-US" smtClean="0"/>
              <a:pPr/>
              <a:t>‹#›</a:t>
            </a:fld>
            <a:endParaRPr lang="en-US" dirty="0"/>
          </a:p>
        </p:txBody>
      </p:sp>
      <p:pic>
        <p:nvPicPr>
          <p:cNvPr id="8" name="Pictur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92674" y="6419089"/>
            <a:ext cx="2191917" cy="388747"/>
          </a:xfrm>
          <a:prstGeom prst="rect">
            <a:avLst/>
          </a:prstGeom>
        </p:spPr>
      </p:pic>
    </p:spTree>
    <p:extLst>
      <p:ext uri="{BB962C8B-B14F-4D97-AF65-F5344CB8AC3E}">
        <p14:creationId xmlns:p14="http://schemas.microsoft.com/office/powerpoint/2010/main" val="3217098850"/>
      </p:ext>
    </p:extLst>
  </p:cSld>
  <p:clrMap bg1="lt1" tx1="dk1" bg2="lt2" tx2="dk2" accent1="accent1" accent2="accent2" accent3="accent3" accent4="accent4" accent5="accent5" accent6="accent6" hlink="hlink" folHlink="folHlink"/>
  <p:sldLayoutIdLst>
    <p:sldLayoutId id="2147483675" r:id="rId1"/>
    <p:sldLayoutId id="2147483676" r:id="rId2"/>
  </p:sldLayoutIdLst>
  <p:hf hdr="0"/>
  <p:txStyles>
    <p:titleStyle>
      <a:lvl1pPr algn="l" defTabSz="457200" rtl="0" eaLnBrk="1" latinLnBrk="0" hangingPunct="1">
        <a:spcBef>
          <a:spcPct val="0"/>
        </a:spcBef>
        <a:buNone/>
        <a:defRPr sz="3600" b="1" i="0" kern="1200">
          <a:solidFill>
            <a:srgbClr val="FFFFFF"/>
          </a:solidFill>
          <a:latin typeface="+mj-lt"/>
          <a:ea typeface="+mj-ea"/>
          <a:cs typeface="Arial Narrow Bold"/>
        </a:defRPr>
      </a:lvl1pPr>
    </p:titleStyle>
    <p:bodyStyle>
      <a:lvl1pPr marL="0" indent="0" algn="r" defTabSz="457200" rtl="0" eaLnBrk="1" latinLnBrk="0" hangingPunct="1">
        <a:spcBef>
          <a:spcPct val="20000"/>
        </a:spcBef>
        <a:buFont typeface="Arial"/>
        <a:buNone/>
        <a:defRPr sz="2000" kern="1200">
          <a:solidFill>
            <a:srgbClr val="FFFFFF"/>
          </a:solidFill>
          <a:latin typeface="+mn-lt"/>
          <a:ea typeface="+mn-ea"/>
          <a:cs typeface="+mn-cs"/>
        </a:defRPr>
      </a:lvl1pPr>
      <a:lvl2pPr marL="742950" indent="-285750" algn="l" defTabSz="457200" rtl="0" eaLnBrk="1" latinLnBrk="0" hangingPunct="1">
        <a:spcBef>
          <a:spcPct val="20000"/>
        </a:spcBef>
        <a:buFont typeface="Arial"/>
        <a:buChar char="•"/>
        <a:defRPr sz="32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8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8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6.emf"/></Relationships>
</file>

<file path=ppt/slides/_rels/slide1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2.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45.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54.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4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E1D0-11B8-8345-91DD-DA00A52441F3}"/>
              </a:ext>
            </a:extLst>
          </p:cNvPr>
          <p:cNvSpPr>
            <a:spLocks noGrp="1"/>
          </p:cNvSpPr>
          <p:nvPr>
            <p:ph type="ctrTitle"/>
          </p:nvPr>
        </p:nvSpPr>
        <p:spPr>
          <a:xfrm>
            <a:off x="1524000" y="1122363"/>
            <a:ext cx="9144000" cy="1120094"/>
          </a:xfrm>
        </p:spPr>
        <p:txBody>
          <a:bodyPr>
            <a:noAutofit/>
          </a:bodyPr>
          <a:lstStyle/>
          <a:p>
            <a:pPr algn="ctr"/>
            <a:r>
              <a:rPr lang="en-US" sz="4800" dirty="0"/>
              <a:t>2026-05 Tanner Crab Report</a:t>
            </a:r>
          </a:p>
        </p:txBody>
      </p:sp>
      <p:sp>
        <p:nvSpPr>
          <p:cNvPr id="3" name="Subtitle 2">
            <a:extLst>
              <a:ext uri="{FF2B5EF4-FFF2-40B4-BE49-F238E27FC236}">
                <a16:creationId xmlns:a16="http://schemas.microsoft.com/office/drawing/2014/main" id="{3E3B8582-F632-314D-8EF2-647B54A375F6}"/>
              </a:ext>
            </a:extLst>
          </p:cNvPr>
          <p:cNvSpPr>
            <a:spLocks noGrp="1"/>
          </p:cNvSpPr>
          <p:nvPr>
            <p:ph type="subTitle" idx="1"/>
          </p:nvPr>
        </p:nvSpPr>
        <p:spPr/>
        <p:txBody>
          <a:bodyPr/>
          <a:lstStyle/>
          <a:p>
            <a:r>
              <a:rPr lang="en-US" dirty="0"/>
              <a:t>William Stockhausen</a:t>
            </a:r>
          </a:p>
          <a:p>
            <a:r>
              <a:rPr lang="en-US" dirty="0"/>
              <a:t>AFSC/NMFS/NOAA</a:t>
            </a:r>
          </a:p>
          <a:p>
            <a:r>
              <a:rPr lang="en-US" dirty="0"/>
              <a:t>May 14, 2026</a:t>
            </a:r>
          </a:p>
        </p:txBody>
      </p:sp>
    </p:spTree>
    <p:extLst>
      <p:ext uri="{BB962C8B-B14F-4D97-AF65-F5344CB8AC3E}">
        <p14:creationId xmlns:p14="http://schemas.microsoft.com/office/powerpoint/2010/main" val="149345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01E0E-44FE-6345-BF30-F1B5BF8322AA}"/>
              </a:ext>
            </a:extLst>
          </p:cNvPr>
          <p:cNvSpPr>
            <a:spLocks noGrp="1"/>
          </p:cNvSpPr>
          <p:nvPr>
            <p:ph type="title"/>
          </p:nvPr>
        </p:nvSpPr>
        <p:spPr>
          <a:xfrm>
            <a:off x="323850" y="402537"/>
            <a:ext cx="7886700" cy="573321"/>
          </a:xfrm>
        </p:spPr>
        <p:txBody>
          <a:bodyPr>
            <a:noAutofit/>
          </a:bodyPr>
          <a:lstStyle/>
          <a:p>
            <a:r>
              <a:rPr lang="en-US" sz="3200" dirty="0"/>
              <a:t>Topics</a:t>
            </a:r>
          </a:p>
        </p:txBody>
      </p:sp>
      <p:sp>
        <p:nvSpPr>
          <p:cNvPr id="3" name="TextBox 2">
            <a:extLst>
              <a:ext uri="{FF2B5EF4-FFF2-40B4-BE49-F238E27FC236}">
                <a16:creationId xmlns:a16="http://schemas.microsoft.com/office/drawing/2014/main" id="{8D7C0AA4-3A3C-DB45-946A-B87EF4CE44E7}"/>
              </a:ext>
            </a:extLst>
          </p:cNvPr>
          <p:cNvSpPr txBox="1"/>
          <p:nvPr/>
        </p:nvSpPr>
        <p:spPr>
          <a:xfrm>
            <a:off x="3667103" y="1771577"/>
            <a:ext cx="5878532" cy="279243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400" dirty="0"/>
              <a:t>SSC/CPT Comments</a:t>
            </a:r>
          </a:p>
          <a:p>
            <a:pPr marL="285750" indent="-285750">
              <a:lnSpc>
                <a:spcPct val="150000"/>
              </a:lnSpc>
              <a:buFont typeface="Arial" panose="020B0604020202020204" pitchFamily="34" charset="0"/>
              <a:buChar char="•"/>
            </a:pPr>
            <a:r>
              <a:rPr lang="en-US" sz="2400" dirty="0"/>
              <a:t>New Analyses</a:t>
            </a:r>
          </a:p>
          <a:p>
            <a:pPr marL="742950" lvl="1" indent="-285750">
              <a:lnSpc>
                <a:spcPct val="150000"/>
              </a:lnSpc>
              <a:buFont typeface="Arial" panose="020B0604020202020204" pitchFamily="34" charset="0"/>
              <a:buChar char="•"/>
            </a:pPr>
            <a:r>
              <a:rPr lang="en-US" sz="2400" dirty="0"/>
              <a:t>“new” maturity workflow</a:t>
            </a:r>
          </a:p>
          <a:p>
            <a:pPr marL="742950" lvl="1" indent="-285750">
              <a:lnSpc>
                <a:spcPct val="150000"/>
              </a:lnSpc>
              <a:buFont typeface="Arial" panose="020B0604020202020204" pitchFamily="34" charset="0"/>
              <a:buChar char="•"/>
            </a:pPr>
            <a:r>
              <a:rPr lang="en-US" sz="2400" i="1" dirty="0" err="1"/>
              <a:t>Chionoecetes</a:t>
            </a:r>
            <a:r>
              <a:rPr lang="en-US" sz="2400" dirty="0"/>
              <a:t> hybrids: discussed separately</a:t>
            </a:r>
          </a:p>
          <a:p>
            <a:pPr marL="285750" indent="-285750">
              <a:lnSpc>
                <a:spcPct val="150000"/>
              </a:lnSpc>
              <a:buFont typeface="Arial" panose="020B0604020202020204" pitchFamily="34" charset="0"/>
              <a:buChar char="•"/>
            </a:pPr>
            <a:r>
              <a:rPr lang="en-US" sz="2400" dirty="0"/>
              <a:t>GMACS Tanner model development</a:t>
            </a:r>
          </a:p>
        </p:txBody>
      </p:sp>
    </p:spTree>
    <p:extLst>
      <p:ext uri="{BB962C8B-B14F-4D97-AF65-F5344CB8AC3E}">
        <p14:creationId xmlns:p14="http://schemas.microsoft.com/office/powerpoint/2010/main" val="220230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67190-C48C-ABF8-C5AE-DE3FAE55A1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C91957-EF2D-7520-C152-ECE7992F3EB9}"/>
              </a:ext>
            </a:extLst>
          </p:cNvPr>
          <p:cNvSpPr>
            <a:spLocks noGrp="1"/>
          </p:cNvSpPr>
          <p:nvPr>
            <p:ph type="title"/>
          </p:nvPr>
        </p:nvSpPr>
        <p:spPr>
          <a:xfrm>
            <a:off x="223673" y="176443"/>
            <a:ext cx="8814415" cy="520399"/>
          </a:xfrm>
        </p:spPr>
        <p:txBody>
          <a:bodyPr>
            <a:noAutofit/>
          </a:bodyPr>
          <a:lstStyle/>
          <a:p>
            <a:r>
              <a:rPr lang="en-US" sz="3200" dirty="0">
                <a:latin typeface="+mn-lt"/>
              </a:rPr>
              <a:t>CPT/SSC Comments</a:t>
            </a:r>
          </a:p>
        </p:txBody>
      </p:sp>
      <p:sp>
        <p:nvSpPr>
          <p:cNvPr id="3" name="TextBox 2">
            <a:extLst>
              <a:ext uri="{FF2B5EF4-FFF2-40B4-BE49-F238E27FC236}">
                <a16:creationId xmlns:a16="http://schemas.microsoft.com/office/drawing/2014/main" id="{0975ECB1-4342-D6F3-5336-0857B24C3222}"/>
              </a:ext>
            </a:extLst>
          </p:cNvPr>
          <p:cNvSpPr txBox="1"/>
          <p:nvPr/>
        </p:nvSpPr>
        <p:spPr>
          <a:xfrm>
            <a:off x="914400" y="974636"/>
            <a:ext cx="10439400" cy="923330"/>
          </a:xfrm>
          <a:prstGeom prst="rect">
            <a:avLst/>
          </a:prstGeom>
          <a:noFill/>
        </p:spPr>
        <p:txBody>
          <a:bodyPr wrap="square">
            <a:spAutoFit/>
          </a:bodyPr>
          <a:lstStyle/>
          <a:p>
            <a:pPr>
              <a:buNone/>
            </a:pPr>
            <a:r>
              <a:rPr lang="en-US" i="1" dirty="0" err="1">
                <a:effectLst/>
                <a:latin typeface="Helvetica" pitchFamily="2" charset="0"/>
              </a:rPr>
              <a:t>Chionoecetes</a:t>
            </a:r>
            <a:r>
              <a:rPr lang="en-US" i="1" dirty="0">
                <a:effectLst/>
                <a:latin typeface="Helvetica" pitchFamily="2" charset="0"/>
              </a:rPr>
              <a:t> stock assessment authors were asked to present a comparison of results</a:t>
            </a:r>
            <a:endParaRPr lang="en-US" dirty="0">
              <a:effectLst/>
              <a:latin typeface="Helvetica" pitchFamily="2" charset="0"/>
            </a:endParaRPr>
          </a:p>
          <a:p>
            <a:pPr>
              <a:buNone/>
            </a:pPr>
            <a:r>
              <a:rPr lang="en-US" i="1" dirty="0">
                <a:effectLst/>
                <a:latin typeface="Helvetica" pitchFamily="2" charset="0"/>
              </a:rPr>
              <a:t>from models using the legacy versus new maturity workflow data sets at the May 2026 CPT meeting.</a:t>
            </a:r>
          </a:p>
          <a:p>
            <a:pPr marL="285750" indent="-285750">
              <a:buFont typeface="Arial" panose="020B0604020202020204" pitchFamily="34" charset="0"/>
              <a:buChar char="•"/>
            </a:pPr>
            <a:r>
              <a:rPr lang="en-US" i="1" dirty="0">
                <a:effectLst/>
                <a:latin typeface="Helvetica" pitchFamily="2" charset="0"/>
              </a:rPr>
              <a:t>Results discussed in document and here</a:t>
            </a:r>
            <a:endParaRPr lang="en-US" dirty="0">
              <a:effectLst/>
              <a:latin typeface="Helvetica" pitchFamily="2" charset="0"/>
            </a:endParaRPr>
          </a:p>
        </p:txBody>
      </p:sp>
      <p:sp>
        <p:nvSpPr>
          <p:cNvPr id="6" name="TextBox 5">
            <a:extLst>
              <a:ext uri="{FF2B5EF4-FFF2-40B4-BE49-F238E27FC236}">
                <a16:creationId xmlns:a16="http://schemas.microsoft.com/office/drawing/2014/main" id="{70F2B8E4-BA89-C037-ABE6-E553DC94EF96}"/>
              </a:ext>
            </a:extLst>
          </p:cNvPr>
          <p:cNvSpPr txBox="1"/>
          <p:nvPr/>
        </p:nvSpPr>
        <p:spPr>
          <a:xfrm>
            <a:off x="914400" y="2228671"/>
            <a:ext cx="10439400" cy="1200329"/>
          </a:xfrm>
          <a:prstGeom prst="rect">
            <a:avLst/>
          </a:prstGeom>
          <a:noFill/>
        </p:spPr>
        <p:txBody>
          <a:bodyPr wrap="square">
            <a:spAutoFit/>
          </a:bodyPr>
          <a:lstStyle/>
          <a:p>
            <a:pPr>
              <a:buNone/>
            </a:pPr>
            <a:r>
              <a:rPr lang="en-US" i="1" dirty="0">
                <a:effectLst/>
                <a:latin typeface="Helvetica" pitchFamily="2" charset="0"/>
              </a:rPr>
              <a:t>Tanner and snow crab stock authors were asked to complete three model sensitivity runs (including size composition and abundance data) with hybrids:</a:t>
            </a:r>
            <a:r>
              <a:rPr lang="en-US" dirty="0">
                <a:latin typeface="Helvetica" pitchFamily="2" charset="0"/>
              </a:rPr>
              <a:t> 1) </a:t>
            </a:r>
            <a:r>
              <a:rPr lang="en-US" i="1" dirty="0">
                <a:effectLst/>
                <a:latin typeface="Helvetica" pitchFamily="2" charset="0"/>
              </a:rPr>
              <a:t>included in survey data;</a:t>
            </a:r>
            <a:r>
              <a:rPr lang="en-US" dirty="0">
                <a:latin typeface="Helvetica" pitchFamily="2" charset="0"/>
              </a:rPr>
              <a:t> 2) </a:t>
            </a:r>
            <a:r>
              <a:rPr lang="en-US" i="1" dirty="0">
                <a:effectLst/>
                <a:latin typeface="Helvetica" pitchFamily="2" charset="0"/>
              </a:rPr>
              <a:t>included in catch data</a:t>
            </a:r>
            <a:r>
              <a:rPr lang="en-US" i="1" dirty="0">
                <a:latin typeface="Helvetica" pitchFamily="2" charset="0"/>
              </a:rPr>
              <a:t>; 3)</a:t>
            </a:r>
            <a:r>
              <a:rPr lang="en-US" dirty="0">
                <a:effectLst/>
                <a:latin typeface="Helvetica" pitchFamily="2" charset="0"/>
              </a:rPr>
              <a:t> </a:t>
            </a:r>
            <a:r>
              <a:rPr lang="en-US" i="1" dirty="0">
                <a:effectLst/>
                <a:latin typeface="Helvetica" pitchFamily="2" charset="0"/>
              </a:rPr>
              <a:t>included in both survey and catch data.</a:t>
            </a:r>
          </a:p>
          <a:p>
            <a:pPr marL="285750" indent="-285750">
              <a:buFont typeface="Arial" panose="020B0604020202020204" pitchFamily="34" charset="0"/>
              <a:buChar char="•"/>
            </a:pPr>
            <a:r>
              <a:rPr lang="en-US" i="1" dirty="0">
                <a:latin typeface="Helvetica" pitchFamily="2" charset="0"/>
              </a:rPr>
              <a:t>Results discussed in document and during “Hybrids” topic</a:t>
            </a:r>
            <a:endParaRPr lang="en-US" dirty="0">
              <a:latin typeface="Helvetica" pitchFamily="2" charset="0"/>
            </a:endParaRPr>
          </a:p>
        </p:txBody>
      </p:sp>
      <p:sp>
        <p:nvSpPr>
          <p:cNvPr id="8" name="TextBox 7">
            <a:extLst>
              <a:ext uri="{FF2B5EF4-FFF2-40B4-BE49-F238E27FC236}">
                <a16:creationId xmlns:a16="http://schemas.microsoft.com/office/drawing/2014/main" id="{66FCC180-2A69-627A-E00B-548412A7520D}"/>
              </a:ext>
            </a:extLst>
          </p:cNvPr>
          <p:cNvSpPr txBox="1"/>
          <p:nvPr/>
        </p:nvSpPr>
        <p:spPr>
          <a:xfrm>
            <a:off x="876300" y="3759706"/>
            <a:ext cx="10439400" cy="1200329"/>
          </a:xfrm>
          <a:prstGeom prst="rect">
            <a:avLst/>
          </a:prstGeom>
          <a:noFill/>
        </p:spPr>
        <p:txBody>
          <a:bodyPr wrap="square">
            <a:spAutoFit/>
          </a:bodyPr>
          <a:lstStyle/>
          <a:p>
            <a:pPr>
              <a:buNone/>
            </a:pPr>
            <a:r>
              <a:rPr lang="en-US" i="1" dirty="0">
                <a:effectLst/>
                <a:latin typeface="Helvetica" pitchFamily="2" charset="0"/>
              </a:rPr>
              <a:t>The SSC recommends that authors and CPT provide a justification if catches are set to the</a:t>
            </a:r>
            <a:r>
              <a:rPr lang="en-US" dirty="0">
                <a:latin typeface="Helvetica" pitchFamily="2" charset="0"/>
              </a:rPr>
              <a:t> </a:t>
            </a:r>
            <a:r>
              <a:rPr lang="en-US" i="1" dirty="0">
                <a:effectLst/>
                <a:latin typeface="Helvetica" pitchFamily="2" charset="0"/>
              </a:rPr>
              <a:t>OFL in projections, or use a more realistic estimate of future catches as is done in groundfish</a:t>
            </a:r>
            <a:r>
              <a:rPr lang="en-US" dirty="0">
                <a:latin typeface="Helvetica" pitchFamily="2" charset="0"/>
              </a:rPr>
              <a:t> </a:t>
            </a:r>
            <a:r>
              <a:rPr lang="en-US" i="1" dirty="0">
                <a:effectLst/>
                <a:latin typeface="Helvetica" pitchFamily="2" charset="0"/>
              </a:rPr>
              <a:t>assessments.</a:t>
            </a:r>
          </a:p>
          <a:p>
            <a:pPr marL="285750" indent="-285750">
              <a:buFont typeface="Arial" panose="020B0604020202020204" pitchFamily="34" charset="0"/>
              <a:buChar char="•"/>
            </a:pPr>
            <a:r>
              <a:rPr lang="en-US" i="1" dirty="0"/>
              <a:t>The Tanner crab assessment results</a:t>
            </a:r>
            <a:r>
              <a:rPr lang="en-US" dirty="0"/>
              <a:t> </a:t>
            </a:r>
            <a:r>
              <a:rPr lang="en-US" i="1" dirty="0"/>
              <a:t>provide projection results from a range of fishing mortality rates (fractions of F</a:t>
            </a:r>
            <a:r>
              <a:rPr lang="en-US" i="1" baseline="-25000" dirty="0"/>
              <a:t>OFL</a:t>
            </a:r>
            <a:r>
              <a:rPr lang="en-US" i="1" dirty="0"/>
              <a:t>)</a:t>
            </a:r>
            <a:endParaRPr lang="en-US" dirty="0"/>
          </a:p>
          <a:p>
            <a:pPr marL="285750" indent="-285750">
              <a:buFont typeface="Arial" panose="020B0604020202020204" pitchFamily="34" charset="0"/>
              <a:buChar char="•"/>
            </a:pPr>
            <a:endParaRPr lang="en-US" dirty="0">
              <a:effectLst/>
              <a:latin typeface="Helvetica" pitchFamily="2" charset="0"/>
            </a:endParaRPr>
          </a:p>
        </p:txBody>
      </p:sp>
    </p:spTree>
    <p:extLst>
      <p:ext uri="{BB962C8B-B14F-4D97-AF65-F5344CB8AC3E}">
        <p14:creationId xmlns:p14="http://schemas.microsoft.com/office/powerpoint/2010/main" val="615686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70CED-092E-B7B7-875F-FC510F4A18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A53388-5165-3C83-6960-1F9F0CB849A7}"/>
              </a:ext>
            </a:extLst>
          </p:cNvPr>
          <p:cNvSpPr>
            <a:spLocks noGrp="1"/>
          </p:cNvSpPr>
          <p:nvPr>
            <p:ph type="title"/>
          </p:nvPr>
        </p:nvSpPr>
        <p:spPr>
          <a:xfrm>
            <a:off x="223673" y="176443"/>
            <a:ext cx="8814415" cy="520399"/>
          </a:xfrm>
        </p:spPr>
        <p:txBody>
          <a:bodyPr>
            <a:noAutofit/>
          </a:bodyPr>
          <a:lstStyle/>
          <a:p>
            <a:r>
              <a:rPr lang="en-US" sz="3200" dirty="0">
                <a:latin typeface="+mn-lt"/>
              </a:rPr>
              <a:t>CPT/SSC Comments</a:t>
            </a:r>
          </a:p>
        </p:txBody>
      </p:sp>
      <p:sp>
        <p:nvSpPr>
          <p:cNvPr id="10" name="TextBox 9">
            <a:extLst>
              <a:ext uri="{FF2B5EF4-FFF2-40B4-BE49-F238E27FC236}">
                <a16:creationId xmlns:a16="http://schemas.microsoft.com/office/drawing/2014/main" id="{C83CF7AB-E078-558A-BAE0-A4BBD6CAD33E}"/>
              </a:ext>
            </a:extLst>
          </p:cNvPr>
          <p:cNvSpPr txBox="1"/>
          <p:nvPr/>
        </p:nvSpPr>
        <p:spPr>
          <a:xfrm>
            <a:off x="673100" y="872025"/>
            <a:ext cx="10566400" cy="2585323"/>
          </a:xfrm>
          <a:prstGeom prst="rect">
            <a:avLst/>
          </a:prstGeom>
          <a:noFill/>
        </p:spPr>
        <p:txBody>
          <a:bodyPr wrap="square">
            <a:spAutoFit/>
          </a:bodyPr>
          <a:lstStyle/>
          <a:p>
            <a:pPr>
              <a:buNone/>
            </a:pPr>
            <a:r>
              <a:rPr lang="en-US" i="1" dirty="0">
                <a:effectLst/>
                <a:latin typeface="Helvetica" pitchFamily="2" charset="0"/>
              </a:rPr>
              <a:t>The SSC thanks the assessment author for their extensive work documenting and addressing previous</a:t>
            </a:r>
            <a:endParaRPr lang="en-US" dirty="0">
              <a:effectLst/>
              <a:latin typeface="Helvetica" pitchFamily="2" charset="0"/>
            </a:endParaRPr>
          </a:p>
          <a:p>
            <a:pPr>
              <a:buNone/>
            </a:pPr>
            <a:r>
              <a:rPr lang="en-US" i="1" dirty="0">
                <a:effectLst/>
                <a:latin typeface="Helvetica" pitchFamily="2" charset="0"/>
              </a:rPr>
              <a:t>SSC and CPT requests. While the SSC appreciates the author’s attention to detail, the SSC</a:t>
            </a:r>
            <a:r>
              <a:rPr lang="en-US" dirty="0">
                <a:latin typeface="Helvetica" pitchFamily="2" charset="0"/>
              </a:rPr>
              <a:t> </a:t>
            </a:r>
            <a:r>
              <a:rPr lang="en-US" i="1" dirty="0">
                <a:effectLst/>
                <a:latin typeface="Helvetica" pitchFamily="2" charset="0"/>
              </a:rPr>
              <a:t>highlights that the SAFE and the included appendices are over 400 pages long. The SSC suggests additional streamlining of the material included in future</a:t>
            </a:r>
            <a:r>
              <a:rPr lang="en-US" dirty="0">
                <a:latin typeface="Helvetica" pitchFamily="2" charset="0"/>
              </a:rPr>
              <a:t> </a:t>
            </a:r>
            <a:r>
              <a:rPr lang="en-US" i="1" dirty="0">
                <a:effectLst/>
                <a:latin typeface="Helvetica" pitchFamily="2" charset="0"/>
              </a:rPr>
              <a:t>assessment documents.</a:t>
            </a:r>
          </a:p>
          <a:p>
            <a:pPr marL="285750" indent="-285750">
              <a:buFont typeface="Arial" panose="020B0604020202020204" pitchFamily="34" charset="0"/>
              <a:buChar char="•"/>
            </a:pPr>
            <a:r>
              <a:rPr lang="en-US" i="1" dirty="0">
                <a:latin typeface="Helvetica" pitchFamily="2" charset="0"/>
              </a:rPr>
              <a:t>2025 assessment doc was reduced from 800 pages in 2024. Concrete suggestions for how/where to reduce the document further are welcome. Recent requested additions (ESPs, risk tables, likelihood profiles, Tier 4 alternative models) necessarily increase the size of the document, as does the requirement to document the sequential addition of new data and model changes from the base model to the candidate model(s).</a:t>
            </a:r>
            <a:endParaRPr lang="en-US" dirty="0">
              <a:effectLst/>
              <a:latin typeface="Helvetica" pitchFamily="2" charset="0"/>
            </a:endParaRPr>
          </a:p>
        </p:txBody>
      </p:sp>
      <p:sp>
        <p:nvSpPr>
          <p:cNvPr id="5" name="TextBox 4">
            <a:extLst>
              <a:ext uri="{FF2B5EF4-FFF2-40B4-BE49-F238E27FC236}">
                <a16:creationId xmlns:a16="http://schemas.microsoft.com/office/drawing/2014/main" id="{37A2E87D-5F0B-A3BA-E72F-E48E8F05D637}"/>
              </a:ext>
            </a:extLst>
          </p:cNvPr>
          <p:cNvSpPr txBox="1"/>
          <p:nvPr/>
        </p:nvSpPr>
        <p:spPr>
          <a:xfrm>
            <a:off x="673100" y="3632531"/>
            <a:ext cx="10566400" cy="2585323"/>
          </a:xfrm>
          <a:prstGeom prst="rect">
            <a:avLst/>
          </a:prstGeom>
          <a:noFill/>
        </p:spPr>
        <p:txBody>
          <a:bodyPr wrap="square">
            <a:spAutoFit/>
          </a:bodyPr>
          <a:lstStyle/>
          <a:p>
            <a:r>
              <a:rPr lang="en-US" i="1" dirty="0">
                <a:effectLst/>
                <a:latin typeface="Helvetica" pitchFamily="2" charset="0"/>
              </a:rPr>
              <a:t>The SSC agrees (with the CPT) that focus should remain on transitioning this assessment into the GMACs framework...</a:t>
            </a:r>
            <a:r>
              <a:rPr lang="en-US" i="1" dirty="0"/>
              <a:t>The CPT suggested starting from inputting parameters via a .PIN file in the bridging analyses</a:t>
            </a:r>
            <a:endParaRPr lang="en-US" dirty="0"/>
          </a:p>
          <a:p>
            <a:r>
              <a:rPr lang="en-US" i="1" dirty="0"/>
              <a:t>and then work towards estimating parameter values</a:t>
            </a:r>
            <a:endParaRPr lang="en-US" i="1" dirty="0">
              <a:effectLst/>
              <a:latin typeface="Helvetica" pitchFamily="2" charset="0"/>
            </a:endParaRPr>
          </a:p>
          <a:p>
            <a:pPr marL="285750" indent="-285750">
              <a:buFont typeface="Arial" panose="020B0604020202020204" pitchFamily="34" charset="0"/>
              <a:buChar char="•"/>
            </a:pPr>
            <a:r>
              <a:rPr lang="en-US" i="1" dirty="0"/>
              <a:t>Sept 2025: G25.05 was not brought forward due to unexpected</a:t>
            </a:r>
            <a:r>
              <a:rPr lang="en-US" dirty="0"/>
              <a:t> </a:t>
            </a:r>
            <a:r>
              <a:rPr lang="en-US" i="1" dirty="0"/>
              <a:t>(and currently unresolved) problems encountered with optimizing the model (the optimization</a:t>
            </a:r>
            <a:r>
              <a:rPr lang="en-US" dirty="0"/>
              <a:t> </a:t>
            </a:r>
            <a:r>
              <a:rPr lang="en-US" i="1" dirty="0"/>
              <a:t>failed after ~150 steps after generating an invalid gradient vector required to update the parameter</a:t>
            </a:r>
            <a:r>
              <a:rPr lang="en-US" dirty="0"/>
              <a:t> </a:t>
            </a:r>
            <a:r>
              <a:rPr lang="en-US" i="1" dirty="0"/>
              <a:t>values).</a:t>
            </a:r>
          </a:p>
          <a:p>
            <a:pPr marL="285750" indent="-285750">
              <a:buFont typeface="Arial" panose="020B0604020202020204" pitchFamily="34" charset="0"/>
              <a:buChar char="•"/>
            </a:pPr>
            <a:r>
              <a:rPr lang="en-US" i="1" dirty="0"/>
              <a:t>May 2026: A number of issues have been resolved including: adding Tanner-like features to GMACS (maturity ogives as data and likelihood components; selectivity curves, comparable output); initial parameter values, R code to directly compare GMACS and TCSAM02 model results. Results are discussed in the document and here.</a:t>
            </a:r>
            <a:endParaRPr lang="en-US" dirty="0"/>
          </a:p>
        </p:txBody>
      </p:sp>
    </p:spTree>
    <p:extLst>
      <p:ext uri="{BB962C8B-B14F-4D97-AF65-F5344CB8AC3E}">
        <p14:creationId xmlns:p14="http://schemas.microsoft.com/office/powerpoint/2010/main" val="3838830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E78E6-0269-8A46-B92D-8B092A920324}"/>
              </a:ext>
            </a:extLst>
          </p:cNvPr>
          <p:cNvSpPr>
            <a:spLocks noGrp="1"/>
          </p:cNvSpPr>
          <p:nvPr>
            <p:ph type="title"/>
          </p:nvPr>
        </p:nvSpPr>
        <p:spPr>
          <a:xfrm>
            <a:off x="1688792" y="2420879"/>
            <a:ext cx="8814415" cy="520399"/>
          </a:xfrm>
        </p:spPr>
        <p:txBody>
          <a:bodyPr>
            <a:noAutofit/>
          </a:bodyPr>
          <a:lstStyle/>
          <a:p>
            <a:pPr algn="ctr"/>
            <a:r>
              <a:rPr lang="en-US" sz="3200" dirty="0">
                <a:latin typeface="+mn-lt"/>
              </a:rPr>
              <a:t>Assessment Model Results with </a:t>
            </a:r>
            <a:br>
              <a:rPr lang="en-US" sz="3200" dirty="0">
                <a:latin typeface="+mn-lt"/>
              </a:rPr>
            </a:br>
            <a:r>
              <a:rPr lang="en-US" sz="3200" dirty="0">
                <a:latin typeface="+mn-lt"/>
              </a:rPr>
              <a:t>“New” Maturity Workflow</a:t>
            </a:r>
          </a:p>
        </p:txBody>
      </p:sp>
    </p:spTree>
    <p:extLst>
      <p:ext uri="{BB962C8B-B14F-4D97-AF65-F5344CB8AC3E}">
        <p14:creationId xmlns:p14="http://schemas.microsoft.com/office/powerpoint/2010/main" val="2893874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BF95-AF6C-96A0-1EAB-B68856DD63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B0CAB3-D639-1BE6-77FE-28F80A9473BC}"/>
              </a:ext>
            </a:extLst>
          </p:cNvPr>
          <p:cNvSpPr>
            <a:spLocks noGrp="1"/>
          </p:cNvSpPr>
          <p:nvPr>
            <p:ph type="title"/>
          </p:nvPr>
        </p:nvSpPr>
        <p:spPr>
          <a:xfrm>
            <a:off x="223673" y="176443"/>
            <a:ext cx="8814415" cy="520399"/>
          </a:xfrm>
        </p:spPr>
        <p:txBody>
          <a:bodyPr>
            <a:noAutofit/>
          </a:bodyPr>
          <a:lstStyle/>
          <a:p>
            <a:r>
              <a:rPr lang="en-US" sz="2800" dirty="0">
                <a:latin typeface="+mn-lt"/>
              </a:rPr>
              <a:t>Male </a:t>
            </a:r>
            <a:br>
              <a:rPr lang="en-US" sz="2800" dirty="0">
                <a:latin typeface="+mn-lt"/>
              </a:rPr>
            </a:br>
            <a:r>
              <a:rPr lang="en-US" sz="2800" dirty="0">
                <a:latin typeface="+mn-lt"/>
              </a:rPr>
              <a:t>Maturity </a:t>
            </a:r>
            <a:br>
              <a:rPr lang="en-US" sz="2800" dirty="0">
                <a:latin typeface="+mn-lt"/>
              </a:rPr>
            </a:br>
            <a:r>
              <a:rPr lang="en-US" sz="2800" dirty="0">
                <a:latin typeface="+mn-lt"/>
              </a:rPr>
              <a:t>Ogives</a:t>
            </a:r>
          </a:p>
        </p:txBody>
      </p:sp>
      <p:pic>
        <p:nvPicPr>
          <p:cNvPr id="3" name="Picture 2">
            <a:extLst>
              <a:ext uri="{FF2B5EF4-FFF2-40B4-BE49-F238E27FC236}">
                <a16:creationId xmlns:a16="http://schemas.microsoft.com/office/drawing/2014/main" id="{DBD5CEEE-B3CE-CBD6-E2EB-7F250049C268}"/>
              </a:ext>
            </a:extLst>
          </p:cNvPr>
          <p:cNvPicPr>
            <a:picLocks noChangeAspect="1"/>
          </p:cNvPicPr>
          <p:nvPr/>
        </p:nvPicPr>
        <p:blipFill>
          <a:blip r:embed="rId3"/>
          <a:stretch>
            <a:fillRect/>
          </a:stretch>
        </p:blipFill>
        <p:spPr>
          <a:xfrm>
            <a:off x="7304810" y="176443"/>
            <a:ext cx="4762500" cy="6515100"/>
          </a:xfrm>
          <a:prstGeom prst="rect">
            <a:avLst/>
          </a:prstGeom>
        </p:spPr>
      </p:pic>
      <p:pic>
        <p:nvPicPr>
          <p:cNvPr id="2" name="Picture 1">
            <a:extLst>
              <a:ext uri="{FF2B5EF4-FFF2-40B4-BE49-F238E27FC236}">
                <a16:creationId xmlns:a16="http://schemas.microsoft.com/office/drawing/2014/main" id="{07E8B943-BEE7-8146-9786-4EE130DCA881}"/>
              </a:ext>
            </a:extLst>
          </p:cNvPr>
          <p:cNvPicPr>
            <a:picLocks noChangeAspect="1"/>
          </p:cNvPicPr>
          <p:nvPr/>
        </p:nvPicPr>
        <p:blipFill>
          <a:blip r:embed="rId4"/>
          <a:stretch>
            <a:fillRect/>
          </a:stretch>
        </p:blipFill>
        <p:spPr>
          <a:xfrm>
            <a:off x="2424546" y="77557"/>
            <a:ext cx="4953000" cy="6604000"/>
          </a:xfrm>
          <a:prstGeom prst="rect">
            <a:avLst/>
          </a:prstGeom>
        </p:spPr>
      </p:pic>
      <p:pic>
        <p:nvPicPr>
          <p:cNvPr id="5" name="Picture 4">
            <a:extLst>
              <a:ext uri="{FF2B5EF4-FFF2-40B4-BE49-F238E27FC236}">
                <a16:creationId xmlns:a16="http://schemas.microsoft.com/office/drawing/2014/main" id="{937C4F09-9CB2-FD52-EE31-732B5129CCFD}"/>
              </a:ext>
            </a:extLst>
          </p:cNvPr>
          <p:cNvPicPr>
            <a:picLocks noChangeAspect="1"/>
          </p:cNvPicPr>
          <p:nvPr/>
        </p:nvPicPr>
        <p:blipFill>
          <a:blip r:embed="rId5"/>
          <a:stretch>
            <a:fillRect/>
          </a:stretch>
        </p:blipFill>
        <p:spPr>
          <a:xfrm>
            <a:off x="1849580" y="166457"/>
            <a:ext cx="495300" cy="482600"/>
          </a:xfrm>
          <a:prstGeom prst="rect">
            <a:avLst/>
          </a:prstGeom>
        </p:spPr>
      </p:pic>
      <p:sp>
        <p:nvSpPr>
          <p:cNvPr id="6" name="TextBox 5">
            <a:extLst>
              <a:ext uri="{FF2B5EF4-FFF2-40B4-BE49-F238E27FC236}">
                <a16:creationId xmlns:a16="http://schemas.microsoft.com/office/drawing/2014/main" id="{B2124B1B-FBB7-F699-4AD6-74525B840D61}"/>
              </a:ext>
            </a:extLst>
          </p:cNvPr>
          <p:cNvSpPr txBox="1"/>
          <p:nvPr/>
        </p:nvSpPr>
        <p:spPr>
          <a:xfrm>
            <a:off x="124690" y="4291446"/>
            <a:ext cx="2389912" cy="1754326"/>
          </a:xfrm>
          <a:prstGeom prst="rect">
            <a:avLst/>
          </a:prstGeom>
          <a:noFill/>
        </p:spPr>
        <p:txBody>
          <a:bodyPr wrap="square" rtlCol="0">
            <a:spAutoFit/>
          </a:bodyPr>
          <a:lstStyle/>
          <a:p>
            <a:r>
              <a:rPr lang="en-US" dirty="0"/>
              <a:t>New</a:t>
            </a:r>
          </a:p>
          <a:p>
            <a:pPr marL="285750" indent="-285750">
              <a:buFont typeface="Arial" panose="020B0604020202020204" pitchFamily="34" charset="0"/>
              <a:buChar char="•"/>
            </a:pPr>
            <a:r>
              <a:rPr lang="en-US" dirty="0"/>
              <a:t>uses </a:t>
            </a:r>
            <a:r>
              <a:rPr lang="en-US" dirty="0" err="1"/>
              <a:t>sdmTMB</a:t>
            </a:r>
            <a:r>
              <a:rPr lang="en-US" dirty="0"/>
              <a:t> to account for spatial structure and sampling</a:t>
            </a:r>
          </a:p>
          <a:p>
            <a:pPr marL="285750" indent="-285750">
              <a:buFont typeface="Arial" panose="020B0604020202020204" pitchFamily="34" charset="0"/>
              <a:buChar char="•"/>
            </a:pPr>
            <a:r>
              <a:rPr lang="en-US" dirty="0"/>
              <a:t>5 mm bin sizes</a:t>
            </a:r>
          </a:p>
          <a:p>
            <a:pPr marL="285750" indent="-285750">
              <a:buFont typeface="Arial" panose="020B0604020202020204" pitchFamily="34" charset="0"/>
              <a:buChar char="•"/>
            </a:pPr>
            <a:r>
              <a:rPr lang="en-US" dirty="0"/>
              <a:t>estimates uncertainty</a:t>
            </a:r>
          </a:p>
        </p:txBody>
      </p:sp>
      <p:sp>
        <p:nvSpPr>
          <p:cNvPr id="8" name="TextBox 7">
            <a:extLst>
              <a:ext uri="{FF2B5EF4-FFF2-40B4-BE49-F238E27FC236}">
                <a16:creationId xmlns:a16="http://schemas.microsoft.com/office/drawing/2014/main" id="{0EEF3516-0C11-AB16-BF3D-B1EBD44175C4}"/>
              </a:ext>
            </a:extLst>
          </p:cNvPr>
          <p:cNvSpPr txBox="1"/>
          <p:nvPr/>
        </p:nvSpPr>
        <p:spPr>
          <a:xfrm>
            <a:off x="223673" y="1518377"/>
            <a:ext cx="2301318" cy="646331"/>
          </a:xfrm>
          <a:prstGeom prst="rect">
            <a:avLst/>
          </a:prstGeom>
          <a:noFill/>
        </p:spPr>
        <p:txBody>
          <a:bodyPr wrap="square" rtlCol="0">
            <a:spAutoFit/>
          </a:bodyPr>
          <a:lstStyle/>
          <a:p>
            <a:pPr marL="285750" indent="-285750">
              <a:buFont typeface="Arial" panose="020B0604020202020204" pitchFamily="34" charset="0"/>
              <a:buChar char="•"/>
            </a:pPr>
            <a:r>
              <a:rPr lang="en-US" dirty="0"/>
              <a:t>based on CH, CW measurements</a:t>
            </a:r>
          </a:p>
        </p:txBody>
      </p:sp>
      <p:sp>
        <p:nvSpPr>
          <p:cNvPr id="9" name="TextBox 8">
            <a:extLst>
              <a:ext uri="{FF2B5EF4-FFF2-40B4-BE49-F238E27FC236}">
                <a16:creationId xmlns:a16="http://schemas.microsoft.com/office/drawing/2014/main" id="{C637C0C8-DDC0-6EF0-B72E-A4540515096E}"/>
              </a:ext>
            </a:extLst>
          </p:cNvPr>
          <p:cNvSpPr txBox="1"/>
          <p:nvPr/>
        </p:nvSpPr>
        <p:spPr>
          <a:xfrm>
            <a:off x="223673" y="2164708"/>
            <a:ext cx="2389912" cy="2031325"/>
          </a:xfrm>
          <a:prstGeom prst="rect">
            <a:avLst/>
          </a:prstGeom>
          <a:noFill/>
        </p:spPr>
        <p:txBody>
          <a:bodyPr wrap="square" rtlCol="0">
            <a:spAutoFit/>
          </a:bodyPr>
          <a:lstStyle/>
          <a:p>
            <a:r>
              <a:rPr lang="en-US" dirty="0"/>
              <a:t>Old</a:t>
            </a:r>
          </a:p>
          <a:p>
            <a:pPr marL="285750" indent="-285750">
              <a:buFont typeface="Arial" panose="020B0604020202020204" pitchFamily="34" charset="0"/>
              <a:buChar char="•"/>
            </a:pPr>
            <a:r>
              <a:rPr lang="en-US" dirty="0"/>
              <a:t>no accounting for spatial structure or sampling</a:t>
            </a:r>
          </a:p>
          <a:p>
            <a:pPr marL="285750" indent="-285750">
              <a:buFont typeface="Arial" panose="020B0604020202020204" pitchFamily="34" charset="0"/>
              <a:buChar char="•"/>
            </a:pPr>
            <a:r>
              <a:rPr lang="en-US" dirty="0"/>
              <a:t>10 mm bin sizes</a:t>
            </a:r>
          </a:p>
          <a:p>
            <a:pPr marL="285750" indent="-285750">
              <a:buFont typeface="Arial" panose="020B0604020202020204" pitchFamily="34" charset="0"/>
              <a:buChar char="•"/>
            </a:pPr>
            <a:r>
              <a:rPr lang="en-US" dirty="0"/>
              <a:t>no estimates of uncertainty</a:t>
            </a:r>
          </a:p>
        </p:txBody>
      </p:sp>
    </p:spTree>
    <p:extLst>
      <p:ext uri="{BB962C8B-B14F-4D97-AF65-F5344CB8AC3E}">
        <p14:creationId xmlns:p14="http://schemas.microsoft.com/office/powerpoint/2010/main" val="1972254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0A794-A6C9-249F-35FE-F5095E08497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314D497-51A7-DBC5-AB67-C7B7F0429A1C}"/>
              </a:ext>
            </a:extLst>
          </p:cNvPr>
          <p:cNvPicPr>
            <a:picLocks noChangeAspect="1"/>
          </p:cNvPicPr>
          <p:nvPr/>
        </p:nvPicPr>
        <p:blipFill>
          <a:blip r:embed="rId3"/>
          <a:stretch>
            <a:fillRect/>
          </a:stretch>
        </p:blipFill>
        <p:spPr>
          <a:xfrm>
            <a:off x="2095499" y="387076"/>
            <a:ext cx="8926049" cy="6083847"/>
          </a:xfrm>
          <a:prstGeom prst="rect">
            <a:avLst/>
          </a:prstGeom>
        </p:spPr>
      </p:pic>
      <p:sp>
        <p:nvSpPr>
          <p:cNvPr id="6" name="Title 3">
            <a:extLst>
              <a:ext uri="{FF2B5EF4-FFF2-40B4-BE49-F238E27FC236}">
                <a16:creationId xmlns:a16="http://schemas.microsoft.com/office/drawing/2014/main" id="{496F57E4-E4B7-3279-2D9A-4DEC0FB92B73}"/>
              </a:ext>
            </a:extLst>
          </p:cNvPr>
          <p:cNvSpPr txBox="1">
            <a:spLocks/>
          </p:cNvSpPr>
          <p:nvPr/>
        </p:nvSpPr>
        <p:spPr>
          <a:xfrm>
            <a:off x="223673" y="178866"/>
            <a:ext cx="8814415" cy="520399"/>
          </a:xfrm>
          <a:prstGeom prst="rect">
            <a:avLst/>
          </a:prstGeom>
        </p:spPr>
        <p:txBody>
          <a:bodyPr vert="horz" lIns="91440" tIns="45720" rIns="91440" bIns="45720" rtlCol="0" anchor="t" anchorCtr="0">
            <a:noAutofit/>
          </a:bodyPr>
          <a:lstStyle>
            <a:lvl1pPr algn="l" defTabSz="457200" rtl="0" eaLnBrk="1" latinLnBrk="0" hangingPunct="1">
              <a:spcBef>
                <a:spcPct val="0"/>
              </a:spcBef>
              <a:buNone/>
              <a:defRPr sz="3600" b="1" i="0" kern="1200">
                <a:solidFill>
                  <a:schemeClr val="accent1"/>
                </a:solidFill>
                <a:latin typeface="+mj-lt"/>
                <a:ea typeface="+mj-ea"/>
                <a:cs typeface="Arial Narrow Bold"/>
              </a:defRPr>
            </a:lvl1pPr>
          </a:lstStyle>
          <a:p>
            <a:r>
              <a:rPr lang="en-US" sz="3200">
                <a:latin typeface="+mn-lt"/>
              </a:rPr>
              <a:t>Model fits</a:t>
            </a:r>
            <a:endParaRPr lang="en-US" sz="3200" dirty="0">
              <a:latin typeface="+mn-lt"/>
            </a:endParaRPr>
          </a:p>
        </p:txBody>
      </p:sp>
      <p:sp>
        <p:nvSpPr>
          <p:cNvPr id="11" name="TextBox 10">
            <a:extLst>
              <a:ext uri="{FF2B5EF4-FFF2-40B4-BE49-F238E27FC236}">
                <a16:creationId xmlns:a16="http://schemas.microsoft.com/office/drawing/2014/main" id="{12517259-8444-B535-2BBC-385972D10F65}"/>
              </a:ext>
            </a:extLst>
          </p:cNvPr>
          <p:cNvSpPr txBox="1"/>
          <p:nvPr/>
        </p:nvSpPr>
        <p:spPr>
          <a:xfrm>
            <a:off x="223673" y="859853"/>
            <a:ext cx="973343" cy="461665"/>
          </a:xfrm>
          <a:prstGeom prst="rect">
            <a:avLst/>
          </a:prstGeom>
          <a:noFill/>
        </p:spPr>
        <p:txBody>
          <a:bodyPr wrap="none" rtlCol="0">
            <a:spAutoFit/>
          </a:bodyPr>
          <a:lstStyle/>
          <a:p>
            <a:r>
              <a:rPr lang="en-US" sz="2400" dirty="0"/>
              <a:t>Ogives</a:t>
            </a:r>
          </a:p>
        </p:txBody>
      </p:sp>
    </p:spTree>
    <p:extLst>
      <p:ext uri="{BB962C8B-B14F-4D97-AF65-F5344CB8AC3E}">
        <p14:creationId xmlns:p14="http://schemas.microsoft.com/office/powerpoint/2010/main" val="334306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C0568-86E6-46DB-4DE7-1B8F166FF8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BD8B13-FEAD-C295-804E-1056B9874953}"/>
              </a:ext>
            </a:extLst>
          </p:cNvPr>
          <p:cNvSpPr>
            <a:spLocks noGrp="1"/>
          </p:cNvSpPr>
          <p:nvPr>
            <p:ph type="title"/>
          </p:nvPr>
        </p:nvSpPr>
        <p:spPr>
          <a:xfrm>
            <a:off x="223673" y="176443"/>
            <a:ext cx="8814415" cy="520399"/>
          </a:xfrm>
        </p:spPr>
        <p:txBody>
          <a:bodyPr>
            <a:noAutofit/>
          </a:bodyPr>
          <a:lstStyle/>
          <a:p>
            <a:r>
              <a:rPr lang="en-US" sz="3200" dirty="0">
                <a:latin typeface="+mn-lt"/>
              </a:rPr>
              <a:t>Fits to data</a:t>
            </a:r>
          </a:p>
        </p:txBody>
      </p:sp>
      <p:pic>
        <p:nvPicPr>
          <p:cNvPr id="5" name="Picture 4">
            <a:extLst>
              <a:ext uri="{FF2B5EF4-FFF2-40B4-BE49-F238E27FC236}">
                <a16:creationId xmlns:a16="http://schemas.microsoft.com/office/drawing/2014/main" id="{83B8495E-2039-8275-CCD1-96C90DC701A7}"/>
              </a:ext>
            </a:extLst>
          </p:cNvPr>
          <p:cNvPicPr>
            <a:picLocks noChangeAspect="1"/>
          </p:cNvPicPr>
          <p:nvPr/>
        </p:nvPicPr>
        <p:blipFill>
          <a:blip r:embed="rId3"/>
          <a:stretch>
            <a:fillRect/>
          </a:stretch>
        </p:blipFill>
        <p:spPr>
          <a:xfrm>
            <a:off x="4630880" y="1071221"/>
            <a:ext cx="7416800" cy="4851400"/>
          </a:xfrm>
          <a:prstGeom prst="rect">
            <a:avLst/>
          </a:prstGeom>
        </p:spPr>
      </p:pic>
      <p:pic>
        <p:nvPicPr>
          <p:cNvPr id="7" name="Picture 6">
            <a:extLst>
              <a:ext uri="{FF2B5EF4-FFF2-40B4-BE49-F238E27FC236}">
                <a16:creationId xmlns:a16="http://schemas.microsoft.com/office/drawing/2014/main" id="{1C25715C-878A-1FA1-FF44-441FF5A059C5}"/>
              </a:ext>
            </a:extLst>
          </p:cNvPr>
          <p:cNvPicPr>
            <a:picLocks noChangeAspect="1"/>
          </p:cNvPicPr>
          <p:nvPr/>
        </p:nvPicPr>
        <p:blipFill>
          <a:blip r:embed="rId4"/>
          <a:srcRect t="1476"/>
          <a:stretch>
            <a:fillRect/>
          </a:stretch>
        </p:blipFill>
        <p:spPr>
          <a:xfrm>
            <a:off x="144320" y="1071221"/>
            <a:ext cx="4460385" cy="4805929"/>
          </a:xfrm>
          <a:prstGeom prst="rect">
            <a:avLst/>
          </a:prstGeom>
        </p:spPr>
      </p:pic>
      <p:pic>
        <p:nvPicPr>
          <p:cNvPr id="8" name="Picture 7">
            <a:extLst>
              <a:ext uri="{FF2B5EF4-FFF2-40B4-BE49-F238E27FC236}">
                <a16:creationId xmlns:a16="http://schemas.microsoft.com/office/drawing/2014/main" id="{19FB9400-EEF7-C444-49F9-3926483D5E82}"/>
              </a:ext>
            </a:extLst>
          </p:cNvPr>
          <p:cNvPicPr>
            <a:picLocks noChangeAspect="1"/>
          </p:cNvPicPr>
          <p:nvPr/>
        </p:nvPicPr>
        <p:blipFill>
          <a:blip r:embed="rId5"/>
          <a:stretch>
            <a:fillRect/>
          </a:stretch>
        </p:blipFill>
        <p:spPr>
          <a:xfrm>
            <a:off x="732790" y="4667479"/>
            <a:ext cx="1308100" cy="190500"/>
          </a:xfrm>
          <a:prstGeom prst="rect">
            <a:avLst/>
          </a:prstGeom>
        </p:spPr>
      </p:pic>
      <p:sp>
        <p:nvSpPr>
          <p:cNvPr id="9" name="TextBox 8">
            <a:extLst>
              <a:ext uri="{FF2B5EF4-FFF2-40B4-BE49-F238E27FC236}">
                <a16:creationId xmlns:a16="http://schemas.microsoft.com/office/drawing/2014/main" id="{0D5E7096-D399-D9C4-EB69-E8BBD23EC41E}"/>
              </a:ext>
            </a:extLst>
          </p:cNvPr>
          <p:cNvSpPr txBox="1"/>
          <p:nvPr/>
        </p:nvSpPr>
        <p:spPr>
          <a:xfrm>
            <a:off x="465514" y="736483"/>
            <a:ext cx="1218603" cy="369332"/>
          </a:xfrm>
          <a:prstGeom prst="rect">
            <a:avLst/>
          </a:prstGeom>
          <a:noFill/>
        </p:spPr>
        <p:txBody>
          <a:bodyPr wrap="none" rtlCol="0">
            <a:spAutoFit/>
          </a:bodyPr>
          <a:lstStyle/>
          <a:p>
            <a:r>
              <a:rPr lang="en-US" dirty="0"/>
              <a:t>Growth data</a:t>
            </a:r>
          </a:p>
        </p:txBody>
      </p:sp>
      <p:sp>
        <p:nvSpPr>
          <p:cNvPr id="10" name="TextBox 9">
            <a:extLst>
              <a:ext uri="{FF2B5EF4-FFF2-40B4-BE49-F238E27FC236}">
                <a16:creationId xmlns:a16="http://schemas.microsoft.com/office/drawing/2014/main" id="{18E835A7-7107-ED94-4878-E394E915A597}"/>
              </a:ext>
            </a:extLst>
          </p:cNvPr>
          <p:cNvSpPr txBox="1"/>
          <p:nvPr/>
        </p:nvSpPr>
        <p:spPr>
          <a:xfrm>
            <a:off x="1939109" y="5507817"/>
            <a:ext cx="965329" cy="369332"/>
          </a:xfrm>
          <a:prstGeom prst="rect">
            <a:avLst/>
          </a:prstGeom>
          <a:noFill/>
        </p:spPr>
        <p:txBody>
          <a:bodyPr wrap="none" rtlCol="0">
            <a:spAutoFit/>
          </a:bodyPr>
          <a:lstStyle/>
          <a:p>
            <a:r>
              <a:rPr lang="en-US" dirty="0"/>
              <a:t>better fits</a:t>
            </a:r>
          </a:p>
        </p:txBody>
      </p:sp>
      <p:sp>
        <p:nvSpPr>
          <p:cNvPr id="11" name="TextBox 10">
            <a:extLst>
              <a:ext uri="{FF2B5EF4-FFF2-40B4-BE49-F238E27FC236}">
                <a16:creationId xmlns:a16="http://schemas.microsoft.com/office/drawing/2014/main" id="{1CB389F2-9342-54B7-9601-1938A331364F}"/>
              </a:ext>
            </a:extLst>
          </p:cNvPr>
          <p:cNvSpPr txBox="1"/>
          <p:nvPr/>
        </p:nvSpPr>
        <p:spPr>
          <a:xfrm>
            <a:off x="7972763" y="3914544"/>
            <a:ext cx="984565" cy="369332"/>
          </a:xfrm>
          <a:prstGeom prst="rect">
            <a:avLst/>
          </a:prstGeom>
          <a:noFill/>
        </p:spPr>
        <p:txBody>
          <a:bodyPr wrap="none" rtlCol="0">
            <a:spAutoFit/>
          </a:bodyPr>
          <a:lstStyle/>
          <a:p>
            <a:r>
              <a:rPr lang="en-US" dirty="0"/>
              <a:t>worse fits</a:t>
            </a:r>
          </a:p>
        </p:txBody>
      </p:sp>
      <p:sp>
        <p:nvSpPr>
          <p:cNvPr id="12" name="TextBox 11">
            <a:extLst>
              <a:ext uri="{FF2B5EF4-FFF2-40B4-BE49-F238E27FC236}">
                <a16:creationId xmlns:a16="http://schemas.microsoft.com/office/drawing/2014/main" id="{9FE211D7-C5DB-75CD-2F79-B0A0CCA234D2}"/>
              </a:ext>
            </a:extLst>
          </p:cNvPr>
          <p:cNvSpPr txBox="1"/>
          <p:nvPr/>
        </p:nvSpPr>
        <p:spPr>
          <a:xfrm>
            <a:off x="4955449" y="736483"/>
            <a:ext cx="1375698" cy="369332"/>
          </a:xfrm>
          <a:prstGeom prst="rect">
            <a:avLst/>
          </a:prstGeom>
          <a:noFill/>
        </p:spPr>
        <p:txBody>
          <a:bodyPr wrap="none" rtlCol="0">
            <a:spAutoFit/>
          </a:bodyPr>
          <a:lstStyle/>
          <a:p>
            <a:r>
              <a:rPr lang="en-US" dirty="0"/>
              <a:t>Fisheries data</a:t>
            </a:r>
          </a:p>
        </p:txBody>
      </p:sp>
      <p:sp>
        <p:nvSpPr>
          <p:cNvPr id="13" name="TextBox 12">
            <a:extLst>
              <a:ext uri="{FF2B5EF4-FFF2-40B4-BE49-F238E27FC236}">
                <a16:creationId xmlns:a16="http://schemas.microsoft.com/office/drawing/2014/main" id="{8AB12A36-A0BF-85B9-E6B7-D549AD81908C}"/>
              </a:ext>
            </a:extLst>
          </p:cNvPr>
          <p:cNvSpPr txBox="1"/>
          <p:nvPr/>
        </p:nvSpPr>
        <p:spPr>
          <a:xfrm>
            <a:off x="8766778" y="696842"/>
            <a:ext cx="1197764" cy="369332"/>
          </a:xfrm>
          <a:prstGeom prst="rect">
            <a:avLst/>
          </a:prstGeom>
          <a:noFill/>
        </p:spPr>
        <p:txBody>
          <a:bodyPr wrap="none" rtlCol="0">
            <a:spAutoFit/>
          </a:bodyPr>
          <a:lstStyle/>
          <a:p>
            <a:r>
              <a:rPr lang="en-US" dirty="0"/>
              <a:t>Survey data</a:t>
            </a:r>
          </a:p>
        </p:txBody>
      </p:sp>
    </p:spTree>
    <p:extLst>
      <p:ext uri="{BB962C8B-B14F-4D97-AF65-F5344CB8AC3E}">
        <p14:creationId xmlns:p14="http://schemas.microsoft.com/office/powerpoint/2010/main" val="4120178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0DE97-949E-41F0-F25E-BE19E8F7A4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0369FC-CA3B-2028-B564-2456D5CF03C6}"/>
              </a:ext>
            </a:extLst>
          </p:cNvPr>
          <p:cNvSpPr>
            <a:spLocks noGrp="1"/>
          </p:cNvSpPr>
          <p:nvPr>
            <p:ph type="title"/>
          </p:nvPr>
        </p:nvSpPr>
        <p:spPr>
          <a:xfrm>
            <a:off x="223673" y="176443"/>
            <a:ext cx="8814415" cy="520399"/>
          </a:xfrm>
        </p:spPr>
        <p:txBody>
          <a:bodyPr>
            <a:noAutofit/>
          </a:bodyPr>
          <a:lstStyle/>
          <a:p>
            <a:r>
              <a:rPr lang="en-US" sz="3200" dirty="0">
                <a:latin typeface="+mn-lt"/>
              </a:rPr>
              <a:t>Estimated quantities</a:t>
            </a:r>
          </a:p>
        </p:txBody>
      </p:sp>
      <p:pic>
        <p:nvPicPr>
          <p:cNvPr id="2" name="Picture 1">
            <a:extLst>
              <a:ext uri="{FF2B5EF4-FFF2-40B4-BE49-F238E27FC236}">
                <a16:creationId xmlns:a16="http://schemas.microsoft.com/office/drawing/2014/main" id="{3EE230DA-1347-2199-8866-095E24FCA411}"/>
              </a:ext>
            </a:extLst>
          </p:cNvPr>
          <p:cNvPicPr>
            <a:picLocks noChangeAspect="1"/>
          </p:cNvPicPr>
          <p:nvPr/>
        </p:nvPicPr>
        <p:blipFill>
          <a:blip r:embed="rId3"/>
          <a:stretch>
            <a:fillRect/>
          </a:stretch>
        </p:blipFill>
        <p:spPr>
          <a:xfrm>
            <a:off x="137085" y="1402772"/>
            <a:ext cx="3769346" cy="4635033"/>
          </a:xfrm>
          <a:prstGeom prst="rect">
            <a:avLst/>
          </a:prstGeom>
        </p:spPr>
      </p:pic>
      <p:pic>
        <p:nvPicPr>
          <p:cNvPr id="3" name="Picture 2">
            <a:extLst>
              <a:ext uri="{FF2B5EF4-FFF2-40B4-BE49-F238E27FC236}">
                <a16:creationId xmlns:a16="http://schemas.microsoft.com/office/drawing/2014/main" id="{ABA145D5-C8BF-7A7F-518B-FEAC1BA8E626}"/>
              </a:ext>
            </a:extLst>
          </p:cNvPr>
          <p:cNvPicPr>
            <a:picLocks noChangeAspect="1"/>
          </p:cNvPicPr>
          <p:nvPr/>
        </p:nvPicPr>
        <p:blipFill>
          <a:blip r:embed="rId4"/>
          <a:stretch>
            <a:fillRect/>
          </a:stretch>
        </p:blipFill>
        <p:spPr>
          <a:xfrm>
            <a:off x="3896020" y="1402772"/>
            <a:ext cx="3893428" cy="4635033"/>
          </a:xfrm>
          <a:prstGeom prst="rect">
            <a:avLst/>
          </a:prstGeom>
        </p:spPr>
      </p:pic>
      <p:sp>
        <p:nvSpPr>
          <p:cNvPr id="5" name="TextBox 4">
            <a:extLst>
              <a:ext uri="{FF2B5EF4-FFF2-40B4-BE49-F238E27FC236}">
                <a16:creationId xmlns:a16="http://schemas.microsoft.com/office/drawing/2014/main" id="{7AC7FAA6-7386-ACA5-39D3-2345DC7B94BD}"/>
              </a:ext>
            </a:extLst>
          </p:cNvPr>
          <p:cNvSpPr txBox="1"/>
          <p:nvPr/>
        </p:nvSpPr>
        <p:spPr>
          <a:xfrm>
            <a:off x="1418868" y="1075004"/>
            <a:ext cx="1205779" cy="369332"/>
          </a:xfrm>
          <a:prstGeom prst="rect">
            <a:avLst/>
          </a:prstGeom>
          <a:noFill/>
        </p:spPr>
        <p:txBody>
          <a:bodyPr wrap="none" rtlCol="0">
            <a:spAutoFit/>
          </a:bodyPr>
          <a:lstStyle/>
          <a:p>
            <a:r>
              <a:rPr lang="en-US" dirty="0"/>
              <a:t>Recruitment</a:t>
            </a:r>
          </a:p>
        </p:txBody>
      </p:sp>
      <p:sp>
        <p:nvSpPr>
          <p:cNvPr id="6" name="TextBox 5">
            <a:extLst>
              <a:ext uri="{FF2B5EF4-FFF2-40B4-BE49-F238E27FC236}">
                <a16:creationId xmlns:a16="http://schemas.microsoft.com/office/drawing/2014/main" id="{A6651E30-E838-F6F5-67AD-C548630CC1A9}"/>
              </a:ext>
            </a:extLst>
          </p:cNvPr>
          <p:cNvSpPr txBox="1"/>
          <p:nvPr/>
        </p:nvSpPr>
        <p:spPr>
          <a:xfrm>
            <a:off x="5057970" y="1075004"/>
            <a:ext cx="1553630" cy="369332"/>
          </a:xfrm>
          <a:prstGeom prst="rect">
            <a:avLst/>
          </a:prstGeom>
          <a:noFill/>
        </p:spPr>
        <p:txBody>
          <a:bodyPr wrap="none" rtlCol="0">
            <a:spAutoFit/>
          </a:bodyPr>
          <a:lstStyle/>
          <a:p>
            <a:r>
              <a:rPr lang="en-US" dirty="0"/>
              <a:t>Mature Biomass</a:t>
            </a:r>
          </a:p>
        </p:txBody>
      </p:sp>
      <p:pic>
        <p:nvPicPr>
          <p:cNvPr id="7" name="Picture 6">
            <a:extLst>
              <a:ext uri="{FF2B5EF4-FFF2-40B4-BE49-F238E27FC236}">
                <a16:creationId xmlns:a16="http://schemas.microsoft.com/office/drawing/2014/main" id="{9A89427C-F243-B35C-EDC9-70720E7AA95E}"/>
              </a:ext>
            </a:extLst>
          </p:cNvPr>
          <p:cNvPicPr>
            <a:picLocks noChangeAspect="1"/>
          </p:cNvPicPr>
          <p:nvPr/>
        </p:nvPicPr>
        <p:blipFill>
          <a:blip r:embed="rId5"/>
          <a:stretch>
            <a:fillRect/>
          </a:stretch>
        </p:blipFill>
        <p:spPr>
          <a:xfrm>
            <a:off x="7763139" y="1599180"/>
            <a:ext cx="4291776" cy="4250902"/>
          </a:xfrm>
          <a:prstGeom prst="rect">
            <a:avLst/>
          </a:prstGeom>
        </p:spPr>
      </p:pic>
      <p:sp>
        <p:nvSpPr>
          <p:cNvPr id="8" name="TextBox 7">
            <a:extLst>
              <a:ext uri="{FF2B5EF4-FFF2-40B4-BE49-F238E27FC236}">
                <a16:creationId xmlns:a16="http://schemas.microsoft.com/office/drawing/2014/main" id="{98E64E00-D402-E6D8-1A61-DD9AF7BCAAC8}"/>
              </a:ext>
            </a:extLst>
          </p:cNvPr>
          <p:cNvSpPr txBox="1"/>
          <p:nvPr/>
        </p:nvSpPr>
        <p:spPr>
          <a:xfrm>
            <a:off x="8686800" y="1049482"/>
            <a:ext cx="2892138" cy="369332"/>
          </a:xfrm>
          <a:prstGeom prst="rect">
            <a:avLst/>
          </a:prstGeom>
          <a:noFill/>
        </p:spPr>
        <p:txBody>
          <a:bodyPr wrap="none" rtlCol="0">
            <a:spAutoFit/>
          </a:bodyPr>
          <a:lstStyle/>
          <a:p>
            <a:r>
              <a:rPr lang="en-US" dirty="0"/>
              <a:t>Directed Fishery Capture Rates </a:t>
            </a:r>
          </a:p>
        </p:txBody>
      </p:sp>
    </p:spTree>
    <p:extLst>
      <p:ext uri="{BB962C8B-B14F-4D97-AF65-F5344CB8AC3E}">
        <p14:creationId xmlns:p14="http://schemas.microsoft.com/office/powerpoint/2010/main" val="3375257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26748-E44E-0589-0B08-50AA008449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366D05-46DF-777A-50FB-BA586B1A96C3}"/>
              </a:ext>
            </a:extLst>
          </p:cNvPr>
          <p:cNvSpPr>
            <a:spLocks noGrp="1"/>
          </p:cNvSpPr>
          <p:nvPr>
            <p:ph type="title"/>
          </p:nvPr>
        </p:nvSpPr>
        <p:spPr>
          <a:xfrm>
            <a:off x="223673" y="176443"/>
            <a:ext cx="8814415" cy="520399"/>
          </a:xfrm>
        </p:spPr>
        <p:txBody>
          <a:bodyPr>
            <a:noAutofit/>
          </a:bodyPr>
          <a:lstStyle/>
          <a:p>
            <a:r>
              <a:rPr lang="en-US" sz="3200" dirty="0">
                <a:latin typeface="+mn-lt"/>
              </a:rPr>
              <a:t>Management Quantities</a:t>
            </a:r>
          </a:p>
        </p:txBody>
      </p:sp>
      <p:pic>
        <p:nvPicPr>
          <p:cNvPr id="2" name="Picture 1">
            <a:extLst>
              <a:ext uri="{FF2B5EF4-FFF2-40B4-BE49-F238E27FC236}">
                <a16:creationId xmlns:a16="http://schemas.microsoft.com/office/drawing/2014/main" id="{60B474CB-40FD-0EC5-9BAF-06D0F00C3BA7}"/>
              </a:ext>
            </a:extLst>
          </p:cNvPr>
          <p:cNvPicPr>
            <a:picLocks noChangeAspect="1"/>
          </p:cNvPicPr>
          <p:nvPr/>
        </p:nvPicPr>
        <p:blipFill>
          <a:blip r:embed="rId3"/>
          <a:srcRect r="13060" b="50000"/>
          <a:stretch>
            <a:fillRect/>
          </a:stretch>
        </p:blipFill>
        <p:spPr>
          <a:xfrm>
            <a:off x="208395" y="1586923"/>
            <a:ext cx="5340743" cy="3307196"/>
          </a:xfrm>
          <a:prstGeom prst="rect">
            <a:avLst/>
          </a:prstGeom>
        </p:spPr>
      </p:pic>
      <p:pic>
        <p:nvPicPr>
          <p:cNvPr id="3" name="Picture 2">
            <a:extLst>
              <a:ext uri="{FF2B5EF4-FFF2-40B4-BE49-F238E27FC236}">
                <a16:creationId xmlns:a16="http://schemas.microsoft.com/office/drawing/2014/main" id="{72D64B8C-B881-17CA-D05D-53CAB54C52FF}"/>
              </a:ext>
            </a:extLst>
          </p:cNvPr>
          <p:cNvPicPr>
            <a:picLocks noChangeAspect="1"/>
          </p:cNvPicPr>
          <p:nvPr/>
        </p:nvPicPr>
        <p:blipFill>
          <a:blip r:embed="rId3"/>
          <a:srcRect t="50000" r="12881"/>
          <a:stretch>
            <a:fillRect/>
          </a:stretch>
        </p:blipFill>
        <p:spPr>
          <a:xfrm>
            <a:off x="5653046" y="1586923"/>
            <a:ext cx="5340743" cy="3300371"/>
          </a:xfrm>
          <a:prstGeom prst="rect">
            <a:avLst/>
          </a:prstGeom>
        </p:spPr>
      </p:pic>
      <p:pic>
        <p:nvPicPr>
          <p:cNvPr id="5" name="Picture 4">
            <a:extLst>
              <a:ext uri="{FF2B5EF4-FFF2-40B4-BE49-F238E27FC236}">
                <a16:creationId xmlns:a16="http://schemas.microsoft.com/office/drawing/2014/main" id="{F69B921F-C444-8BB6-5C83-FE55D2722DCE}"/>
              </a:ext>
            </a:extLst>
          </p:cNvPr>
          <p:cNvPicPr>
            <a:picLocks noChangeAspect="1"/>
          </p:cNvPicPr>
          <p:nvPr/>
        </p:nvPicPr>
        <p:blipFill>
          <a:blip r:embed="rId3"/>
          <a:srcRect l="86800" t="21691" b="68576"/>
          <a:stretch>
            <a:fillRect/>
          </a:stretch>
        </p:blipFill>
        <p:spPr>
          <a:xfrm>
            <a:off x="2771486" y="4894119"/>
            <a:ext cx="655473" cy="520400"/>
          </a:xfrm>
          <a:prstGeom prst="rect">
            <a:avLst/>
          </a:prstGeom>
        </p:spPr>
      </p:pic>
      <p:pic>
        <p:nvPicPr>
          <p:cNvPr id="6" name="Picture 5">
            <a:extLst>
              <a:ext uri="{FF2B5EF4-FFF2-40B4-BE49-F238E27FC236}">
                <a16:creationId xmlns:a16="http://schemas.microsoft.com/office/drawing/2014/main" id="{F464F517-758B-201A-50E1-80E00531103E}"/>
              </a:ext>
            </a:extLst>
          </p:cNvPr>
          <p:cNvPicPr>
            <a:picLocks noChangeAspect="1"/>
          </p:cNvPicPr>
          <p:nvPr/>
        </p:nvPicPr>
        <p:blipFill>
          <a:blip r:embed="rId3"/>
          <a:srcRect l="87247" t="71831" b="20007"/>
          <a:stretch>
            <a:fillRect/>
          </a:stretch>
        </p:blipFill>
        <p:spPr>
          <a:xfrm>
            <a:off x="8219508" y="4936109"/>
            <a:ext cx="633269" cy="436419"/>
          </a:xfrm>
          <a:prstGeom prst="rect">
            <a:avLst/>
          </a:prstGeom>
        </p:spPr>
      </p:pic>
    </p:spTree>
    <p:extLst>
      <p:ext uri="{BB962C8B-B14F-4D97-AF65-F5344CB8AC3E}">
        <p14:creationId xmlns:p14="http://schemas.microsoft.com/office/powerpoint/2010/main" val="3874691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17114-F667-0D3A-5430-48BF98C090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77B3F0-56D6-21C6-1517-4258FF8311B8}"/>
              </a:ext>
            </a:extLst>
          </p:cNvPr>
          <p:cNvSpPr>
            <a:spLocks noGrp="1"/>
          </p:cNvSpPr>
          <p:nvPr>
            <p:ph type="title"/>
          </p:nvPr>
        </p:nvSpPr>
        <p:spPr>
          <a:xfrm>
            <a:off x="1688792" y="2691045"/>
            <a:ext cx="8814415" cy="520399"/>
          </a:xfrm>
        </p:spPr>
        <p:txBody>
          <a:bodyPr>
            <a:noAutofit/>
          </a:bodyPr>
          <a:lstStyle/>
          <a:p>
            <a:r>
              <a:rPr lang="en-US" sz="3200" dirty="0">
                <a:latin typeface="+mn-lt"/>
              </a:rPr>
              <a:t>Progress toward a GMACS model for Tanner crab</a:t>
            </a:r>
          </a:p>
        </p:txBody>
      </p:sp>
    </p:spTree>
    <p:extLst>
      <p:ext uri="{BB962C8B-B14F-4D97-AF65-F5344CB8AC3E}">
        <p14:creationId xmlns:p14="http://schemas.microsoft.com/office/powerpoint/2010/main" val="2460698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E78E6-0269-8A46-B92D-8B092A920324}"/>
              </a:ext>
            </a:extLst>
          </p:cNvPr>
          <p:cNvSpPr>
            <a:spLocks noGrp="1"/>
          </p:cNvSpPr>
          <p:nvPr>
            <p:ph type="title"/>
          </p:nvPr>
        </p:nvSpPr>
        <p:spPr>
          <a:xfrm>
            <a:off x="218746" y="233083"/>
            <a:ext cx="7886700" cy="520399"/>
          </a:xfrm>
        </p:spPr>
        <p:txBody>
          <a:bodyPr>
            <a:noAutofit/>
          </a:bodyPr>
          <a:lstStyle/>
          <a:p>
            <a:r>
              <a:rPr lang="en-US" sz="2800" dirty="0">
                <a:latin typeface="+mn-lt"/>
              </a:rPr>
              <a:t>Tier 3 Assessment Model</a:t>
            </a:r>
          </a:p>
        </p:txBody>
      </p:sp>
      <p:sp>
        <p:nvSpPr>
          <p:cNvPr id="2" name="TextBox 1">
            <a:extLst>
              <a:ext uri="{FF2B5EF4-FFF2-40B4-BE49-F238E27FC236}">
                <a16:creationId xmlns:a16="http://schemas.microsoft.com/office/drawing/2014/main" id="{D9A8462F-5DBA-F24D-B525-7F903477256A}"/>
              </a:ext>
            </a:extLst>
          </p:cNvPr>
          <p:cNvSpPr txBox="1"/>
          <p:nvPr/>
        </p:nvSpPr>
        <p:spPr>
          <a:xfrm>
            <a:off x="1227624" y="782135"/>
            <a:ext cx="5583580" cy="5632311"/>
          </a:xfrm>
          <a:prstGeom prst="rect">
            <a:avLst/>
          </a:prstGeom>
          <a:noFill/>
        </p:spPr>
        <p:txBody>
          <a:bodyPr wrap="none" rtlCol="0">
            <a:spAutoFit/>
          </a:bodyPr>
          <a:lstStyle/>
          <a:p>
            <a:pPr marL="285750" indent="-285750">
              <a:buFont typeface="Arial" panose="020B0604020202020204" pitchFamily="34" charset="0"/>
              <a:buChar char="•"/>
            </a:pPr>
            <a:r>
              <a:rPr lang="en-US" sz="2000" dirty="0"/>
              <a:t>Tier 3 size-structured model</a:t>
            </a:r>
          </a:p>
          <a:p>
            <a:pPr marL="742950" lvl="1" indent="-285750">
              <a:buFont typeface="Arial" panose="020B0604020202020204" pitchFamily="34" charset="0"/>
              <a:buChar char="•"/>
            </a:pPr>
            <a:r>
              <a:rPr lang="en-US" sz="2000" dirty="0"/>
              <a:t>Survey data</a:t>
            </a:r>
          </a:p>
          <a:p>
            <a:pPr marL="1200150" lvl="2" indent="-285750">
              <a:buFont typeface="Arial" panose="020B0604020202020204" pitchFamily="34" charset="0"/>
              <a:buChar char="•"/>
            </a:pPr>
            <a:r>
              <a:rPr lang="en-US" sz="2000" dirty="0"/>
              <a:t>NMFS EBS shelf survey: 1975-present</a:t>
            </a:r>
          </a:p>
          <a:p>
            <a:pPr marL="1200150" lvl="2" indent="-285750">
              <a:buFont typeface="Arial" panose="020B0604020202020204" pitchFamily="34" charset="0"/>
              <a:buChar char="•"/>
            </a:pPr>
            <a:r>
              <a:rPr lang="en-US" sz="2000" dirty="0"/>
              <a:t>BSFRF 2013-2018 side-by-side haul studies </a:t>
            </a:r>
          </a:p>
          <a:p>
            <a:pPr marL="742950" lvl="1" indent="-285750">
              <a:buFont typeface="Arial" panose="020B0604020202020204" pitchFamily="34" charset="0"/>
              <a:buChar char="•"/>
            </a:pPr>
            <a:r>
              <a:rPr lang="en-US" sz="2000" dirty="0"/>
              <a:t>Fishery data</a:t>
            </a:r>
          </a:p>
          <a:p>
            <a:pPr marL="1200150" lvl="2" indent="-285750">
              <a:buFont typeface="Arial" panose="020B0604020202020204" pitchFamily="34" charset="0"/>
              <a:buChar char="•"/>
            </a:pPr>
            <a:r>
              <a:rPr lang="en-US" sz="2000" dirty="0"/>
              <a:t>directed fishery (areas combined)</a:t>
            </a:r>
          </a:p>
          <a:p>
            <a:pPr marL="1657350" lvl="3" indent="-285750">
              <a:buFont typeface="Arial" panose="020B0604020202020204" pitchFamily="34" charset="0"/>
              <a:buChar char="•"/>
            </a:pPr>
            <a:r>
              <a:rPr lang="en-US" sz="2000" dirty="0"/>
              <a:t>retained catch</a:t>
            </a:r>
          </a:p>
          <a:p>
            <a:pPr marL="1657350" lvl="3" indent="-285750">
              <a:buFont typeface="Arial" panose="020B0604020202020204" pitchFamily="34" charset="0"/>
              <a:buChar char="•"/>
            </a:pPr>
            <a:r>
              <a:rPr lang="en-US" sz="2000" dirty="0"/>
              <a:t>total catch</a:t>
            </a:r>
          </a:p>
          <a:p>
            <a:pPr marL="1200150" lvl="2" indent="-285750">
              <a:buFont typeface="Arial" panose="020B0604020202020204" pitchFamily="34" charset="0"/>
              <a:buChar char="•"/>
            </a:pPr>
            <a:r>
              <a:rPr lang="en-US" sz="2000" dirty="0"/>
              <a:t>bycatch in </a:t>
            </a:r>
          </a:p>
          <a:p>
            <a:pPr marL="1657350" lvl="3" indent="-285750">
              <a:buFont typeface="Arial" panose="020B0604020202020204" pitchFamily="34" charset="0"/>
              <a:buChar char="•"/>
            </a:pPr>
            <a:r>
              <a:rPr lang="en-US" sz="2000" dirty="0"/>
              <a:t>snow crab fishery</a:t>
            </a:r>
          </a:p>
          <a:p>
            <a:pPr marL="1657350" lvl="3" indent="-285750">
              <a:buFont typeface="Arial" panose="020B0604020202020204" pitchFamily="34" charset="0"/>
              <a:buChar char="•"/>
            </a:pPr>
            <a:r>
              <a:rPr lang="en-US" sz="2000" dirty="0"/>
              <a:t>BBRKC fishery</a:t>
            </a:r>
          </a:p>
          <a:p>
            <a:pPr marL="1657350" lvl="3" indent="-285750">
              <a:buFont typeface="Arial" panose="020B0604020202020204" pitchFamily="34" charset="0"/>
              <a:buChar char="•"/>
            </a:pPr>
            <a:r>
              <a:rPr lang="en-US" sz="2000" dirty="0"/>
              <a:t>groundfish fisheries</a:t>
            </a:r>
          </a:p>
          <a:p>
            <a:pPr marL="742950" lvl="1" indent="-285750">
              <a:buFont typeface="Arial" panose="020B0604020202020204" pitchFamily="34" charset="0"/>
              <a:buChar char="•"/>
            </a:pPr>
            <a:r>
              <a:rPr lang="en-US" sz="2000" dirty="0"/>
              <a:t>Estimates:</a:t>
            </a:r>
          </a:p>
          <a:p>
            <a:pPr marL="1200150" lvl="2" indent="-285750">
              <a:buFont typeface="Arial" panose="020B0604020202020204" pitchFamily="34" charset="0"/>
              <a:buChar char="•"/>
            </a:pPr>
            <a:r>
              <a:rPr lang="en-US" sz="2000" dirty="0"/>
              <a:t>Annual recruitment</a:t>
            </a:r>
          </a:p>
          <a:p>
            <a:pPr marL="1200150" lvl="2" indent="-285750">
              <a:buFont typeface="Arial" panose="020B0604020202020204" pitchFamily="34" charset="0"/>
              <a:buChar char="•"/>
            </a:pPr>
            <a:r>
              <a:rPr lang="en-US" sz="2000" dirty="0"/>
              <a:t>Annual numbers-at-size (M,F)</a:t>
            </a:r>
          </a:p>
          <a:p>
            <a:pPr marL="1200150" lvl="2" indent="-285750">
              <a:buFont typeface="Arial" panose="020B0604020202020204" pitchFamily="34" charset="0"/>
              <a:buChar char="•"/>
            </a:pPr>
            <a:r>
              <a:rPr lang="en-US" sz="2000" dirty="0"/>
              <a:t>mature biomass (MMB, MFB)</a:t>
            </a:r>
          </a:p>
          <a:p>
            <a:pPr marL="742950" lvl="1" indent="-285750">
              <a:buFont typeface="Arial" panose="020B0604020202020204" pitchFamily="34" charset="0"/>
              <a:buChar char="•"/>
            </a:pPr>
            <a:r>
              <a:rPr lang="en-US" sz="2000" dirty="0"/>
              <a:t>Determines:</a:t>
            </a:r>
          </a:p>
          <a:p>
            <a:pPr marL="1200150" lvl="2" indent="-285750">
              <a:buFont typeface="Arial" panose="020B0604020202020204" pitchFamily="34" charset="0"/>
              <a:buChar char="•"/>
            </a:pPr>
            <a:r>
              <a:rPr lang="en-US" sz="2000" dirty="0"/>
              <a:t>F</a:t>
            </a:r>
            <a:r>
              <a:rPr lang="en-US" sz="2000" baseline="-25000" dirty="0"/>
              <a:t>MSY</a:t>
            </a:r>
            <a:r>
              <a:rPr lang="en-US" sz="2000" dirty="0"/>
              <a:t>, B</a:t>
            </a:r>
            <a:r>
              <a:rPr lang="en-US" sz="2000" baseline="-25000" dirty="0"/>
              <a:t>MSY</a:t>
            </a:r>
            <a:r>
              <a:rPr lang="en-US" sz="2000" dirty="0"/>
              <a:t>, F</a:t>
            </a:r>
            <a:r>
              <a:rPr lang="en-US" sz="2000" baseline="-25000" dirty="0"/>
              <a:t>OFL</a:t>
            </a:r>
            <a:r>
              <a:rPr lang="en-US" sz="2000" dirty="0"/>
              <a:t>, OFL</a:t>
            </a:r>
          </a:p>
        </p:txBody>
      </p:sp>
      <p:pic>
        <p:nvPicPr>
          <p:cNvPr id="5" name="Picture 4">
            <a:extLst>
              <a:ext uri="{FF2B5EF4-FFF2-40B4-BE49-F238E27FC236}">
                <a16:creationId xmlns:a16="http://schemas.microsoft.com/office/drawing/2014/main" id="{07B6137A-C0CC-E346-8142-0E246A30A8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89649" y="254595"/>
            <a:ext cx="5430644" cy="6110122"/>
          </a:xfrm>
          <a:prstGeom prst="rect">
            <a:avLst/>
          </a:prstGeom>
        </p:spPr>
      </p:pic>
    </p:spTree>
    <p:extLst>
      <p:ext uri="{BB962C8B-B14F-4D97-AF65-F5344CB8AC3E}">
        <p14:creationId xmlns:p14="http://schemas.microsoft.com/office/powerpoint/2010/main" val="1254916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E78E6-0269-8A46-B92D-8B092A920324}"/>
              </a:ext>
            </a:extLst>
          </p:cNvPr>
          <p:cNvSpPr>
            <a:spLocks noGrp="1"/>
          </p:cNvSpPr>
          <p:nvPr>
            <p:ph type="title"/>
          </p:nvPr>
        </p:nvSpPr>
        <p:spPr>
          <a:xfrm>
            <a:off x="189270" y="202436"/>
            <a:ext cx="8669355" cy="520399"/>
          </a:xfrm>
        </p:spPr>
        <p:txBody>
          <a:bodyPr>
            <a:noAutofit/>
          </a:bodyPr>
          <a:lstStyle/>
          <a:p>
            <a:r>
              <a:rPr lang="en-US" sz="2800" dirty="0">
                <a:latin typeface="+mn-lt"/>
              </a:rPr>
              <a:t>Assessment time frames: data</a:t>
            </a:r>
          </a:p>
        </p:txBody>
      </p:sp>
      <p:pic>
        <p:nvPicPr>
          <p:cNvPr id="2" name="Picture 1">
            <a:extLst>
              <a:ext uri="{FF2B5EF4-FFF2-40B4-BE49-F238E27FC236}">
                <a16:creationId xmlns:a16="http://schemas.microsoft.com/office/drawing/2014/main" id="{6064A53B-36D8-E241-3B3A-93B76333531C}"/>
              </a:ext>
            </a:extLst>
          </p:cNvPr>
          <p:cNvPicPr>
            <a:picLocks noChangeAspect="1"/>
          </p:cNvPicPr>
          <p:nvPr/>
        </p:nvPicPr>
        <p:blipFill>
          <a:blip r:embed="rId3"/>
          <a:stretch>
            <a:fillRect/>
          </a:stretch>
        </p:blipFill>
        <p:spPr>
          <a:xfrm>
            <a:off x="91961" y="1083051"/>
            <a:ext cx="12008078" cy="4691898"/>
          </a:xfrm>
          <a:prstGeom prst="rect">
            <a:avLst/>
          </a:prstGeom>
        </p:spPr>
      </p:pic>
    </p:spTree>
    <p:extLst>
      <p:ext uri="{BB962C8B-B14F-4D97-AF65-F5344CB8AC3E}">
        <p14:creationId xmlns:p14="http://schemas.microsoft.com/office/powerpoint/2010/main" val="454016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E78E6-0269-8A46-B92D-8B092A920324}"/>
              </a:ext>
            </a:extLst>
          </p:cNvPr>
          <p:cNvSpPr>
            <a:spLocks noGrp="1"/>
          </p:cNvSpPr>
          <p:nvPr>
            <p:ph type="title"/>
          </p:nvPr>
        </p:nvSpPr>
        <p:spPr>
          <a:xfrm>
            <a:off x="153240" y="191926"/>
            <a:ext cx="8669355" cy="520399"/>
          </a:xfrm>
        </p:spPr>
        <p:txBody>
          <a:bodyPr>
            <a:noAutofit/>
          </a:bodyPr>
          <a:lstStyle/>
          <a:p>
            <a:r>
              <a:rPr lang="en-US" sz="2800" dirty="0">
                <a:latin typeface="+mn-lt"/>
              </a:rPr>
              <a:t>Assessment time frames: model processes</a:t>
            </a:r>
          </a:p>
        </p:txBody>
      </p:sp>
      <p:pic>
        <p:nvPicPr>
          <p:cNvPr id="3" name="Picture 2">
            <a:extLst>
              <a:ext uri="{FF2B5EF4-FFF2-40B4-BE49-F238E27FC236}">
                <a16:creationId xmlns:a16="http://schemas.microsoft.com/office/drawing/2014/main" id="{294D10F7-B386-DAD6-0663-CA4A4937BE91}"/>
              </a:ext>
            </a:extLst>
          </p:cNvPr>
          <p:cNvPicPr>
            <a:picLocks noChangeAspect="1"/>
          </p:cNvPicPr>
          <p:nvPr/>
        </p:nvPicPr>
        <p:blipFill>
          <a:blip r:embed="rId3"/>
          <a:stretch>
            <a:fillRect/>
          </a:stretch>
        </p:blipFill>
        <p:spPr>
          <a:xfrm>
            <a:off x="71488" y="1042074"/>
            <a:ext cx="12065304" cy="4724244"/>
          </a:xfrm>
          <a:prstGeom prst="rect">
            <a:avLst/>
          </a:prstGeom>
        </p:spPr>
      </p:pic>
    </p:spTree>
    <p:extLst>
      <p:ext uri="{BB962C8B-B14F-4D97-AF65-F5344CB8AC3E}">
        <p14:creationId xmlns:p14="http://schemas.microsoft.com/office/powerpoint/2010/main" val="134798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19249-C069-596C-B7BC-2B7DEE4E69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1A99E2-8F88-227E-FD12-716E9843AEE6}"/>
              </a:ext>
            </a:extLst>
          </p:cNvPr>
          <p:cNvSpPr>
            <a:spLocks noGrp="1"/>
          </p:cNvSpPr>
          <p:nvPr>
            <p:ph type="title"/>
          </p:nvPr>
        </p:nvSpPr>
        <p:spPr>
          <a:xfrm>
            <a:off x="159464" y="242485"/>
            <a:ext cx="5095442" cy="520399"/>
          </a:xfrm>
        </p:spPr>
        <p:txBody>
          <a:bodyPr>
            <a:noAutofit/>
          </a:bodyPr>
          <a:lstStyle/>
          <a:p>
            <a:r>
              <a:rPr lang="en-US" sz="3200" dirty="0">
                <a:latin typeface="+mn-lt"/>
              </a:rPr>
              <a:t>Population dynamics</a:t>
            </a:r>
          </a:p>
        </p:txBody>
      </p:sp>
      <p:pic>
        <p:nvPicPr>
          <p:cNvPr id="7" name="Picture 6">
            <a:extLst>
              <a:ext uri="{FF2B5EF4-FFF2-40B4-BE49-F238E27FC236}">
                <a16:creationId xmlns:a16="http://schemas.microsoft.com/office/drawing/2014/main" id="{457981B6-B521-5083-9D09-2F55540C3C72}"/>
              </a:ext>
            </a:extLst>
          </p:cNvPr>
          <p:cNvPicPr>
            <a:picLocks noChangeAspect="1"/>
          </p:cNvPicPr>
          <p:nvPr/>
        </p:nvPicPr>
        <p:blipFill>
          <a:blip r:embed="rId3"/>
          <a:stretch>
            <a:fillRect/>
          </a:stretch>
        </p:blipFill>
        <p:spPr>
          <a:xfrm>
            <a:off x="1264066" y="1511300"/>
            <a:ext cx="9663868" cy="3835400"/>
          </a:xfrm>
          <a:prstGeom prst="rect">
            <a:avLst/>
          </a:prstGeom>
        </p:spPr>
      </p:pic>
    </p:spTree>
    <p:extLst>
      <p:ext uri="{BB962C8B-B14F-4D97-AF65-F5344CB8AC3E}">
        <p14:creationId xmlns:p14="http://schemas.microsoft.com/office/powerpoint/2010/main" val="3652422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E78E6-0269-8A46-B92D-8B092A920324}"/>
              </a:ext>
            </a:extLst>
          </p:cNvPr>
          <p:cNvSpPr>
            <a:spLocks noGrp="1"/>
          </p:cNvSpPr>
          <p:nvPr>
            <p:ph type="title"/>
          </p:nvPr>
        </p:nvSpPr>
        <p:spPr>
          <a:xfrm>
            <a:off x="159464" y="242485"/>
            <a:ext cx="5095442" cy="520399"/>
          </a:xfrm>
        </p:spPr>
        <p:txBody>
          <a:bodyPr>
            <a:noAutofit/>
          </a:bodyPr>
          <a:lstStyle/>
          <a:p>
            <a:r>
              <a:rPr lang="en-US" sz="3200" dirty="0">
                <a:latin typeface="+mn-lt"/>
              </a:rPr>
              <a:t>Fisheries</a:t>
            </a:r>
          </a:p>
        </p:txBody>
      </p:sp>
      <p:pic>
        <p:nvPicPr>
          <p:cNvPr id="3" name="Picture 2">
            <a:extLst>
              <a:ext uri="{FF2B5EF4-FFF2-40B4-BE49-F238E27FC236}">
                <a16:creationId xmlns:a16="http://schemas.microsoft.com/office/drawing/2014/main" id="{B698AED4-E3BE-CAC1-D805-94400D8E305A}"/>
              </a:ext>
            </a:extLst>
          </p:cNvPr>
          <p:cNvPicPr>
            <a:picLocks noChangeAspect="1"/>
          </p:cNvPicPr>
          <p:nvPr/>
        </p:nvPicPr>
        <p:blipFill>
          <a:blip r:embed="rId3"/>
          <a:stretch>
            <a:fillRect/>
          </a:stretch>
        </p:blipFill>
        <p:spPr>
          <a:xfrm>
            <a:off x="6479895" y="242485"/>
            <a:ext cx="5295900" cy="6199400"/>
          </a:xfrm>
          <a:prstGeom prst="rect">
            <a:avLst/>
          </a:prstGeom>
        </p:spPr>
      </p:pic>
      <p:pic>
        <p:nvPicPr>
          <p:cNvPr id="5" name="Picture 4">
            <a:extLst>
              <a:ext uri="{FF2B5EF4-FFF2-40B4-BE49-F238E27FC236}">
                <a16:creationId xmlns:a16="http://schemas.microsoft.com/office/drawing/2014/main" id="{2A2D57A6-B1A0-6FE9-FF7F-0B10C479F888}"/>
              </a:ext>
            </a:extLst>
          </p:cNvPr>
          <p:cNvPicPr>
            <a:picLocks noChangeAspect="1"/>
          </p:cNvPicPr>
          <p:nvPr/>
        </p:nvPicPr>
        <p:blipFill>
          <a:blip r:embed="rId4"/>
          <a:stretch>
            <a:fillRect/>
          </a:stretch>
        </p:blipFill>
        <p:spPr>
          <a:xfrm>
            <a:off x="159464" y="907112"/>
            <a:ext cx="5679795" cy="5043776"/>
          </a:xfrm>
          <a:prstGeom prst="rect">
            <a:avLst/>
          </a:prstGeom>
        </p:spPr>
      </p:pic>
    </p:spTree>
    <p:extLst>
      <p:ext uri="{BB962C8B-B14F-4D97-AF65-F5344CB8AC3E}">
        <p14:creationId xmlns:p14="http://schemas.microsoft.com/office/powerpoint/2010/main" val="759929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E78E6-0269-8A46-B92D-8B092A920324}"/>
              </a:ext>
            </a:extLst>
          </p:cNvPr>
          <p:cNvSpPr>
            <a:spLocks noGrp="1"/>
          </p:cNvSpPr>
          <p:nvPr>
            <p:ph type="title"/>
          </p:nvPr>
        </p:nvSpPr>
        <p:spPr>
          <a:xfrm>
            <a:off x="159464" y="242485"/>
            <a:ext cx="5095442" cy="520399"/>
          </a:xfrm>
        </p:spPr>
        <p:txBody>
          <a:bodyPr>
            <a:noAutofit/>
          </a:bodyPr>
          <a:lstStyle/>
          <a:p>
            <a:r>
              <a:rPr lang="en-US" sz="3200" dirty="0">
                <a:latin typeface="+mn-lt"/>
              </a:rPr>
              <a:t>Surveys</a:t>
            </a:r>
          </a:p>
        </p:txBody>
      </p:sp>
      <p:pic>
        <p:nvPicPr>
          <p:cNvPr id="2" name="Picture 1">
            <a:extLst>
              <a:ext uri="{FF2B5EF4-FFF2-40B4-BE49-F238E27FC236}">
                <a16:creationId xmlns:a16="http://schemas.microsoft.com/office/drawing/2014/main" id="{C02DC3B9-2B1C-5C5D-4682-9525811EF621}"/>
              </a:ext>
            </a:extLst>
          </p:cNvPr>
          <p:cNvPicPr>
            <a:picLocks noChangeAspect="1"/>
          </p:cNvPicPr>
          <p:nvPr/>
        </p:nvPicPr>
        <p:blipFill>
          <a:blip r:embed="rId3"/>
          <a:stretch>
            <a:fillRect/>
          </a:stretch>
        </p:blipFill>
        <p:spPr>
          <a:xfrm>
            <a:off x="1066801" y="1056928"/>
            <a:ext cx="10791402" cy="5089872"/>
          </a:xfrm>
          <a:prstGeom prst="rect">
            <a:avLst/>
          </a:prstGeom>
        </p:spPr>
      </p:pic>
    </p:spTree>
    <p:extLst>
      <p:ext uri="{BB962C8B-B14F-4D97-AF65-F5344CB8AC3E}">
        <p14:creationId xmlns:p14="http://schemas.microsoft.com/office/powerpoint/2010/main" val="2298893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E78E6-0269-8A46-B92D-8B092A920324}"/>
              </a:ext>
            </a:extLst>
          </p:cNvPr>
          <p:cNvSpPr>
            <a:spLocks noGrp="1"/>
          </p:cNvSpPr>
          <p:nvPr>
            <p:ph type="title"/>
          </p:nvPr>
        </p:nvSpPr>
        <p:spPr>
          <a:xfrm>
            <a:off x="69129" y="324679"/>
            <a:ext cx="2090577" cy="520399"/>
          </a:xfrm>
        </p:spPr>
        <p:txBody>
          <a:bodyPr>
            <a:noAutofit/>
          </a:bodyPr>
          <a:lstStyle/>
          <a:p>
            <a:r>
              <a:rPr lang="en-US" sz="3200" dirty="0">
                <a:latin typeface="+mn-lt"/>
              </a:rPr>
              <a:t>Likelihoods</a:t>
            </a:r>
          </a:p>
        </p:txBody>
      </p:sp>
      <p:pic>
        <p:nvPicPr>
          <p:cNvPr id="7" name="Picture 6">
            <a:extLst>
              <a:ext uri="{FF2B5EF4-FFF2-40B4-BE49-F238E27FC236}">
                <a16:creationId xmlns:a16="http://schemas.microsoft.com/office/drawing/2014/main" id="{E76CD23D-0557-A61E-1178-E726B8D151E1}"/>
              </a:ext>
            </a:extLst>
          </p:cNvPr>
          <p:cNvPicPr>
            <a:picLocks noChangeAspect="1"/>
          </p:cNvPicPr>
          <p:nvPr/>
        </p:nvPicPr>
        <p:blipFill>
          <a:blip r:embed="rId3"/>
          <a:stretch>
            <a:fillRect/>
          </a:stretch>
        </p:blipFill>
        <p:spPr>
          <a:xfrm>
            <a:off x="2806700" y="120650"/>
            <a:ext cx="6578600" cy="6616700"/>
          </a:xfrm>
          <a:prstGeom prst="rect">
            <a:avLst/>
          </a:prstGeom>
          <a:solidFill>
            <a:schemeClr val="bg1"/>
          </a:solidFill>
        </p:spPr>
      </p:pic>
    </p:spTree>
    <p:extLst>
      <p:ext uri="{BB962C8B-B14F-4D97-AF65-F5344CB8AC3E}">
        <p14:creationId xmlns:p14="http://schemas.microsoft.com/office/powerpoint/2010/main" val="3666456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0DD1-E251-3B3C-B8A8-A2EF41D036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7672D9-9722-9B0B-2ADB-620B7CDD23D4}"/>
              </a:ext>
            </a:extLst>
          </p:cNvPr>
          <p:cNvSpPr>
            <a:spLocks noGrp="1"/>
          </p:cNvSpPr>
          <p:nvPr>
            <p:ph type="title"/>
          </p:nvPr>
        </p:nvSpPr>
        <p:spPr>
          <a:xfrm>
            <a:off x="223673" y="176443"/>
            <a:ext cx="8814415" cy="520399"/>
          </a:xfrm>
        </p:spPr>
        <p:txBody>
          <a:bodyPr>
            <a:noAutofit/>
          </a:bodyPr>
          <a:lstStyle/>
          <a:p>
            <a:r>
              <a:rPr lang="en-US" sz="3200" dirty="0">
                <a:latin typeface="+mn-lt"/>
              </a:rPr>
              <a:t>GMACS Modifications To Match TCSAM02</a:t>
            </a:r>
          </a:p>
        </p:txBody>
      </p:sp>
      <p:sp>
        <p:nvSpPr>
          <p:cNvPr id="3" name="TextBox 2">
            <a:extLst>
              <a:ext uri="{FF2B5EF4-FFF2-40B4-BE49-F238E27FC236}">
                <a16:creationId xmlns:a16="http://schemas.microsoft.com/office/drawing/2014/main" id="{F418930B-2C82-81EE-E61C-5250A058AA89}"/>
              </a:ext>
            </a:extLst>
          </p:cNvPr>
          <p:cNvSpPr txBox="1"/>
          <p:nvPr/>
        </p:nvSpPr>
        <p:spPr>
          <a:xfrm>
            <a:off x="106778" y="848004"/>
            <a:ext cx="6094268" cy="6186309"/>
          </a:xfrm>
          <a:prstGeom prst="rect">
            <a:avLst/>
          </a:prstGeom>
          <a:noFill/>
        </p:spPr>
        <p:txBody>
          <a:bodyPr wrap="square">
            <a:spAutoFit/>
          </a:bodyPr>
          <a:lstStyle/>
          <a:p>
            <a:pPr marL="285750" indent="-285750">
              <a:buFont typeface="Arial" panose="020B0604020202020204" pitchFamily="34" charset="0"/>
              <a:buChar char="•"/>
            </a:pPr>
            <a:r>
              <a:rPr lang="en-US" i="1" dirty="0">
                <a:effectLst/>
                <a:latin typeface="Helvetica" pitchFamily="2" charset="0"/>
              </a:rPr>
              <a:t>Added alternative multinomial likelihood as option to fit size comps (option 7) to match TCSAM02 calculation.</a:t>
            </a:r>
          </a:p>
          <a:p>
            <a:pPr marL="285750" indent="-285750">
              <a:buFont typeface="Arial" panose="020B0604020202020204" pitchFamily="34" charset="0"/>
              <a:buChar char="•"/>
            </a:pPr>
            <a:r>
              <a:rPr lang="en-US" i="1" dirty="0"/>
              <a:t>Added male maturity data section to data file.</a:t>
            </a:r>
            <a:endParaRPr lang="en-US" dirty="0"/>
          </a:p>
          <a:p>
            <a:pPr marL="285750" indent="-285750">
              <a:buFont typeface="Arial" panose="020B0604020202020204" pitchFamily="34" charset="0"/>
              <a:buChar char="•"/>
            </a:pPr>
            <a:r>
              <a:rPr lang="en-US" i="1" dirty="0"/>
              <a:t>Added "doTCSAM02EffExp" flag to data file (right after flag to read catch data in new format). If "on" (1),</a:t>
            </a:r>
            <a:r>
              <a:rPr lang="en-US" dirty="0"/>
              <a:t> </a:t>
            </a:r>
            <a:r>
              <a:rPr lang="en-US" i="1" dirty="0"/>
              <a:t>effort extrapolation for missing catch is based on average catch divided by average effort for years specified by new "</a:t>
            </a:r>
            <a:r>
              <a:rPr lang="en-US" i="1" dirty="0" err="1"/>
              <a:t>avg_eff</a:t>
            </a:r>
            <a:r>
              <a:rPr lang="en-US" i="1" dirty="0"/>
              <a:t>" column in</a:t>
            </a:r>
            <a:r>
              <a:rPr lang="en-US" dirty="0"/>
              <a:t> </a:t>
            </a:r>
            <a:r>
              <a:rPr lang="en-US" i="1" dirty="0"/>
              <a:t>new-format </a:t>
            </a:r>
            <a:r>
              <a:rPr lang="en-US" i="1" dirty="0" err="1"/>
              <a:t>CatchDFs</a:t>
            </a:r>
            <a:r>
              <a:rPr lang="en-US" i="1" dirty="0"/>
              <a:t>.</a:t>
            </a:r>
          </a:p>
          <a:p>
            <a:pPr marL="285750" indent="-285750">
              <a:buFont typeface="Arial" panose="020B0604020202020204" pitchFamily="34" charset="0"/>
              <a:buChar char="•"/>
            </a:pPr>
            <a:r>
              <a:rPr lang="en-US" i="1" dirty="0"/>
              <a:t>Added growth transition options 9 and 10 to provide same functionality as TCSAM02 </a:t>
            </a:r>
          </a:p>
          <a:p>
            <a:pPr marL="285750" indent="-285750">
              <a:buFont typeface="Arial" panose="020B0604020202020204" pitchFamily="34" charset="0"/>
              <a:buChar char="•"/>
            </a:pPr>
            <a:r>
              <a:rPr lang="en-US" i="1" dirty="0"/>
              <a:t>Added alternative 4-parameter double normal selectivity option (SELEX_DOUBLENORM4a = 15) to match TCSAM02. The plateau is</a:t>
            </a:r>
            <a:r>
              <a:rPr lang="en-US" dirty="0"/>
              <a:t> </a:t>
            </a:r>
            <a:r>
              <a:rPr lang="en-US" i="1" dirty="0"/>
              <a:t>determined from a scale parameter and the distance between the max possible size and the size at the ascending limb.</a:t>
            </a:r>
          </a:p>
          <a:p>
            <a:pPr marL="285750" indent="-285750">
              <a:buFont typeface="Arial" panose="020B0604020202020204" pitchFamily="34" charset="0"/>
              <a:buChar char="•"/>
            </a:pPr>
            <a:endParaRPr lang="en-US" i="1" dirty="0"/>
          </a:p>
          <a:p>
            <a:pPr marL="285750" indent="-285750">
              <a:buFont typeface="Arial" panose="020B0604020202020204" pitchFamily="34" charset="0"/>
              <a:buChar char="•"/>
            </a:pPr>
            <a:r>
              <a:rPr lang="en-US" i="1" dirty="0">
                <a:solidFill>
                  <a:srgbClr val="FF0000"/>
                </a:solidFill>
              </a:rPr>
              <a:t>Added new options for calculating/extending size comps to provide sample size scaling/no scaling options</a:t>
            </a:r>
            <a:r>
              <a:rPr lang="en-US" dirty="0">
                <a:solidFill>
                  <a:srgbClr val="FF0000"/>
                </a:solidFill>
              </a:rPr>
              <a:t> </a:t>
            </a:r>
            <a:r>
              <a:rPr lang="en-US" i="1" dirty="0">
                <a:solidFill>
                  <a:srgbClr val="FF0000"/>
                </a:solidFill>
              </a:rPr>
              <a:t>for input size comps.</a:t>
            </a:r>
            <a:endParaRPr lang="en-US" dirty="0">
              <a:solidFill>
                <a:srgbClr val="FF0000"/>
              </a:solidFill>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i="1"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effectLst/>
              <a:latin typeface="Helvetica" pitchFamily="2" charset="0"/>
            </a:endParaRPr>
          </a:p>
        </p:txBody>
      </p:sp>
      <p:sp>
        <p:nvSpPr>
          <p:cNvPr id="6" name="TextBox 5">
            <a:extLst>
              <a:ext uri="{FF2B5EF4-FFF2-40B4-BE49-F238E27FC236}">
                <a16:creationId xmlns:a16="http://schemas.microsoft.com/office/drawing/2014/main" id="{669D9626-50DB-FE3B-1FB3-F02222B9957A}"/>
              </a:ext>
            </a:extLst>
          </p:cNvPr>
          <p:cNvSpPr txBox="1"/>
          <p:nvPr/>
        </p:nvSpPr>
        <p:spPr>
          <a:xfrm>
            <a:off x="5990954" y="848004"/>
            <a:ext cx="6094268" cy="5078313"/>
          </a:xfrm>
          <a:prstGeom prst="rect">
            <a:avLst/>
          </a:prstGeom>
          <a:noFill/>
        </p:spPr>
        <p:txBody>
          <a:bodyPr wrap="square">
            <a:spAutoFit/>
          </a:bodyPr>
          <a:lstStyle/>
          <a:p>
            <a:pPr marL="285750" indent="-285750">
              <a:buFont typeface="Arial" panose="020B0604020202020204" pitchFamily="34" charset="0"/>
              <a:buChar char="•"/>
            </a:pPr>
            <a:r>
              <a:rPr lang="en-US" i="1" dirty="0"/>
              <a:t>The growth options TCSAM02A and TCSAM02B (=9 and 10) that provide similar functionality as TCSAM02 for the growth transition</a:t>
            </a:r>
            <a:r>
              <a:rPr lang="en-US" dirty="0"/>
              <a:t> </a:t>
            </a:r>
            <a:r>
              <a:rPr lang="en-US" i="1" dirty="0"/>
              <a:t>matrices were reassigned and additional options TCSAM02C and TCSAM02D (11 and 12) were added. A and B apply to the case where</a:t>
            </a:r>
            <a:r>
              <a:rPr lang="en-US" dirty="0"/>
              <a:t> </a:t>
            </a:r>
            <a:r>
              <a:rPr lang="en-US" i="1" dirty="0"/>
              <a:t>the molt increment is assumed to be gamma-distributed while C and D apply to the case where </a:t>
            </a:r>
            <a:r>
              <a:rPr lang="en-US" i="1" dirty="0" err="1"/>
              <a:t>postmolt</a:t>
            </a:r>
            <a:r>
              <a:rPr lang="en-US" i="1" dirty="0"/>
              <a:t> size is gamma-distributed. All</a:t>
            </a:r>
            <a:r>
              <a:rPr lang="en-US" dirty="0"/>
              <a:t> </a:t>
            </a:r>
            <a:r>
              <a:rPr lang="en-US" i="1" dirty="0"/>
              <a:t>of the options limit growth to a maximum number of size bins but treat probabilities from the "excluded" size bins differently: A and C</a:t>
            </a:r>
            <a:r>
              <a:rPr lang="en-US" dirty="0"/>
              <a:t> </a:t>
            </a:r>
            <a:r>
              <a:rPr lang="en-US" i="1" dirty="0"/>
              <a:t>drop them, then normalize the remaining probabilities to sum to 1 whereas B and D treat the max size bin as an accumulator for "raw”</a:t>
            </a:r>
            <a:r>
              <a:rPr lang="en-US" dirty="0"/>
              <a:t> </a:t>
            </a:r>
            <a:r>
              <a:rPr lang="en-US" i="1" dirty="0"/>
              <a:t>probabilities at larger size bins before dropping them.</a:t>
            </a:r>
          </a:p>
          <a:p>
            <a:pPr marL="285750" indent="-285750">
              <a:buFont typeface="Arial" panose="020B0604020202020204" pitchFamily="34" charset="0"/>
              <a:buChar char="•"/>
            </a:pPr>
            <a:endParaRPr lang="en-US" i="1" dirty="0"/>
          </a:p>
          <a:p>
            <a:pPr marL="285750" indent="-285750">
              <a:buFont typeface="Arial" panose="020B0604020202020204" pitchFamily="34" charset="0"/>
              <a:buChar char="•"/>
            </a:pPr>
            <a:endParaRPr lang="en-US" i="1" dirty="0"/>
          </a:p>
          <a:p>
            <a:pPr marL="285750" indent="-285750">
              <a:buFont typeface="Arial" panose="020B0604020202020204" pitchFamily="34" charset="0"/>
              <a:buChar char="•"/>
            </a:pPr>
            <a:r>
              <a:rPr lang="en-US" i="1" dirty="0">
                <a:solidFill>
                  <a:srgbClr val="FF0000"/>
                </a:solidFill>
              </a:rPr>
              <a:t>Fixed calculation of predicted fishery size comps in</a:t>
            </a:r>
            <a:r>
              <a:rPr lang="en-US" dirty="0">
                <a:solidFill>
                  <a:srgbClr val="FF0000"/>
                </a:solidFill>
              </a:rPr>
              <a:t> </a:t>
            </a:r>
            <a:r>
              <a:rPr lang="en-US" i="1" dirty="0" err="1">
                <a:solidFill>
                  <a:srgbClr val="FF0000"/>
                </a:solidFill>
              </a:rPr>
              <a:t>calc_predicted_composition</a:t>
            </a:r>
            <a:r>
              <a:rPr lang="en-US" i="1" dirty="0">
                <a:solidFill>
                  <a:srgbClr val="FF0000"/>
                </a:solidFill>
              </a:rPr>
              <a:t> by including fully-selected F's (ft(</a:t>
            </a:r>
            <a:r>
              <a:rPr lang="en-US" i="1" dirty="0" err="1">
                <a:solidFill>
                  <a:srgbClr val="FF0000"/>
                </a:solidFill>
              </a:rPr>
              <a:t>k,h,i,j</a:t>
            </a:r>
            <a:r>
              <a:rPr lang="en-US" i="1" dirty="0">
                <a:solidFill>
                  <a:srgbClr val="FF0000"/>
                </a:solidFill>
              </a:rPr>
              <a:t>)) in the calculations.</a:t>
            </a:r>
            <a:endParaRPr lang="en-US" dirty="0">
              <a:solidFill>
                <a:srgbClr val="FF0000"/>
              </a:solidFill>
            </a:endParaRP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403316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0CC55-B3E6-253E-412C-684786A180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6E2193-24B3-8483-7788-F031CA83E06D}"/>
              </a:ext>
            </a:extLst>
          </p:cNvPr>
          <p:cNvSpPr>
            <a:spLocks noGrp="1"/>
          </p:cNvSpPr>
          <p:nvPr>
            <p:ph type="title"/>
          </p:nvPr>
        </p:nvSpPr>
        <p:spPr>
          <a:xfrm>
            <a:off x="223673" y="176443"/>
            <a:ext cx="8814415" cy="520399"/>
          </a:xfrm>
        </p:spPr>
        <p:txBody>
          <a:bodyPr>
            <a:noAutofit/>
          </a:bodyPr>
          <a:lstStyle/>
          <a:p>
            <a:r>
              <a:rPr lang="en-US" sz="3200" dirty="0">
                <a:latin typeface="+mn-lt"/>
              </a:rPr>
              <a:t>Natural Mortality</a:t>
            </a:r>
          </a:p>
        </p:txBody>
      </p:sp>
      <p:pic>
        <p:nvPicPr>
          <p:cNvPr id="2" name="Picture 1">
            <a:extLst>
              <a:ext uri="{FF2B5EF4-FFF2-40B4-BE49-F238E27FC236}">
                <a16:creationId xmlns:a16="http://schemas.microsoft.com/office/drawing/2014/main" id="{99A890D4-6F5C-8609-F66B-1F5F863F785C}"/>
              </a:ext>
            </a:extLst>
          </p:cNvPr>
          <p:cNvPicPr>
            <a:picLocks noChangeAspect="1"/>
          </p:cNvPicPr>
          <p:nvPr/>
        </p:nvPicPr>
        <p:blipFill>
          <a:blip r:embed="rId3"/>
          <a:stretch>
            <a:fillRect/>
          </a:stretch>
        </p:blipFill>
        <p:spPr>
          <a:xfrm>
            <a:off x="1291290" y="935835"/>
            <a:ext cx="4650421" cy="5704812"/>
          </a:xfrm>
          <a:prstGeom prst="rect">
            <a:avLst/>
          </a:prstGeom>
        </p:spPr>
      </p:pic>
      <p:pic>
        <p:nvPicPr>
          <p:cNvPr id="3" name="Picture 2">
            <a:extLst>
              <a:ext uri="{FF2B5EF4-FFF2-40B4-BE49-F238E27FC236}">
                <a16:creationId xmlns:a16="http://schemas.microsoft.com/office/drawing/2014/main" id="{381A343A-8B4B-B7CA-B837-45BC1C5CBABB}"/>
              </a:ext>
            </a:extLst>
          </p:cNvPr>
          <p:cNvPicPr>
            <a:picLocks noChangeAspect="1"/>
          </p:cNvPicPr>
          <p:nvPr/>
        </p:nvPicPr>
        <p:blipFill>
          <a:blip r:embed="rId4"/>
          <a:stretch>
            <a:fillRect/>
          </a:stretch>
        </p:blipFill>
        <p:spPr>
          <a:xfrm>
            <a:off x="6226087" y="935835"/>
            <a:ext cx="4674623" cy="5704812"/>
          </a:xfrm>
          <a:prstGeom prst="rect">
            <a:avLst/>
          </a:prstGeom>
        </p:spPr>
      </p:pic>
      <p:sp>
        <p:nvSpPr>
          <p:cNvPr id="5" name="TextBox 4">
            <a:extLst>
              <a:ext uri="{FF2B5EF4-FFF2-40B4-BE49-F238E27FC236}">
                <a16:creationId xmlns:a16="http://schemas.microsoft.com/office/drawing/2014/main" id="{7639CCED-BF07-80E8-802F-A4907F11B4A4}"/>
              </a:ext>
            </a:extLst>
          </p:cNvPr>
          <p:cNvSpPr txBox="1"/>
          <p:nvPr/>
        </p:nvSpPr>
        <p:spPr>
          <a:xfrm rot="16200000">
            <a:off x="737755" y="3688773"/>
            <a:ext cx="732893" cy="369332"/>
          </a:xfrm>
          <a:prstGeom prst="rect">
            <a:avLst/>
          </a:prstGeom>
          <a:noFill/>
        </p:spPr>
        <p:txBody>
          <a:bodyPr wrap="none" rtlCol="0">
            <a:spAutoFit/>
          </a:bodyPr>
          <a:lstStyle/>
          <a:p>
            <a:r>
              <a:rPr lang="en-US" dirty="0"/>
              <a:t>values</a:t>
            </a:r>
          </a:p>
        </p:txBody>
      </p:sp>
      <p:sp>
        <p:nvSpPr>
          <p:cNvPr id="6" name="TextBox 5">
            <a:extLst>
              <a:ext uri="{FF2B5EF4-FFF2-40B4-BE49-F238E27FC236}">
                <a16:creationId xmlns:a16="http://schemas.microsoft.com/office/drawing/2014/main" id="{346A245E-B21E-05D2-6A23-16426A42208F}"/>
              </a:ext>
            </a:extLst>
          </p:cNvPr>
          <p:cNvSpPr txBox="1"/>
          <p:nvPr/>
        </p:nvSpPr>
        <p:spPr>
          <a:xfrm rot="5400000">
            <a:off x="10607090" y="3491346"/>
            <a:ext cx="1330749" cy="369332"/>
          </a:xfrm>
          <a:prstGeom prst="rect">
            <a:avLst/>
          </a:prstGeom>
          <a:noFill/>
        </p:spPr>
        <p:txBody>
          <a:bodyPr wrap="none" rtlCol="0">
            <a:spAutoFit/>
          </a:bodyPr>
          <a:lstStyle/>
          <a:p>
            <a:r>
              <a:rPr lang="en-US" dirty="0"/>
              <a:t>% differences</a:t>
            </a:r>
          </a:p>
        </p:txBody>
      </p:sp>
      <p:sp>
        <p:nvSpPr>
          <p:cNvPr id="7" name="TextBox 6">
            <a:extLst>
              <a:ext uri="{FF2B5EF4-FFF2-40B4-BE49-F238E27FC236}">
                <a16:creationId xmlns:a16="http://schemas.microsoft.com/office/drawing/2014/main" id="{E60F9C40-1A54-5F1F-1A97-B46F45A9BEE0}"/>
              </a:ext>
            </a:extLst>
          </p:cNvPr>
          <p:cNvSpPr txBox="1"/>
          <p:nvPr/>
        </p:nvSpPr>
        <p:spPr>
          <a:xfrm>
            <a:off x="5652655" y="631673"/>
            <a:ext cx="1394934" cy="369332"/>
          </a:xfrm>
          <a:prstGeom prst="rect">
            <a:avLst/>
          </a:prstGeom>
          <a:noFill/>
        </p:spPr>
        <p:txBody>
          <a:bodyPr wrap="none" rtlCol="0">
            <a:spAutoFit/>
          </a:bodyPr>
          <a:lstStyle/>
          <a:p>
            <a:r>
              <a:rPr lang="en-US" dirty="0"/>
              <a:t>immature crab</a:t>
            </a:r>
          </a:p>
        </p:txBody>
      </p:sp>
      <p:sp>
        <p:nvSpPr>
          <p:cNvPr id="8" name="TextBox 7">
            <a:extLst>
              <a:ext uri="{FF2B5EF4-FFF2-40B4-BE49-F238E27FC236}">
                <a16:creationId xmlns:a16="http://schemas.microsoft.com/office/drawing/2014/main" id="{1B90CCF9-D0AB-DCDB-5558-29C8EB0F8CB3}"/>
              </a:ext>
            </a:extLst>
          </p:cNvPr>
          <p:cNvSpPr txBox="1"/>
          <p:nvPr/>
        </p:nvSpPr>
        <p:spPr>
          <a:xfrm>
            <a:off x="5752041" y="3603575"/>
            <a:ext cx="1196161" cy="369332"/>
          </a:xfrm>
          <a:prstGeom prst="rect">
            <a:avLst/>
          </a:prstGeom>
          <a:noFill/>
        </p:spPr>
        <p:txBody>
          <a:bodyPr wrap="none" rtlCol="0">
            <a:spAutoFit/>
          </a:bodyPr>
          <a:lstStyle/>
          <a:p>
            <a:r>
              <a:rPr lang="en-US" dirty="0"/>
              <a:t>mature crab</a:t>
            </a:r>
          </a:p>
        </p:txBody>
      </p:sp>
    </p:spTree>
    <p:extLst>
      <p:ext uri="{BB962C8B-B14F-4D97-AF65-F5344CB8AC3E}">
        <p14:creationId xmlns:p14="http://schemas.microsoft.com/office/powerpoint/2010/main" val="4265399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56F2E-5D8A-0472-7090-EB4B85370F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73B78C-9FC5-8F91-1241-0113BE59545C}"/>
              </a:ext>
            </a:extLst>
          </p:cNvPr>
          <p:cNvSpPr>
            <a:spLocks noGrp="1"/>
          </p:cNvSpPr>
          <p:nvPr>
            <p:ph type="title"/>
          </p:nvPr>
        </p:nvSpPr>
        <p:spPr>
          <a:xfrm>
            <a:off x="223673" y="176443"/>
            <a:ext cx="8814415" cy="520399"/>
          </a:xfrm>
        </p:spPr>
        <p:txBody>
          <a:bodyPr>
            <a:noAutofit/>
          </a:bodyPr>
          <a:lstStyle/>
          <a:p>
            <a:r>
              <a:rPr lang="en-US" sz="3200" dirty="0">
                <a:latin typeface="+mn-lt"/>
              </a:rPr>
              <a:t>Male growth</a:t>
            </a:r>
          </a:p>
        </p:txBody>
      </p:sp>
      <p:pic>
        <p:nvPicPr>
          <p:cNvPr id="2" name="Picture 1">
            <a:extLst>
              <a:ext uri="{FF2B5EF4-FFF2-40B4-BE49-F238E27FC236}">
                <a16:creationId xmlns:a16="http://schemas.microsoft.com/office/drawing/2014/main" id="{ED111402-B711-E821-E05A-ED38D7D5C6E7}"/>
              </a:ext>
            </a:extLst>
          </p:cNvPr>
          <p:cNvPicPr>
            <a:picLocks noChangeAspect="1"/>
          </p:cNvPicPr>
          <p:nvPr/>
        </p:nvPicPr>
        <p:blipFill>
          <a:blip r:embed="rId3"/>
          <a:stretch>
            <a:fillRect/>
          </a:stretch>
        </p:blipFill>
        <p:spPr>
          <a:xfrm>
            <a:off x="145473" y="1514211"/>
            <a:ext cx="6161723" cy="4050121"/>
          </a:xfrm>
          <a:prstGeom prst="rect">
            <a:avLst/>
          </a:prstGeom>
        </p:spPr>
      </p:pic>
      <p:pic>
        <p:nvPicPr>
          <p:cNvPr id="3" name="Picture 2">
            <a:extLst>
              <a:ext uri="{FF2B5EF4-FFF2-40B4-BE49-F238E27FC236}">
                <a16:creationId xmlns:a16="http://schemas.microsoft.com/office/drawing/2014/main" id="{78A3226D-B30C-9FA5-058E-F12093F8623B}"/>
              </a:ext>
            </a:extLst>
          </p:cNvPr>
          <p:cNvPicPr>
            <a:picLocks noChangeAspect="1"/>
          </p:cNvPicPr>
          <p:nvPr/>
        </p:nvPicPr>
        <p:blipFill>
          <a:blip r:embed="rId4"/>
          <a:stretch>
            <a:fillRect/>
          </a:stretch>
        </p:blipFill>
        <p:spPr>
          <a:xfrm>
            <a:off x="4367646" y="4823088"/>
            <a:ext cx="723900" cy="520700"/>
          </a:xfrm>
          <a:prstGeom prst="rect">
            <a:avLst/>
          </a:prstGeom>
        </p:spPr>
      </p:pic>
      <p:pic>
        <p:nvPicPr>
          <p:cNvPr id="5" name="Picture 4">
            <a:extLst>
              <a:ext uri="{FF2B5EF4-FFF2-40B4-BE49-F238E27FC236}">
                <a16:creationId xmlns:a16="http://schemas.microsoft.com/office/drawing/2014/main" id="{12D48C42-7A9F-CA60-34C5-4ADD19549634}"/>
              </a:ext>
            </a:extLst>
          </p:cNvPr>
          <p:cNvPicPr>
            <a:picLocks noChangeAspect="1"/>
          </p:cNvPicPr>
          <p:nvPr/>
        </p:nvPicPr>
        <p:blipFill>
          <a:blip r:embed="rId5"/>
          <a:stretch>
            <a:fillRect/>
          </a:stretch>
        </p:blipFill>
        <p:spPr>
          <a:xfrm>
            <a:off x="6307196" y="1514211"/>
            <a:ext cx="5749636" cy="4055179"/>
          </a:xfrm>
          <a:prstGeom prst="rect">
            <a:avLst/>
          </a:prstGeom>
        </p:spPr>
      </p:pic>
      <p:pic>
        <p:nvPicPr>
          <p:cNvPr id="6" name="Picture 5">
            <a:extLst>
              <a:ext uri="{FF2B5EF4-FFF2-40B4-BE49-F238E27FC236}">
                <a16:creationId xmlns:a16="http://schemas.microsoft.com/office/drawing/2014/main" id="{90CA546C-C98F-660B-7F60-7DB16315B089}"/>
              </a:ext>
            </a:extLst>
          </p:cNvPr>
          <p:cNvPicPr>
            <a:picLocks noChangeAspect="1"/>
          </p:cNvPicPr>
          <p:nvPr/>
        </p:nvPicPr>
        <p:blipFill>
          <a:blip r:embed="rId6"/>
          <a:stretch>
            <a:fillRect/>
          </a:stretch>
        </p:blipFill>
        <p:spPr>
          <a:xfrm>
            <a:off x="9182014" y="4943738"/>
            <a:ext cx="1511300" cy="279400"/>
          </a:xfrm>
          <a:prstGeom prst="rect">
            <a:avLst/>
          </a:prstGeom>
        </p:spPr>
      </p:pic>
    </p:spTree>
    <p:extLst>
      <p:ext uri="{BB962C8B-B14F-4D97-AF65-F5344CB8AC3E}">
        <p14:creationId xmlns:p14="http://schemas.microsoft.com/office/powerpoint/2010/main" val="663276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DE3A0-7D8B-94AB-515C-BE487583AA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C20011-7252-39C3-126A-CCB4E9D52A30}"/>
              </a:ext>
            </a:extLst>
          </p:cNvPr>
          <p:cNvSpPr>
            <a:spLocks noGrp="1"/>
          </p:cNvSpPr>
          <p:nvPr>
            <p:ph type="title"/>
          </p:nvPr>
        </p:nvSpPr>
        <p:spPr>
          <a:xfrm>
            <a:off x="223673" y="176443"/>
            <a:ext cx="8814415" cy="520399"/>
          </a:xfrm>
        </p:spPr>
        <p:txBody>
          <a:bodyPr>
            <a:noAutofit/>
          </a:bodyPr>
          <a:lstStyle/>
          <a:p>
            <a:r>
              <a:rPr lang="en-US" sz="3200" dirty="0">
                <a:latin typeface="+mn-lt"/>
              </a:rPr>
              <a:t>Fully-selected Male Capture F’s</a:t>
            </a:r>
          </a:p>
        </p:txBody>
      </p:sp>
      <p:pic>
        <p:nvPicPr>
          <p:cNvPr id="2" name="Picture 1">
            <a:extLst>
              <a:ext uri="{FF2B5EF4-FFF2-40B4-BE49-F238E27FC236}">
                <a16:creationId xmlns:a16="http://schemas.microsoft.com/office/drawing/2014/main" id="{ED7DFBD6-065E-5A85-7135-860B39977021}"/>
              </a:ext>
            </a:extLst>
          </p:cNvPr>
          <p:cNvPicPr>
            <a:picLocks noChangeAspect="1"/>
          </p:cNvPicPr>
          <p:nvPr/>
        </p:nvPicPr>
        <p:blipFill>
          <a:blip r:embed="rId3"/>
          <a:stretch>
            <a:fillRect/>
          </a:stretch>
        </p:blipFill>
        <p:spPr>
          <a:xfrm>
            <a:off x="14432" y="1203204"/>
            <a:ext cx="6157050" cy="4574141"/>
          </a:xfrm>
          <a:prstGeom prst="rect">
            <a:avLst/>
          </a:prstGeom>
        </p:spPr>
      </p:pic>
      <p:pic>
        <p:nvPicPr>
          <p:cNvPr id="3" name="Picture 2">
            <a:extLst>
              <a:ext uri="{FF2B5EF4-FFF2-40B4-BE49-F238E27FC236}">
                <a16:creationId xmlns:a16="http://schemas.microsoft.com/office/drawing/2014/main" id="{EA8B251E-7973-2890-4EE0-54E7A3D7F7B1}"/>
              </a:ext>
            </a:extLst>
          </p:cNvPr>
          <p:cNvPicPr>
            <a:picLocks noChangeAspect="1"/>
          </p:cNvPicPr>
          <p:nvPr/>
        </p:nvPicPr>
        <p:blipFill>
          <a:blip r:embed="rId4"/>
          <a:stretch>
            <a:fillRect/>
          </a:stretch>
        </p:blipFill>
        <p:spPr>
          <a:xfrm>
            <a:off x="6127528" y="1293747"/>
            <a:ext cx="5914021" cy="4483598"/>
          </a:xfrm>
          <a:prstGeom prst="rect">
            <a:avLst/>
          </a:prstGeom>
        </p:spPr>
      </p:pic>
      <p:pic>
        <p:nvPicPr>
          <p:cNvPr id="5" name="Picture 4">
            <a:extLst>
              <a:ext uri="{FF2B5EF4-FFF2-40B4-BE49-F238E27FC236}">
                <a16:creationId xmlns:a16="http://schemas.microsoft.com/office/drawing/2014/main" id="{DA31AE18-8963-FB31-B1DB-E0FC6F87046A}"/>
              </a:ext>
            </a:extLst>
          </p:cNvPr>
          <p:cNvPicPr>
            <a:picLocks noChangeAspect="1"/>
          </p:cNvPicPr>
          <p:nvPr/>
        </p:nvPicPr>
        <p:blipFill>
          <a:blip r:embed="rId5"/>
          <a:stretch>
            <a:fillRect/>
          </a:stretch>
        </p:blipFill>
        <p:spPr>
          <a:xfrm>
            <a:off x="813955" y="1383697"/>
            <a:ext cx="723900" cy="520700"/>
          </a:xfrm>
          <a:prstGeom prst="rect">
            <a:avLst/>
          </a:prstGeom>
        </p:spPr>
      </p:pic>
      <p:pic>
        <p:nvPicPr>
          <p:cNvPr id="7" name="Picture 6">
            <a:extLst>
              <a:ext uri="{FF2B5EF4-FFF2-40B4-BE49-F238E27FC236}">
                <a16:creationId xmlns:a16="http://schemas.microsoft.com/office/drawing/2014/main" id="{912B04AB-7A94-C228-7961-28A6B29EF08D}"/>
              </a:ext>
            </a:extLst>
          </p:cNvPr>
          <p:cNvPicPr>
            <a:picLocks noChangeAspect="1"/>
          </p:cNvPicPr>
          <p:nvPr/>
        </p:nvPicPr>
        <p:blipFill>
          <a:blip r:embed="rId6"/>
          <a:stretch>
            <a:fillRect/>
          </a:stretch>
        </p:blipFill>
        <p:spPr>
          <a:xfrm>
            <a:off x="7176077" y="1510697"/>
            <a:ext cx="1206500" cy="266700"/>
          </a:xfrm>
          <a:prstGeom prst="rect">
            <a:avLst/>
          </a:prstGeom>
        </p:spPr>
      </p:pic>
    </p:spTree>
    <p:extLst>
      <p:ext uri="{BB962C8B-B14F-4D97-AF65-F5344CB8AC3E}">
        <p14:creationId xmlns:p14="http://schemas.microsoft.com/office/powerpoint/2010/main" val="2941431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D5B9D-E71A-A97A-1031-4D61025FD2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5EA9F4E-7562-A99E-B697-237F78F6C5EC}"/>
              </a:ext>
            </a:extLst>
          </p:cNvPr>
          <p:cNvSpPr>
            <a:spLocks noGrp="1"/>
          </p:cNvSpPr>
          <p:nvPr>
            <p:ph type="title"/>
          </p:nvPr>
        </p:nvSpPr>
        <p:spPr>
          <a:xfrm>
            <a:off x="223673" y="176443"/>
            <a:ext cx="8814415" cy="520399"/>
          </a:xfrm>
        </p:spPr>
        <p:txBody>
          <a:bodyPr>
            <a:noAutofit/>
          </a:bodyPr>
          <a:lstStyle/>
          <a:p>
            <a:r>
              <a:rPr lang="en-US" sz="3200" dirty="0">
                <a:latin typeface="+mn-lt"/>
              </a:rPr>
              <a:t>Recruitment</a:t>
            </a:r>
          </a:p>
        </p:txBody>
      </p:sp>
      <p:pic>
        <p:nvPicPr>
          <p:cNvPr id="2" name="Picture 1">
            <a:extLst>
              <a:ext uri="{FF2B5EF4-FFF2-40B4-BE49-F238E27FC236}">
                <a16:creationId xmlns:a16="http://schemas.microsoft.com/office/drawing/2014/main" id="{CB2E4A84-26A9-B6BA-15AA-E26669B889AA}"/>
              </a:ext>
            </a:extLst>
          </p:cNvPr>
          <p:cNvPicPr>
            <a:picLocks noChangeAspect="1"/>
          </p:cNvPicPr>
          <p:nvPr/>
        </p:nvPicPr>
        <p:blipFill>
          <a:blip r:embed="rId3"/>
          <a:stretch>
            <a:fillRect/>
          </a:stretch>
        </p:blipFill>
        <p:spPr>
          <a:xfrm>
            <a:off x="0" y="1489942"/>
            <a:ext cx="6096000" cy="4510807"/>
          </a:xfrm>
          <a:prstGeom prst="rect">
            <a:avLst/>
          </a:prstGeom>
        </p:spPr>
      </p:pic>
      <p:pic>
        <p:nvPicPr>
          <p:cNvPr id="3" name="Picture 2">
            <a:extLst>
              <a:ext uri="{FF2B5EF4-FFF2-40B4-BE49-F238E27FC236}">
                <a16:creationId xmlns:a16="http://schemas.microsoft.com/office/drawing/2014/main" id="{74E9F2FE-784E-6A9E-901A-3248D4604B39}"/>
              </a:ext>
            </a:extLst>
          </p:cNvPr>
          <p:cNvPicPr>
            <a:picLocks noChangeAspect="1"/>
          </p:cNvPicPr>
          <p:nvPr/>
        </p:nvPicPr>
        <p:blipFill>
          <a:blip r:embed="rId4"/>
          <a:stretch>
            <a:fillRect/>
          </a:stretch>
        </p:blipFill>
        <p:spPr>
          <a:xfrm>
            <a:off x="6096000" y="1489942"/>
            <a:ext cx="5578763" cy="4546098"/>
          </a:xfrm>
          <a:prstGeom prst="rect">
            <a:avLst/>
          </a:prstGeom>
        </p:spPr>
      </p:pic>
      <p:pic>
        <p:nvPicPr>
          <p:cNvPr id="5" name="Picture 4">
            <a:extLst>
              <a:ext uri="{FF2B5EF4-FFF2-40B4-BE49-F238E27FC236}">
                <a16:creationId xmlns:a16="http://schemas.microsoft.com/office/drawing/2014/main" id="{B85A1510-6EB6-54D7-887A-335DC01E2ECB}"/>
              </a:ext>
            </a:extLst>
          </p:cNvPr>
          <p:cNvPicPr>
            <a:picLocks noChangeAspect="1"/>
          </p:cNvPicPr>
          <p:nvPr/>
        </p:nvPicPr>
        <p:blipFill>
          <a:blip r:embed="rId5"/>
          <a:stretch>
            <a:fillRect/>
          </a:stretch>
        </p:blipFill>
        <p:spPr>
          <a:xfrm>
            <a:off x="782782" y="1633079"/>
            <a:ext cx="723900" cy="520700"/>
          </a:xfrm>
          <a:prstGeom prst="rect">
            <a:avLst/>
          </a:prstGeom>
        </p:spPr>
      </p:pic>
    </p:spTree>
    <p:extLst>
      <p:ext uri="{BB962C8B-B14F-4D97-AF65-F5344CB8AC3E}">
        <p14:creationId xmlns:p14="http://schemas.microsoft.com/office/powerpoint/2010/main" val="266150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3B41-DC8E-6E8F-356E-48CCCDBD6D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90111F-B5D1-5F05-895D-B68FDC114C0B}"/>
              </a:ext>
            </a:extLst>
          </p:cNvPr>
          <p:cNvSpPr>
            <a:spLocks noGrp="1"/>
          </p:cNvSpPr>
          <p:nvPr>
            <p:ph type="title"/>
          </p:nvPr>
        </p:nvSpPr>
        <p:spPr>
          <a:xfrm>
            <a:off x="223673" y="176443"/>
            <a:ext cx="8814415" cy="520399"/>
          </a:xfrm>
        </p:spPr>
        <p:txBody>
          <a:bodyPr>
            <a:noAutofit/>
          </a:bodyPr>
          <a:lstStyle/>
          <a:p>
            <a:r>
              <a:rPr lang="en-US" sz="3200" dirty="0">
                <a:latin typeface="+mn-lt"/>
              </a:rPr>
              <a:t>Population abundance-at-size for mature males</a:t>
            </a:r>
          </a:p>
        </p:txBody>
      </p:sp>
      <p:pic>
        <p:nvPicPr>
          <p:cNvPr id="2" name="Picture 1">
            <a:extLst>
              <a:ext uri="{FF2B5EF4-FFF2-40B4-BE49-F238E27FC236}">
                <a16:creationId xmlns:a16="http://schemas.microsoft.com/office/drawing/2014/main" id="{30995FF3-B856-438F-D2C1-CBC07E164C77}"/>
              </a:ext>
            </a:extLst>
          </p:cNvPr>
          <p:cNvPicPr>
            <a:picLocks noChangeAspect="1"/>
          </p:cNvPicPr>
          <p:nvPr/>
        </p:nvPicPr>
        <p:blipFill>
          <a:blip r:embed="rId3"/>
          <a:stretch>
            <a:fillRect/>
          </a:stretch>
        </p:blipFill>
        <p:spPr>
          <a:xfrm>
            <a:off x="1640032" y="696842"/>
            <a:ext cx="8911936" cy="5857661"/>
          </a:xfrm>
          <a:prstGeom prst="rect">
            <a:avLst/>
          </a:prstGeom>
        </p:spPr>
      </p:pic>
    </p:spTree>
    <p:extLst>
      <p:ext uri="{BB962C8B-B14F-4D97-AF65-F5344CB8AC3E}">
        <p14:creationId xmlns:p14="http://schemas.microsoft.com/office/powerpoint/2010/main" val="419734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6B3E-56E1-EC2E-B8F0-7FFDDB30DD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CF0346-83DE-66DE-15C3-D1D921AD0568}"/>
              </a:ext>
            </a:extLst>
          </p:cNvPr>
          <p:cNvSpPr>
            <a:spLocks noGrp="1"/>
          </p:cNvSpPr>
          <p:nvPr>
            <p:ph type="title"/>
          </p:nvPr>
        </p:nvSpPr>
        <p:spPr>
          <a:xfrm>
            <a:off x="223673" y="176443"/>
            <a:ext cx="8814415" cy="520399"/>
          </a:xfrm>
        </p:spPr>
        <p:txBody>
          <a:bodyPr>
            <a:noAutofit/>
          </a:bodyPr>
          <a:lstStyle/>
          <a:p>
            <a:r>
              <a:rPr lang="en-US" sz="3200" dirty="0">
                <a:latin typeface="+mn-lt"/>
              </a:rPr>
              <a:t>Predicted total catch biomass, by fishery</a:t>
            </a:r>
          </a:p>
        </p:txBody>
      </p:sp>
      <p:pic>
        <p:nvPicPr>
          <p:cNvPr id="2" name="Picture 1">
            <a:extLst>
              <a:ext uri="{FF2B5EF4-FFF2-40B4-BE49-F238E27FC236}">
                <a16:creationId xmlns:a16="http://schemas.microsoft.com/office/drawing/2014/main" id="{5804ED52-BB6B-4FE7-FEBD-4BD2F34DD65D}"/>
              </a:ext>
            </a:extLst>
          </p:cNvPr>
          <p:cNvPicPr>
            <a:picLocks noChangeAspect="1"/>
          </p:cNvPicPr>
          <p:nvPr/>
        </p:nvPicPr>
        <p:blipFill>
          <a:blip r:embed="rId3"/>
          <a:stretch>
            <a:fillRect/>
          </a:stretch>
        </p:blipFill>
        <p:spPr>
          <a:xfrm>
            <a:off x="1555172" y="696842"/>
            <a:ext cx="9355283" cy="6119107"/>
          </a:xfrm>
          <a:prstGeom prst="rect">
            <a:avLst/>
          </a:prstGeom>
        </p:spPr>
      </p:pic>
    </p:spTree>
    <p:extLst>
      <p:ext uri="{BB962C8B-B14F-4D97-AF65-F5344CB8AC3E}">
        <p14:creationId xmlns:p14="http://schemas.microsoft.com/office/powerpoint/2010/main" val="3339468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7DCDF-CF0A-EDD7-92DE-022EBABFDC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1DE473-661E-3145-4F5D-AD73BD53FEFA}"/>
              </a:ext>
            </a:extLst>
          </p:cNvPr>
          <p:cNvSpPr>
            <a:spLocks noGrp="1"/>
          </p:cNvSpPr>
          <p:nvPr>
            <p:ph type="title"/>
          </p:nvPr>
        </p:nvSpPr>
        <p:spPr>
          <a:xfrm>
            <a:off x="223673" y="176443"/>
            <a:ext cx="8814415" cy="520399"/>
          </a:xfrm>
        </p:spPr>
        <p:txBody>
          <a:bodyPr>
            <a:noAutofit/>
          </a:bodyPr>
          <a:lstStyle/>
          <a:p>
            <a:r>
              <a:rPr lang="en-US" sz="3200" dirty="0">
                <a:latin typeface="+mn-lt"/>
              </a:rPr>
              <a:t>Predicted NMFS Survey Biomass</a:t>
            </a:r>
          </a:p>
        </p:txBody>
      </p:sp>
      <p:pic>
        <p:nvPicPr>
          <p:cNvPr id="2" name="Picture 1">
            <a:extLst>
              <a:ext uri="{FF2B5EF4-FFF2-40B4-BE49-F238E27FC236}">
                <a16:creationId xmlns:a16="http://schemas.microsoft.com/office/drawing/2014/main" id="{FE0F4B15-0246-3DB7-93BD-B5A3456C6247}"/>
              </a:ext>
            </a:extLst>
          </p:cNvPr>
          <p:cNvPicPr>
            <a:picLocks noChangeAspect="1"/>
          </p:cNvPicPr>
          <p:nvPr/>
        </p:nvPicPr>
        <p:blipFill>
          <a:blip r:embed="rId3"/>
          <a:stretch>
            <a:fillRect/>
          </a:stretch>
        </p:blipFill>
        <p:spPr>
          <a:xfrm>
            <a:off x="1243173" y="696842"/>
            <a:ext cx="9206618" cy="6077497"/>
          </a:xfrm>
          <a:prstGeom prst="rect">
            <a:avLst/>
          </a:prstGeom>
        </p:spPr>
      </p:pic>
    </p:spTree>
    <p:extLst>
      <p:ext uri="{BB962C8B-B14F-4D97-AF65-F5344CB8AC3E}">
        <p14:creationId xmlns:p14="http://schemas.microsoft.com/office/powerpoint/2010/main" val="2802696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AD5FD-EBEB-4807-3CF0-A4EBB97B82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C47BB8-6441-0E24-F755-394AF1759E3D}"/>
              </a:ext>
            </a:extLst>
          </p:cNvPr>
          <p:cNvSpPr>
            <a:spLocks noGrp="1"/>
          </p:cNvSpPr>
          <p:nvPr>
            <p:ph type="title"/>
          </p:nvPr>
        </p:nvSpPr>
        <p:spPr>
          <a:xfrm>
            <a:off x="223673" y="176443"/>
            <a:ext cx="8814415" cy="520399"/>
          </a:xfrm>
        </p:spPr>
        <p:txBody>
          <a:bodyPr>
            <a:noAutofit/>
          </a:bodyPr>
          <a:lstStyle/>
          <a:p>
            <a:r>
              <a:rPr lang="en-US" sz="3200" dirty="0">
                <a:latin typeface="+mn-lt"/>
              </a:rPr>
              <a:t>Likelihood differences</a:t>
            </a:r>
          </a:p>
        </p:txBody>
      </p:sp>
      <p:pic>
        <p:nvPicPr>
          <p:cNvPr id="2" name="Picture 1">
            <a:extLst>
              <a:ext uri="{FF2B5EF4-FFF2-40B4-BE49-F238E27FC236}">
                <a16:creationId xmlns:a16="http://schemas.microsoft.com/office/drawing/2014/main" id="{B40F1593-788B-C4CB-B9B6-6AFD62041DB3}"/>
              </a:ext>
            </a:extLst>
          </p:cNvPr>
          <p:cNvPicPr>
            <a:picLocks noChangeAspect="1"/>
          </p:cNvPicPr>
          <p:nvPr/>
        </p:nvPicPr>
        <p:blipFill>
          <a:blip r:embed="rId3"/>
          <a:stretch>
            <a:fillRect/>
          </a:stretch>
        </p:blipFill>
        <p:spPr>
          <a:xfrm>
            <a:off x="0" y="1278947"/>
            <a:ext cx="4053999" cy="5087567"/>
          </a:xfrm>
          <a:prstGeom prst="rect">
            <a:avLst/>
          </a:prstGeom>
        </p:spPr>
      </p:pic>
      <p:sp>
        <p:nvSpPr>
          <p:cNvPr id="3" name="TextBox 2">
            <a:extLst>
              <a:ext uri="{FF2B5EF4-FFF2-40B4-BE49-F238E27FC236}">
                <a16:creationId xmlns:a16="http://schemas.microsoft.com/office/drawing/2014/main" id="{520F3793-BFC7-6ECB-A631-0EE76EB34359}"/>
              </a:ext>
            </a:extLst>
          </p:cNvPr>
          <p:cNvSpPr txBox="1"/>
          <p:nvPr/>
        </p:nvSpPr>
        <p:spPr>
          <a:xfrm>
            <a:off x="571500" y="920006"/>
            <a:ext cx="753732" cy="369332"/>
          </a:xfrm>
          <a:prstGeom prst="rect">
            <a:avLst/>
          </a:prstGeom>
          <a:noFill/>
        </p:spPr>
        <p:txBody>
          <a:bodyPr wrap="none" rtlCol="0">
            <a:spAutoFit/>
          </a:bodyPr>
          <a:lstStyle/>
          <a:p>
            <a:r>
              <a:rPr lang="en-US" dirty="0"/>
              <a:t>growth</a:t>
            </a:r>
          </a:p>
        </p:txBody>
      </p:sp>
      <p:pic>
        <p:nvPicPr>
          <p:cNvPr id="5" name="Picture 4">
            <a:extLst>
              <a:ext uri="{FF2B5EF4-FFF2-40B4-BE49-F238E27FC236}">
                <a16:creationId xmlns:a16="http://schemas.microsoft.com/office/drawing/2014/main" id="{180079AB-75BD-DA04-0263-00E5452B82EA}"/>
              </a:ext>
            </a:extLst>
          </p:cNvPr>
          <p:cNvPicPr>
            <a:picLocks noChangeAspect="1"/>
          </p:cNvPicPr>
          <p:nvPr/>
        </p:nvPicPr>
        <p:blipFill>
          <a:blip r:embed="rId4"/>
          <a:stretch>
            <a:fillRect/>
          </a:stretch>
        </p:blipFill>
        <p:spPr>
          <a:xfrm>
            <a:off x="4080757" y="1254930"/>
            <a:ext cx="3836179" cy="5111584"/>
          </a:xfrm>
          <a:prstGeom prst="rect">
            <a:avLst/>
          </a:prstGeom>
        </p:spPr>
      </p:pic>
      <p:sp>
        <p:nvSpPr>
          <p:cNvPr id="6" name="TextBox 5">
            <a:extLst>
              <a:ext uri="{FF2B5EF4-FFF2-40B4-BE49-F238E27FC236}">
                <a16:creationId xmlns:a16="http://schemas.microsoft.com/office/drawing/2014/main" id="{EC5B8540-3456-BD6A-26FC-5BF666892D4D}"/>
              </a:ext>
            </a:extLst>
          </p:cNvPr>
          <p:cNvSpPr txBox="1"/>
          <p:nvPr/>
        </p:nvSpPr>
        <p:spPr>
          <a:xfrm>
            <a:off x="4457222" y="909615"/>
            <a:ext cx="1922321" cy="369332"/>
          </a:xfrm>
          <a:prstGeom prst="rect">
            <a:avLst/>
          </a:prstGeom>
          <a:noFill/>
        </p:spPr>
        <p:txBody>
          <a:bodyPr wrap="none" rtlCol="0">
            <a:spAutoFit/>
          </a:bodyPr>
          <a:lstStyle/>
          <a:p>
            <a:r>
              <a:rPr lang="en-US" dirty="0"/>
              <a:t>male maturity ogives</a:t>
            </a:r>
          </a:p>
        </p:txBody>
      </p:sp>
      <p:pic>
        <p:nvPicPr>
          <p:cNvPr id="7" name="Picture 6">
            <a:extLst>
              <a:ext uri="{FF2B5EF4-FFF2-40B4-BE49-F238E27FC236}">
                <a16:creationId xmlns:a16="http://schemas.microsoft.com/office/drawing/2014/main" id="{E539A5D4-F122-277A-233D-98FE70E217A0}"/>
              </a:ext>
            </a:extLst>
          </p:cNvPr>
          <p:cNvPicPr>
            <a:picLocks noChangeAspect="1"/>
          </p:cNvPicPr>
          <p:nvPr/>
        </p:nvPicPr>
        <p:blipFill>
          <a:blip r:embed="rId5"/>
          <a:stretch>
            <a:fillRect/>
          </a:stretch>
        </p:blipFill>
        <p:spPr>
          <a:xfrm>
            <a:off x="8023326" y="1254930"/>
            <a:ext cx="3863874" cy="5111584"/>
          </a:xfrm>
          <a:prstGeom prst="rect">
            <a:avLst/>
          </a:prstGeom>
        </p:spPr>
      </p:pic>
      <p:sp>
        <p:nvSpPr>
          <p:cNvPr id="8" name="TextBox 7">
            <a:extLst>
              <a:ext uri="{FF2B5EF4-FFF2-40B4-BE49-F238E27FC236}">
                <a16:creationId xmlns:a16="http://schemas.microsoft.com/office/drawing/2014/main" id="{31D438EC-F2AE-2E8E-FD58-3BB8347FF9B1}"/>
              </a:ext>
            </a:extLst>
          </p:cNvPr>
          <p:cNvSpPr txBox="1"/>
          <p:nvPr/>
        </p:nvSpPr>
        <p:spPr>
          <a:xfrm>
            <a:off x="8353744" y="909615"/>
            <a:ext cx="1500732" cy="369332"/>
          </a:xfrm>
          <a:prstGeom prst="rect">
            <a:avLst/>
          </a:prstGeom>
          <a:noFill/>
        </p:spPr>
        <p:txBody>
          <a:bodyPr wrap="none" rtlCol="0">
            <a:spAutoFit/>
          </a:bodyPr>
          <a:lstStyle/>
          <a:p>
            <a:r>
              <a:rPr lang="en-US" dirty="0"/>
              <a:t>survey biomass</a:t>
            </a:r>
          </a:p>
        </p:txBody>
      </p:sp>
    </p:spTree>
    <p:extLst>
      <p:ext uri="{BB962C8B-B14F-4D97-AF65-F5344CB8AC3E}">
        <p14:creationId xmlns:p14="http://schemas.microsoft.com/office/powerpoint/2010/main" val="1308788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4F4F-2502-A293-A8A8-3B41B5548F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CDBD56-3282-6DA8-017E-C91DD3EC95CC}"/>
              </a:ext>
            </a:extLst>
          </p:cNvPr>
          <p:cNvSpPr>
            <a:spLocks noGrp="1"/>
          </p:cNvSpPr>
          <p:nvPr>
            <p:ph type="title"/>
          </p:nvPr>
        </p:nvSpPr>
        <p:spPr>
          <a:xfrm>
            <a:off x="226118" y="305222"/>
            <a:ext cx="8814415" cy="520399"/>
          </a:xfrm>
        </p:spPr>
        <p:txBody>
          <a:bodyPr>
            <a:noAutofit/>
          </a:bodyPr>
          <a:lstStyle/>
          <a:p>
            <a:r>
              <a:rPr lang="en-US" sz="3200" dirty="0">
                <a:latin typeface="+mn-lt"/>
              </a:rPr>
              <a:t>Likelihood differences</a:t>
            </a:r>
          </a:p>
        </p:txBody>
      </p:sp>
      <p:pic>
        <p:nvPicPr>
          <p:cNvPr id="2" name="Picture 1">
            <a:extLst>
              <a:ext uri="{FF2B5EF4-FFF2-40B4-BE49-F238E27FC236}">
                <a16:creationId xmlns:a16="http://schemas.microsoft.com/office/drawing/2014/main" id="{6066D3D6-0586-D31A-87F0-F3793C6CCCC9}"/>
              </a:ext>
            </a:extLst>
          </p:cNvPr>
          <p:cNvPicPr>
            <a:picLocks noChangeAspect="1"/>
          </p:cNvPicPr>
          <p:nvPr/>
        </p:nvPicPr>
        <p:blipFill>
          <a:blip r:embed="rId3"/>
          <a:stretch>
            <a:fillRect/>
          </a:stretch>
        </p:blipFill>
        <p:spPr>
          <a:xfrm>
            <a:off x="2034309" y="1194953"/>
            <a:ext cx="4251994" cy="5293943"/>
          </a:xfrm>
          <a:prstGeom prst="rect">
            <a:avLst/>
          </a:prstGeom>
        </p:spPr>
      </p:pic>
      <p:sp>
        <p:nvSpPr>
          <p:cNvPr id="3" name="TextBox 2">
            <a:extLst>
              <a:ext uri="{FF2B5EF4-FFF2-40B4-BE49-F238E27FC236}">
                <a16:creationId xmlns:a16="http://schemas.microsoft.com/office/drawing/2014/main" id="{BD72C4F4-C9E2-915E-FB8A-0BA1FE471733}"/>
              </a:ext>
            </a:extLst>
          </p:cNvPr>
          <p:cNvSpPr txBox="1"/>
          <p:nvPr/>
        </p:nvSpPr>
        <p:spPr>
          <a:xfrm>
            <a:off x="2695002" y="825621"/>
            <a:ext cx="2135521" cy="369332"/>
          </a:xfrm>
          <a:prstGeom prst="rect">
            <a:avLst/>
          </a:prstGeom>
          <a:noFill/>
        </p:spPr>
        <p:txBody>
          <a:bodyPr wrap="none" rtlCol="0">
            <a:spAutoFit/>
          </a:bodyPr>
          <a:lstStyle/>
          <a:p>
            <a:r>
              <a:rPr lang="en-US" dirty="0"/>
              <a:t>retained catch biomass</a:t>
            </a:r>
          </a:p>
        </p:txBody>
      </p:sp>
      <p:pic>
        <p:nvPicPr>
          <p:cNvPr id="5" name="Picture 4">
            <a:extLst>
              <a:ext uri="{FF2B5EF4-FFF2-40B4-BE49-F238E27FC236}">
                <a16:creationId xmlns:a16="http://schemas.microsoft.com/office/drawing/2014/main" id="{3C7E761F-323A-0A5F-3E8C-215C1BB00549}"/>
              </a:ext>
            </a:extLst>
          </p:cNvPr>
          <p:cNvPicPr>
            <a:picLocks noChangeAspect="1"/>
          </p:cNvPicPr>
          <p:nvPr/>
        </p:nvPicPr>
        <p:blipFill>
          <a:blip r:embed="rId4"/>
          <a:stretch>
            <a:fillRect/>
          </a:stretch>
        </p:blipFill>
        <p:spPr>
          <a:xfrm>
            <a:off x="6566035" y="1115227"/>
            <a:ext cx="4126210" cy="5373669"/>
          </a:xfrm>
          <a:prstGeom prst="rect">
            <a:avLst/>
          </a:prstGeom>
        </p:spPr>
      </p:pic>
      <p:sp>
        <p:nvSpPr>
          <p:cNvPr id="6" name="TextBox 5">
            <a:extLst>
              <a:ext uri="{FF2B5EF4-FFF2-40B4-BE49-F238E27FC236}">
                <a16:creationId xmlns:a16="http://schemas.microsoft.com/office/drawing/2014/main" id="{B73E4C35-A6D1-2CD1-F887-0437AA748BC9}"/>
              </a:ext>
            </a:extLst>
          </p:cNvPr>
          <p:cNvSpPr txBox="1"/>
          <p:nvPr/>
        </p:nvSpPr>
        <p:spPr>
          <a:xfrm>
            <a:off x="7117561" y="825621"/>
            <a:ext cx="1808508" cy="369332"/>
          </a:xfrm>
          <a:prstGeom prst="rect">
            <a:avLst/>
          </a:prstGeom>
          <a:noFill/>
        </p:spPr>
        <p:txBody>
          <a:bodyPr wrap="none" rtlCol="0">
            <a:spAutoFit/>
          </a:bodyPr>
          <a:lstStyle/>
          <a:p>
            <a:r>
              <a:rPr lang="en-US" dirty="0"/>
              <a:t>total catch biomass</a:t>
            </a:r>
          </a:p>
        </p:txBody>
      </p:sp>
    </p:spTree>
    <p:extLst>
      <p:ext uri="{BB962C8B-B14F-4D97-AF65-F5344CB8AC3E}">
        <p14:creationId xmlns:p14="http://schemas.microsoft.com/office/powerpoint/2010/main" val="665090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038D7-37F1-E01A-DF6A-7AD469BEBB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29B5B9-D0A4-2A84-9815-BED511294D25}"/>
              </a:ext>
            </a:extLst>
          </p:cNvPr>
          <p:cNvSpPr>
            <a:spLocks noGrp="1"/>
          </p:cNvSpPr>
          <p:nvPr>
            <p:ph type="title"/>
          </p:nvPr>
        </p:nvSpPr>
        <p:spPr>
          <a:xfrm>
            <a:off x="223673" y="176443"/>
            <a:ext cx="8814415" cy="520399"/>
          </a:xfrm>
        </p:spPr>
        <p:txBody>
          <a:bodyPr>
            <a:noAutofit/>
          </a:bodyPr>
          <a:lstStyle/>
          <a:p>
            <a:r>
              <a:rPr lang="en-US" sz="3200" dirty="0">
                <a:latin typeface="+mn-lt"/>
              </a:rPr>
              <a:t>Fits to NMFS survey male size comps</a:t>
            </a:r>
          </a:p>
        </p:txBody>
      </p:sp>
      <p:pic>
        <p:nvPicPr>
          <p:cNvPr id="2" name="Picture 1">
            <a:extLst>
              <a:ext uri="{FF2B5EF4-FFF2-40B4-BE49-F238E27FC236}">
                <a16:creationId xmlns:a16="http://schemas.microsoft.com/office/drawing/2014/main" id="{9BBAE100-68D4-03D7-C757-34FF2E188AE8}"/>
              </a:ext>
            </a:extLst>
          </p:cNvPr>
          <p:cNvPicPr>
            <a:picLocks noChangeAspect="1"/>
          </p:cNvPicPr>
          <p:nvPr/>
        </p:nvPicPr>
        <p:blipFill>
          <a:blip r:embed="rId3"/>
          <a:stretch>
            <a:fillRect/>
          </a:stretch>
        </p:blipFill>
        <p:spPr>
          <a:xfrm>
            <a:off x="1735282" y="696842"/>
            <a:ext cx="9247909" cy="6078490"/>
          </a:xfrm>
          <a:prstGeom prst="rect">
            <a:avLst/>
          </a:prstGeom>
        </p:spPr>
      </p:pic>
      <p:sp>
        <p:nvSpPr>
          <p:cNvPr id="3" name="TextBox 2">
            <a:extLst>
              <a:ext uri="{FF2B5EF4-FFF2-40B4-BE49-F238E27FC236}">
                <a16:creationId xmlns:a16="http://schemas.microsoft.com/office/drawing/2014/main" id="{96872183-0F5F-B48A-5AA5-A0E0328DB080}"/>
              </a:ext>
            </a:extLst>
          </p:cNvPr>
          <p:cNvSpPr txBox="1"/>
          <p:nvPr/>
        </p:nvSpPr>
        <p:spPr>
          <a:xfrm>
            <a:off x="7574973" y="5818909"/>
            <a:ext cx="2178802" cy="646331"/>
          </a:xfrm>
          <a:prstGeom prst="rect">
            <a:avLst/>
          </a:prstGeom>
          <a:noFill/>
        </p:spPr>
        <p:txBody>
          <a:bodyPr wrap="none" rtlCol="0">
            <a:spAutoFit/>
          </a:bodyPr>
          <a:lstStyle/>
          <a:p>
            <a:r>
              <a:rPr lang="en-US" dirty="0"/>
              <a:t>lines: predicted values</a:t>
            </a:r>
          </a:p>
          <a:p>
            <a:r>
              <a:rPr lang="en-US" dirty="0"/>
              <a:t>points: observed values</a:t>
            </a:r>
          </a:p>
        </p:txBody>
      </p:sp>
    </p:spTree>
    <p:extLst>
      <p:ext uri="{BB962C8B-B14F-4D97-AF65-F5344CB8AC3E}">
        <p14:creationId xmlns:p14="http://schemas.microsoft.com/office/powerpoint/2010/main" val="2604139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A1D68-786B-4B7E-E6F5-A20B6C6D2E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832364-FAFF-AEC5-0770-595876966DFF}"/>
              </a:ext>
            </a:extLst>
          </p:cNvPr>
          <p:cNvSpPr>
            <a:spLocks noGrp="1"/>
          </p:cNvSpPr>
          <p:nvPr>
            <p:ph type="title"/>
          </p:nvPr>
        </p:nvSpPr>
        <p:spPr>
          <a:xfrm>
            <a:off x="223673" y="176443"/>
            <a:ext cx="8814415" cy="520399"/>
          </a:xfrm>
        </p:spPr>
        <p:txBody>
          <a:bodyPr>
            <a:noAutofit/>
          </a:bodyPr>
          <a:lstStyle/>
          <a:p>
            <a:r>
              <a:rPr lang="en-US" sz="3200" dirty="0">
                <a:latin typeface="+mn-lt"/>
              </a:rPr>
              <a:t>Directed fishery “extended” total catch size comps</a:t>
            </a:r>
          </a:p>
        </p:txBody>
      </p:sp>
      <p:pic>
        <p:nvPicPr>
          <p:cNvPr id="2" name="Picture 1">
            <a:extLst>
              <a:ext uri="{FF2B5EF4-FFF2-40B4-BE49-F238E27FC236}">
                <a16:creationId xmlns:a16="http://schemas.microsoft.com/office/drawing/2014/main" id="{AD2042CE-BE2B-F63E-467A-97BE6C5F9D4B}"/>
              </a:ext>
            </a:extLst>
          </p:cNvPr>
          <p:cNvPicPr>
            <a:picLocks noChangeAspect="1"/>
          </p:cNvPicPr>
          <p:nvPr/>
        </p:nvPicPr>
        <p:blipFill>
          <a:blip r:embed="rId3"/>
          <a:stretch>
            <a:fillRect/>
          </a:stretch>
        </p:blipFill>
        <p:spPr>
          <a:xfrm>
            <a:off x="5959571" y="1174171"/>
            <a:ext cx="6157033" cy="4312229"/>
          </a:xfrm>
          <a:prstGeom prst="rect">
            <a:avLst/>
          </a:prstGeom>
        </p:spPr>
      </p:pic>
      <p:pic>
        <p:nvPicPr>
          <p:cNvPr id="5" name="Picture 4">
            <a:extLst>
              <a:ext uri="{FF2B5EF4-FFF2-40B4-BE49-F238E27FC236}">
                <a16:creationId xmlns:a16="http://schemas.microsoft.com/office/drawing/2014/main" id="{6F01E9F1-38E5-05BD-C579-293E04551690}"/>
              </a:ext>
            </a:extLst>
          </p:cNvPr>
          <p:cNvPicPr>
            <a:picLocks noChangeAspect="1"/>
          </p:cNvPicPr>
          <p:nvPr/>
        </p:nvPicPr>
        <p:blipFill>
          <a:blip r:embed="rId4"/>
          <a:stretch>
            <a:fillRect/>
          </a:stretch>
        </p:blipFill>
        <p:spPr>
          <a:xfrm>
            <a:off x="0" y="1255594"/>
            <a:ext cx="6096000" cy="4230806"/>
          </a:xfrm>
          <a:prstGeom prst="rect">
            <a:avLst/>
          </a:prstGeom>
        </p:spPr>
      </p:pic>
      <p:pic>
        <p:nvPicPr>
          <p:cNvPr id="3" name="Picture 2">
            <a:extLst>
              <a:ext uri="{FF2B5EF4-FFF2-40B4-BE49-F238E27FC236}">
                <a16:creationId xmlns:a16="http://schemas.microsoft.com/office/drawing/2014/main" id="{EDA068D4-8BD5-B829-A6DD-965FF7300E73}"/>
              </a:ext>
            </a:extLst>
          </p:cNvPr>
          <p:cNvPicPr>
            <a:picLocks noChangeAspect="1"/>
          </p:cNvPicPr>
          <p:nvPr/>
        </p:nvPicPr>
        <p:blipFill>
          <a:blip r:embed="rId5"/>
          <a:stretch>
            <a:fillRect/>
          </a:stretch>
        </p:blipFill>
        <p:spPr>
          <a:xfrm>
            <a:off x="3048000" y="4823088"/>
            <a:ext cx="723900" cy="520700"/>
          </a:xfrm>
          <a:prstGeom prst="rect">
            <a:avLst/>
          </a:prstGeom>
        </p:spPr>
      </p:pic>
      <p:sp>
        <p:nvSpPr>
          <p:cNvPr id="6" name="TextBox 5">
            <a:extLst>
              <a:ext uri="{FF2B5EF4-FFF2-40B4-BE49-F238E27FC236}">
                <a16:creationId xmlns:a16="http://schemas.microsoft.com/office/drawing/2014/main" id="{F7CD7CD6-FEE0-FB6D-A5F9-9A69E7432AC6}"/>
              </a:ext>
            </a:extLst>
          </p:cNvPr>
          <p:cNvSpPr txBox="1"/>
          <p:nvPr/>
        </p:nvSpPr>
        <p:spPr>
          <a:xfrm>
            <a:off x="2275609" y="886262"/>
            <a:ext cx="1965603" cy="369332"/>
          </a:xfrm>
          <a:prstGeom prst="rect">
            <a:avLst/>
          </a:prstGeom>
          <a:noFill/>
        </p:spPr>
        <p:txBody>
          <a:bodyPr wrap="none" rtlCol="0">
            <a:spAutoFit/>
          </a:bodyPr>
          <a:lstStyle/>
          <a:p>
            <a:r>
              <a:rPr lang="en-US" dirty="0"/>
              <a:t>observed size comps</a:t>
            </a:r>
          </a:p>
        </p:txBody>
      </p:sp>
      <p:sp>
        <p:nvSpPr>
          <p:cNvPr id="7" name="TextBox 6">
            <a:extLst>
              <a:ext uri="{FF2B5EF4-FFF2-40B4-BE49-F238E27FC236}">
                <a16:creationId xmlns:a16="http://schemas.microsoft.com/office/drawing/2014/main" id="{2DE14CCA-D5BB-128D-2C82-F3B810D4D8EB}"/>
              </a:ext>
            </a:extLst>
          </p:cNvPr>
          <p:cNvSpPr txBox="1"/>
          <p:nvPr/>
        </p:nvSpPr>
        <p:spPr>
          <a:xfrm>
            <a:off x="8123500" y="886262"/>
            <a:ext cx="1965603" cy="369332"/>
          </a:xfrm>
          <a:prstGeom prst="rect">
            <a:avLst/>
          </a:prstGeom>
          <a:noFill/>
        </p:spPr>
        <p:txBody>
          <a:bodyPr wrap="none" rtlCol="0">
            <a:spAutoFit/>
          </a:bodyPr>
          <a:lstStyle/>
          <a:p>
            <a:r>
              <a:rPr lang="en-US" dirty="0"/>
              <a:t>predicted size comps</a:t>
            </a:r>
          </a:p>
        </p:txBody>
      </p:sp>
      <p:sp>
        <p:nvSpPr>
          <p:cNvPr id="8" name="TextBox 7">
            <a:extLst>
              <a:ext uri="{FF2B5EF4-FFF2-40B4-BE49-F238E27FC236}">
                <a16:creationId xmlns:a16="http://schemas.microsoft.com/office/drawing/2014/main" id="{C8B7E4F6-D910-93BB-40C7-2BE0F179E8AD}"/>
              </a:ext>
            </a:extLst>
          </p:cNvPr>
          <p:cNvSpPr txBox="1"/>
          <p:nvPr/>
        </p:nvSpPr>
        <p:spPr>
          <a:xfrm>
            <a:off x="3347105" y="5683829"/>
            <a:ext cx="5690982" cy="400110"/>
          </a:xfrm>
          <a:prstGeom prst="rect">
            <a:avLst/>
          </a:prstGeom>
          <a:noFill/>
        </p:spPr>
        <p:txBody>
          <a:bodyPr wrap="none" rtlCol="0">
            <a:spAutoFit/>
          </a:bodyPr>
          <a:lstStyle/>
          <a:p>
            <a:pPr marL="285750" indent="-285750">
              <a:buFont typeface="Arial" panose="020B0604020202020204" pitchFamily="34" charset="0"/>
              <a:buChar char="•"/>
            </a:pPr>
            <a:r>
              <a:rPr lang="en-US" sz="2000" b="1" dirty="0">
                <a:solidFill>
                  <a:srgbClr val="FF0000"/>
                </a:solidFill>
              </a:rPr>
              <a:t>without scaling by sex-specific fishery capture rates</a:t>
            </a:r>
          </a:p>
        </p:txBody>
      </p:sp>
    </p:spTree>
    <p:extLst>
      <p:ext uri="{BB962C8B-B14F-4D97-AF65-F5344CB8AC3E}">
        <p14:creationId xmlns:p14="http://schemas.microsoft.com/office/powerpoint/2010/main" val="4157882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B6641-370C-DDC5-1ECF-BDA59B96E5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F297F91-2406-2988-F841-5B81283F2320}"/>
              </a:ext>
            </a:extLst>
          </p:cNvPr>
          <p:cNvSpPr>
            <a:spLocks noGrp="1"/>
          </p:cNvSpPr>
          <p:nvPr>
            <p:ph type="title"/>
          </p:nvPr>
        </p:nvSpPr>
        <p:spPr>
          <a:xfrm>
            <a:off x="223673" y="176443"/>
            <a:ext cx="8814415" cy="520399"/>
          </a:xfrm>
        </p:spPr>
        <p:txBody>
          <a:bodyPr>
            <a:noAutofit/>
          </a:bodyPr>
          <a:lstStyle/>
          <a:p>
            <a:r>
              <a:rPr lang="en-US" sz="3200" dirty="0"/>
              <a:t>Directed fishery “extended” total catch size comps</a:t>
            </a:r>
            <a:endParaRPr lang="en-US" sz="3200" dirty="0">
              <a:latin typeface="+mn-lt"/>
            </a:endParaRPr>
          </a:p>
        </p:txBody>
      </p:sp>
      <p:pic>
        <p:nvPicPr>
          <p:cNvPr id="2" name="Picture 1">
            <a:extLst>
              <a:ext uri="{FF2B5EF4-FFF2-40B4-BE49-F238E27FC236}">
                <a16:creationId xmlns:a16="http://schemas.microsoft.com/office/drawing/2014/main" id="{ABB1A09D-7F5A-FDA4-569D-33F3162A8252}"/>
              </a:ext>
            </a:extLst>
          </p:cNvPr>
          <p:cNvPicPr>
            <a:picLocks noChangeAspect="1"/>
          </p:cNvPicPr>
          <p:nvPr/>
        </p:nvPicPr>
        <p:blipFill>
          <a:blip r:embed="rId3"/>
          <a:stretch>
            <a:fillRect/>
          </a:stretch>
        </p:blipFill>
        <p:spPr>
          <a:xfrm>
            <a:off x="6033149" y="1215735"/>
            <a:ext cx="6158852" cy="4312228"/>
          </a:xfrm>
          <a:prstGeom prst="rect">
            <a:avLst/>
          </a:prstGeom>
        </p:spPr>
      </p:pic>
      <p:sp>
        <p:nvSpPr>
          <p:cNvPr id="6" name="TextBox 5">
            <a:extLst>
              <a:ext uri="{FF2B5EF4-FFF2-40B4-BE49-F238E27FC236}">
                <a16:creationId xmlns:a16="http://schemas.microsoft.com/office/drawing/2014/main" id="{ADF7C28C-9338-0ABA-C4C1-A843E4E23AB8}"/>
              </a:ext>
            </a:extLst>
          </p:cNvPr>
          <p:cNvSpPr txBox="1"/>
          <p:nvPr/>
        </p:nvSpPr>
        <p:spPr>
          <a:xfrm>
            <a:off x="3475048" y="5646746"/>
            <a:ext cx="5363969" cy="400110"/>
          </a:xfrm>
          <a:prstGeom prst="rect">
            <a:avLst/>
          </a:prstGeom>
          <a:noFill/>
        </p:spPr>
        <p:txBody>
          <a:bodyPr wrap="none" rtlCol="0">
            <a:spAutoFit/>
          </a:bodyPr>
          <a:lstStyle/>
          <a:p>
            <a:pPr marL="285750" indent="-285750">
              <a:buFont typeface="Arial" panose="020B0604020202020204" pitchFamily="34" charset="0"/>
              <a:buChar char="•"/>
            </a:pPr>
            <a:r>
              <a:rPr lang="en-US" sz="2000" b="1" dirty="0">
                <a:solidFill>
                  <a:srgbClr val="00B0F0"/>
                </a:solidFill>
              </a:rPr>
              <a:t>with scaling by sex-specific fishery capture rates</a:t>
            </a:r>
          </a:p>
        </p:txBody>
      </p:sp>
      <p:pic>
        <p:nvPicPr>
          <p:cNvPr id="7" name="Picture 6">
            <a:extLst>
              <a:ext uri="{FF2B5EF4-FFF2-40B4-BE49-F238E27FC236}">
                <a16:creationId xmlns:a16="http://schemas.microsoft.com/office/drawing/2014/main" id="{E904EC83-9CE9-B19F-E711-4B58135FC043}"/>
              </a:ext>
            </a:extLst>
          </p:cNvPr>
          <p:cNvPicPr>
            <a:picLocks noChangeAspect="1"/>
          </p:cNvPicPr>
          <p:nvPr/>
        </p:nvPicPr>
        <p:blipFill>
          <a:blip r:embed="rId4"/>
          <a:stretch>
            <a:fillRect/>
          </a:stretch>
        </p:blipFill>
        <p:spPr>
          <a:xfrm>
            <a:off x="18355" y="1272885"/>
            <a:ext cx="6056863" cy="4197927"/>
          </a:xfrm>
          <a:prstGeom prst="rect">
            <a:avLst/>
          </a:prstGeom>
        </p:spPr>
      </p:pic>
      <p:sp>
        <p:nvSpPr>
          <p:cNvPr id="8" name="TextBox 7">
            <a:extLst>
              <a:ext uri="{FF2B5EF4-FFF2-40B4-BE49-F238E27FC236}">
                <a16:creationId xmlns:a16="http://schemas.microsoft.com/office/drawing/2014/main" id="{9D66F87C-C1BC-B2F4-826E-3900474F7128}"/>
              </a:ext>
            </a:extLst>
          </p:cNvPr>
          <p:cNvSpPr txBox="1"/>
          <p:nvPr/>
        </p:nvSpPr>
        <p:spPr>
          <a:xfrm>
            <a:off x="2275609" y="886262"/>
            <a:ext cx="1965603" cy="369332"/>
          </a:xfrm>
          <a:prstGeom prst="rect">
            <a:avLst/>
          </a:prstGeom>
          <a:noFill/>
        </p:spPr>
        <p:txBody>
          <a:bodyPr wrap="none" rtlCol="0">
            <a:spAutoFit/>
          </a:bodyPr>
          <a:lstStyle/>
          <a:p>
            <a:r>
              <a:rPr lang="en-US" dirty="0"/>
              <a:t>observed size comps</a:t>
            </a:r>
          </a:p>
        </p:txBody>
      </p:sp>
      <p:sp>
        <p:nvSpPr>
          <p:cNvPr id="9" name="TextBox 8">
            <a:extLst>
              <a:ext uri="{FF2B5EF4-FFF2-40B4-BE49-F238E27FC236}">
                <a16:creationId xmlns:a16="http://schemas.microsoft.com/office/drawing/2014/main" id="{7DED2386-C3B8-94AC-7591-2BB37077AA1D}"/>
              </a:ext>
            </a:extLst>
          </p:cNvPr>
          <p:cNvSpPr txBox="1"/>
          <p:nvPr/>
        </p:nvSpPr>
        <p:spPr>
          <a:xfrm>
            <a:off x="8123500" y="886262"/>
            <a:ext cx="1965603" cy="369332"/>
          </a:xfrm>
          <a:prstGeom prst="rect">
            <a:avLst/>
          </a:prstGeom>
          <a:noFill/>
        </p:spPr>
        <p:txBody>
          <a:bodyPr wrap="none" rtlCol="0">
            <a:spAutoFit/>
          </a:bodyPr>
          <a:lstStyle/>
          <a:p>
            <a:r>
              <a:rPr lang="en-US" dirty="0"/>
              <a:t>predicted size comps</a:t>
            </a:r>
          </a:p>
        </p:txBody>
      </p:sp>
      <p:pic>
        <p:nvPicPr>
          <p:cNvPr id="5" name="Picture 4">
            <a:extLst>
              <a:ext uri="{FF2B5EF4-FFF2-40B4-BE49-F238E27FC236}">
                <a16:creationId xmlns:a16="http://schemas.microsoft.com/office/drawing/2014/main" id="{839D3871-781E-999B-6D79-3EF3D91C8129}"/>
              </a:ext>
            </a:extLst>
          </p:cNvPr>
          <p:cNvPicPr>
            <a:picLocks noChangeAspect="1"/>
          </p:cNvPicPr>
          <p:nvPr/>
        </p:nvPicPr>
        <p:blipFill>
          <a:blip r:embed="rId5"/>
          <a:stretch>
            <a:fillRect/>
          </a:stretch>
        </p:blipFill>
        <p:spPr>
          <a:xfrm>
            <a:off x="2896460" y="4751070"/>
            <a:ext cx="723900" cy="520700"/>
          </a:xfrm>
          <a:prstGeom prst="rect">
            <a:avLst/>
          </a:prstGeom>
        </p:spPr>
      </p:pic>
    </p:spTree>
    <p:extLst>
      <p:ext uri="{BB962C8B-B14F-4D97-AF65-F5344CB8AC3E}">
        <p14:creationId xmlns:p14="http://schemas.microsoft.com/office/powerpoint/2010/main" val="2135749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8D26E-001D-9539-E61A-BBCF0D0863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C88835-3CC7-D66F-6DFE-197BCC9AD278}"/>
              </a:ext>
            </a:extLst>
          </p:cNvPr>
          <p:cNvSpPr>
            <a:spLocks noGrp="1"/>
          </p:cNvSpPr>
          <p:nvPr>
            <p:ph type="title"/>
          </p:nvPr>
        </p:nvSpPr>
        <p:spPr>
          <a:xfrm>
            <a:off x="223673" y="176443"/>
            <a:ext cx="8814415" cy="520399"/>
          </a:xfrm>
        </p:spPr>
        <p:txBody>
          <a:bodyPr>
            <a:noAutofit/>
          </a:bodyPr>
          <a:lstStyle/>
          <a:p>
            <a:r>
              <a:rPr lang="en-US" sz="3200" dirty="0"/>
              <a:t>Fits to directed fishery t</a:t>
            </a:r>
            <a:r>
              <a:rPr lang="en-US" sz="3200" dirty="0">
                <a:latin typeface="+mn-lt"/>
              </a:rPr>
              <a:t>otal catch size comps </a:t>
            </a:r>
          </a:p>
        </p:txBody>
      </p:sp>
      <p:pic>
        <p:nvPicPr>
          <p:cNvPr id="2" name="Picture 1">
            <a:extLst>
              <a:ext uri="{FF2B5EF4-FFF2-40B4-BE49-F238E27FC236}">
                <a16:creationId xmlns:a16="http://schemas.microsoft.com/office/drawing/2014/main" id="{86433210-F928-0366-9BE5-7DDB10085C12}"/>
              </a:ext>
            </a:extLst>
          </p:cNvPr>
          <p:cNvPicPr>
            <a:picLocks noChangeAspect="1"/>
          </p:cNvPicPr>
          <p:nvPr/>
        </p:nvPicPr>
        <p:blipFill>
          <a:blip r:embed="rId3"/>
          <a:stretch>
            <a:fillRect/>
          </a:stretch>
        </p:blipFill>
        <p:spPr>
          <a:xfrm>
            <a:off x="0" y="1323008"/>
            <a:ext cx="6039485" cy="4235746"/>
          </a:xfrm>
          <a:prstGeom prst="rect">
            <a:avLst/>
          </a:prstGeom>
        </p:spPr>
      </p:pic>
      <p:pic>
        <p:nvPicPr>
          <p:cNvPr id="3" name="Picture 2">
            <a:extLst>
              <a:ext uri="{FF2B5EF4-FFF2-40B4-BE49-F238E27FC236}">
                <a16:creationId xmlns:a16="http://schemas.microsoft.com/office/drawing/2014/main" id="{63B3CF29-5D54-C6CA-9699-CFA3C3E69060}"/>
              </a:ext>
            </a:extLst>
          </p:cNvPr>
          <p:cNvPicPr>
            <a:picLocks noChangeAspect="1"/>
          </p:cNvPicPr>
          <p:nvPr/>
        </p:nvPicPr>
        <p:blipFill>
          <a:blip r:embed="rId4"/>
          <a:stretch>
            <a:fillRect/>
          </a:stretch>
        </p:blipFill>
        <p:spPr>
          <a:xfrm>
            <a:off x="2657792" y="4843157"/>
            <a:ext cx="723900" cy="520700"/>
          </a:xfrm>
          <a:prstGeom prst="rect">
            <a:avLst/>
          </a:prstGeom>
        </p:spPr>
      </p:pic>
      <p:pic>
        <p:nvPicPr>
          <p:cNvPr id="5" name="Picture 4">
            <a:extLst>
              <a:ext uri="{FF2B5EF4-FFF2-40B4-BE49-F238E27FC236}">
                <a16:creationId xmlns:a16="http://schemas.microsoft.com/office/drawing/2014/main" id="{CDF53E64-990B-D855-5C86-FDCB0CB14EC8}"/>
              </a:ext>
            </a:extLst>
          </p:cNvPr>
          <p:cNvPicPr>
            <a:picLocks noChangeAspect="1"/>
          </p:cNvPicPr>
          <p:nvPr/>
        </p:nvPicPr>
        <p:blipFill>
          <a:blip r:embed="rId5"/>
          <a:stretch>
            <a:fillRect/>
          </a:stretch>
        </p:blipFill>
        <p:spPr>
          <a:xfrm>
            <a:off x="6096000" y="1299246"/>
            <a:ext cx="6010564" cy="4181262"/>
          </a:xfrm>
          <a:prstGeom prst="rect">
            <a:avLst/>
          </a:prstGeom>
        </p:spPr>
      </p:pic>
      <p:sp>
        <p:nvSpPr>
          <p:cNvPr id="6" name="TextBox 5">
            <a:extLst>
              <a:ext uri="{FF2B5EF4-FFF2-40B4-BE49-F238E27FC236}">
                <a16:creationId xmlns:a16="http://schemas.microsoft.com/office/drawing/2014/main" id="{030FBC78-3B29-3328-4647-2EA24D2C7522}"/>
              </a:ext>
            </a:extLst>
          </p:cNvPr>
          <p:cNvSpPr txBox="1"/>
          <p:nvPr/>
        </p:nvSpPr>
        <p:spPr>
          <a:xfrm>
            <a:off x="2919845" y="966355"/>
            <a:ext cx="689612" cy="369332"/>
          </a:xfrm>
          <a:prstGeom prst="rect">
            <a:avLst/>
          </a:prstGeom>
          <a:noFill/>
        </p:spPr>
        <p:txBody>
          <a:bodyPr wrap="none" rtlCol="0">
            <a:spAutoFit/>
          </a:bodyPr>
          <a:lstStyle/>
          <a:p>
            <a:r>
              <a:rPr lang="en-US" dirty="0"/>
              <a:t>males</a:t>
            </a:r>
          </a:p>
        </p:txBody>
      </p:sp>
      <p:sp>
        <p:nvSpPr>
          <p:cNvPr id="7" name="TextBox 6">
            <a:extLst>
              <a:ext uri="{FF2B5EF4-FFF2-40B4-BE49-F238E27FC236}">
                <a16:creationId xmlns:a16="http://schemas.microsoft.com/office/drawing/2014/main" id="{7A67E31B-9F66-917E-F8E7-4F1057F1E1E2}"/>
              </a:ext>
            </a:extLst>
          </p:cNvPr>
          <p:cNvSpPr txBox="1"/>
          <p:nvPr/>
        </p:nvSpPr>
        <p:spPr>
          <a:xfrm>
            <a:off x="8677127" y="929914"/>
            <a:ext cx="848309" cy="369332"/>
          </a:xfrm>
          <a:prstGeom prst="rect">
            <a:avLst/>
          </a:prstGeom>
          <a:noFill/>
        </p:spPr>
        <p:txBody>
          <a:bodyPr wrap="none" rtlCol="0">
            <a:spAutoFit/>
          </a:bodyPr>
          <a:lstStyle/>
          <a:p>
            <a:r>
              <a:rPr lang="en-US" dirty="0"/>
              <a:t>females</a:t>
            </a:r>
          </a:p>
        </p:txBody>
      </p:sp>
      <p:sp>
        <p:nvSpPr>
          <p:cNvPr id="8" name="TextBox 7">
            <a:extLst>
              <a:ext uri="{FF2B5EF4-FFF2-40B4-BE49-F238E27FC236}">
                <a16:creationId xmlns:a16="http://schemas.microsoft.com/office/drawing/2014/main" id="{BB767CD1-C35E-AD2B-CF99-759E8B9B322F}"/>
              </a:ext>
            </a:extLst>
          </p:cNvPr>
          <p:cNvSpPr txBox="1"/>
          <p:nvPr/>
        </p:nvSpPr>
        <p:spPr>
          <a:xfrm>
            <a:off x="8489373" y="4966855"/>
            <a:ext cx="1577676" cy="646331"/>
          </a:xfrm>
          <a:prstGeom prst="rect">
            <a:avLst/>
          </a:prstGeom>
          <a:noFill/>
        </p:spPr>
        <p:txBody>
          <a:bodyPr wrap="none" rtlCol="0">
            <a:spAutoFit/>
          </a:bodyPr>
          <a:lstStyle/>
          <a:p>
            <a:r>
              <a:rPr lang="en-US" dirty="0"/>
              <a:t>Lines: predicted</a:t>
            </a:r>
          </a:p>
          <a:p>
            <a:r>
              <a:rPr lang="en-US" dirty="0"/>
              <a:t>points: observed</a:t>
            </a:r>
          </a:p>
        </p:txBody>
      </p:sp>
    </p:spTree>
    <p:extLst>
      <p:ext uri="{BB962C8B-B14F-4D97-AF65-F5344CB8AC3E}">
        <p14:creationId xmlns:p14="http://schemas.microsoft.com/office/powerpoint/2010/main" val="845227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F9A57-4BF4-827D-F770-14AB04A213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A3B72D-DB9E-67EA-0FEA-A12861FD3D54}"/>
              </a:ext>
            </a:extLst>
          </p:cNvPr>
          <p:cNvSpPr>
            <a:spLocks noGrp="1"/>
          </p:cNvSpPr>
          <p:nvPr>
            <p:ph type="title"/>
          </p:nvPr>
        </p:nvSpPr>
        <p:spPr>
          <a:xfrm>
            <a:off x="223673" y="176443"/>
            <a:ext cx="8814415" cy="520399"/>
          </a:xfrm>
        </p:spPr>
        <p:txBody>
          <a:bodyPr>
            <a:noAutofit/>
          </a:bodyPr>
          <a:lstStyle/>
          <a:p>
            <a:r>
              <a:rPr lang="en-US" sz="3200" dirty="0">
                <a:latin typeface="+mn-lt"/>
              </a:rPr>
              <a:t>Management </a:t>
            </a:r>
            <a:br>
              <a:rPr lang="en-US" sz="3200" dirty="0">
                <a:latin typeface="+mn-lt"/>
              </a:rPr>
            </a:br>
            <a:r>
              <a:rPr lang="en-US" sz="3200" dirty="0">
                <a:latin typeface="+mn-lt"/>
              </a:rPr>
              <a:t>Quantities</a:t>
            </a:r>
          </a:p>
        </p:txBody>
      </p:sp>
      <p:pic>
        <p:nvPicPr>
          <p:cNvPr id="2" name="Picture 1">
            <a:extLst>
              <a:ext uri="{FF2B5EF4-FFF2-40B4-BE49-F238E27FC236}">
                <a16:creationId xmlns:a16="http://schemas.microsoft.com/office/drawing/2014/main" id="{595D5FEC-2739-3DB9-7402-9DF7BDE68FFA}"/>
              </a:ext>
            </a:extLst>
          </p:cNvPr>
          <p:cNvPicPr>
            <a:picLocks noChangeAspect="1"/>
          </p:cNvPicPr>
          <p:nvPr/>
        </p:nvPicPr>
        <p:blipFill>
          <a:blip r:embed="rId3"/>
          <a:stretch>
            <a:fillRect/>
          </a:stretch>
        </p:blipFill>
        <p:spPr>
          <a:xfrm>
            <a:off x="2348810" y="176443"/>
            <a:ext cx="9843190" cy="6513876"/>
          </a:xfrm>
          <a:prstGeom prst="rect">
            <a:avLst/>
          </a:prstGeom>
        </p:spPr>
      </p:pic>
    </p:spTree>
    <p:extLst>
      <p:ext uri="{BB962C8B-B14F-4D97-AF65-F5344CB8AC3E}">
        <p14:creationId xmlns:p14="http://schemas.microsoft.com/office/powerpoint/2010/main" val="482232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67284-1136-1BC7-B192-091D4405A7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6BA4CC-8F23-004F-ED4E-AB18804078B4}"/>
              </a:ext>
            </a:extLst>
          </p:cNvPr>
          <p:cNvSpPr>
            <a:spLocks noGrp="1"/>
          </p:cNvSpPr>
          <p:nvPr>
            <p:ph type="title"/>
          </p:nvPr>
        </p:nvSpPr>
        <p:spPr>
          <a:xfrm>
            <a:off x="223673" y="176443"/>
            <a:ext cx="8814415" cy="520399"/>
          </a:xfrm>
        </p:spPr>
        <p:txBody>
          <a:bodyPr>
            <a:noAutofit/>
          </a:bodyPr>
          <a:lstStyle/>
          <a:p>
            <a:r>
              <a:rPr lang="en-US" sz="3200" dirty="0">
                <a:latin typeface="+mn-lt"/>
              </a:rPr>
              <a:t>Wrap-up</a:t>
            </a:r>
          </a:p>
        </p:txBody>
      </p:sp>
      <p:sp>
        <p:nvSpPr>
          <p:cNvPr id="2" name="TextBox 1">
            <a:extLst>
              <a:ext uri="{FF2B5EF4-FFF2-40B4-BE49-F238E27FC236}">
                <a16:creationId xmlns:a16="http://schemas.microsoft.com/office/drawing/2014/main" id="{AE42454F-3279-3921-2147-764C243B9A8B}"/>
              </a:ext>
            </a:extLst>
          </p:cNvPr>
          <p:cNvSpPr txBox="1"/>
          <p:nvPr/>
        </p:nvSpPr>
        <p:spPr>
          <a:xfrm>
            <a:off x="2330385" y="940955"/>
            <a:ext cx="8608895" cy="4770537"/>
          </a:xfrm>
          <a:prstGeom prst="rect">
            <a:avLst/>
          </a:prstGeom>
          <a:noFill/>
        </p:spPr>
        <p:txBody>
          <a:bodyPr wrap="none" rtlCol="0">
            <a:spAutoFit/>
          </a:bodyPr>
          <a:lstStyle/>
          <a:p>
            <a:r>
              <a:rPr lang="en-US" sz="2800" dirty="0"/>
              <a:t>GMACS</a:t>
            </a:r>
          </a:p>
          <a:p>
            <a:r>
              <a:rPr lang="en-US" sz="2400" i="1" dirty="0"/>
              <a:t>Estimation</a:t>
            </a:r>
          </a:p>
          <a:p>
            <a:pPr marL="285750" indent="-285750">
              <a:buFont typeface="Arial" panose="020B0604020202020204" pitchFamily="34" charset="0"/>
              <a:buChar char="•"/>
            </a:pPr>
            <a:r>
              <a:rPr lang="en-US" sz="2000" dirty="0"/>
              <a:t>GMACS model converges, but not to TCSAM02 MLE </a:t>
            </a:r>
          </a:p>
          <a:p>
            <a:pPr marL="285750" indent="-285750">
              <a:buFont typeface="Arial" panose="020B0604020202020204" pitchFamily="34" charset="0"/>
              <a:buChar char="•"/>
            </a:pPr>
            <a:r>
              <a:rPr lang="en-US" sz="2000" dirty="0"/>
              <a:t>Need to ensure priors and penalties are equivalent between the frameworks</a:t>
            </a:r>
          </a:p>
          <a:p>
            <a:r>
              <a:rPr lang="en-US" sz="2400" i="1" dirty="0"/>
              <a:t>Further work (before September)</a:t>
            </a:r>
            <a:endParaRPr lang="en-US" sz="2000" i="1" dirty="0"/>
          </a:p>
          <a:p>
            <a:pPr marL="285750" indent="-285750">
              <a:buFont typeface="Arial" panose="020B0604020202020204" pitchFamily="34" charset="0"/>
              <a:buChar char="•"/>
            </a:pPr>
            <a:r>
              <a:rPr lang="en-US" sz="2000" dirty="0"/>
              <a:t>reconcile OFL calculations</a:t>
            </a:r>
          </a:p>
          <a:p>
            <a:pPr marL="285750" indent="-285750">
              <a:buFont typeface="Arial" panose="020B0604020202020204" pitchFamily="34" charset="0"/>
              <a:buChar char="•"/>
            </a:pPr>
            <a:endParaRPr lang="en-US" sz="2000" dirty="0"/>
          </a:p>
          <a:p>
            <a:r>
              <a:rPr lang="en-US" sz="2800" dirty="0"/>
              <a:t>Proposed models</a:t>
            </a:r>
          </a:p>
          <a:p>
            <a:pPr marL="285750" indent="-285750">
              <a:buFont typeface="Arial" panose="020B0604020202020204" pitchFamily="34" charset="0"/>
              <a:buChar char="•"/>
            </a:pPr>
            <a:r>
              <a:rPr lang="en-US" sz="2400" dirty="0"/>
              <a:t>use new maturity workflow</a:t>
            </a:r>
          </a:p>
          <a:p>
            <a:pPr marL="285750" indent="-285750">
              <a:buFont typeface="Arial" panose="020B0604020202020204" pitchFamily="34" charset="0"/>
              <a:buChar char="•"/>
            </a:pPr>
            <a:r>
              <a:rPr lang="en-US" sz="2400" dirty="0"/>
              <a:t>bespoke TCSAM02 model updated with 2025/26 fishery and survey data</a:t>
            </a:r>
          </a:p>
          <a:p>
            <a:pPr marL="285750" indent="-285750">
              <a:buFont typeface="Arial" panose="020B0604020202020204" pitchFamily="34" charset="0"/>
              <a:buChar char="•"/>
            </a:pPr>
            <a:r>
              <a:rPr lang="en-US" sz="2400" dirty="0"/>
              <a:t>matching GMACS model with 2025/26 fishery and survey data</a:t>
            </a:r>
          </a:p>
          <a:p>
            <a:pPr marL="742950" lvl="1" indent="-285750">
              <a:buFont typeface="Arial" panose="020B0604020202020204" pitchFamily="34" charset="0"/>
              <a:buChar char="•"/>
            </a:pPr>
            <a:r>
              <a:rPr lang="en-US" sz="2400" dirty="0"/>
              <a:t>priors, penalties to match TCSAM02 as closely as possible</a:t>
            </a:r>
          </a:p>
          <a:p>
            <a:pPr marL="742950" lvl="1" indent="-285750">
              <a:buFont typeface="Arial" panose="020B0604020202020204" pitchFamily="34" charset="0"/>
              <a:buChar char="•"/>
            </a:pPr>
            <a:r>
              <a:rPr lang="en-US" sz="2400" dirty="0"/>
              <a:t>use GMACS OFL calculations</a:t>
            </a:r>
          </a:p>
        </p:txBody>
      </p:sp>
    </p:spTree>
    <p:extLst>
      <p:ext uri="{BB962C8B-B14F-4D97-AF65-F5344CB8AC3E}">
        <p14:creationId xmlns:p14="http://schemas.microsoft.com/office/powerpoint/2010/main" val="2413562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D659D-5690-72DC-E55E-C914B8CF64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DD7671-8345-6E33-881B-F0B1462912E9}"/>
              </a:ext>
            </a:extLst>
          </p:cNvPr>
          <p:cNvSpPr>
            <a:spLocks noGrp="1"/>
          </p:cNvSpPr>
          <p:nvPr>
            <p:ph type="title"/>
          </p:nvPr>
        </p:nvSpPr>
        <p:spPr>
          <a:xfrm>
            <a:off x="116340" y="221870"/>
            <a:ext cx="3010392" cy="527937"/>
          </a:xfrm>
        </p:spPr>
        <p:txBody>
          <a:bodyPr>
            <a:noAutofit/>
          </a:bodyPr>
          <a:lstStyle/>
          <a:p>
            <a:r>
              <a:rPr lang="en-US" sz="3200" dirty="0">
                <a:latin typeface="+mn-lt"/>
              </a:rPr>
              <a:t>TCSAM02 </a:t>
            </a:r>
            <a:br>
              <a:rPr lang="en-US" sz="3200" dirty="0">
                <a:latin typeface="+mn-lt"/>
              </a:rPr>
            </a:br>
            <a:r>
              <a:rPr lang="en-US" sz="3200" dirty="0">
                <a:latin typeface="+mn-lt"/>
              </a:rPr>
              <a:t>Models </a:t>
            </a:r>
          </a:p>
        </p:txBody>
      </p:sp>
    </p:spTree>
    <p:extLst>
      <p:ext uri="{BB962C8B-B14F-4D97-AF65-F5344CB8AC3E}">
        <p14:creationId xmlns:p14="http://schemas.microsoft.com/office/powerpoint/2010/main" val="2081170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E78E6-0269-8A46-B92D-8B092A920324}"/>
              </a:ext>
            </a:extLst>
          </p:cNvPr>
          <p:cNvSpPr>
            <a:spLocks noGrp="1"/>
          </p:cNvSpPr>
          <p:nvPr>
            <p:ph type="title"/>
          </p:nvPr>
        </p:nvSpPr>
        <p:spPr>
          <a:xfrm>
            <a:off x="163212" y="122804"/>
            <a:ext cx="7886700" cy="520399"/>
          </a:xfrm>
        </p:spPr>
        <p:txBody>
          <a:bodyPr>
            <a:noAutofit/>
          </a:bodyPr>
          <a:lstStyle/>
          <a:p>
            <a:r>
              <a:rPr lang="en-US" sz="3200" dirty="0"/>
              <a:t>Proposed Tier 3 models </a:t>
            </a:r>
            <a:r>
              <a:rPr lang="en-US" sz="3200" dirty="0">
                <a:latin typeface="+mn-lt"/>
              </a:rPr>
              <a:t>for September</a:t>
            </a:r>
          </a:p>
        </p:txBody>
      </p:sp>
      <p:sp>
        <p:nvSpPr>
          <p:cNvPr id="2" name="TextBox 1">
            <a:extLst>
              <a:ext uri="{FF2B5EF4-FFF2-40B4-BE49-F238E27FC236}">
                <a16:creationId xmlns:a16="http://schemas.microsoft.com/office/drawing/2014/main" id="{0669E4AE-DB39-DC48-BE8F-7A5BEF0C7A2C}"/>
              </a:ext>
            </a:extLst>
          </p:cNvPr>
          <p:cNvSpPr txBox="1"/>
          <p:nvPr/>
        </p:nvSpPr>
        <p:spPr>
          <a:xfrm>
            <a:off x="1738887" y="1259175"/>
            <a:ext cx="8714225" cy="4339650"/>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800" dirty="0"/>
              <a:t>2024 assessment model (TCSAM02 22.03d5) is “base” model</a:t>
            </a:r>
          </a:p>
          <a:p>
            <a:pPr marL="742950" lvl="1" indent="-285750">
              <a:buFont typeface="Arial" panose="020B0604020202020204" pitchFamily="34" charset="0"/>
              <a:buChar char="•"/>
            </a:pPr>
            <a:r>
              <a:rPr lang="en-US" sz="2400" dirty="0"/>
              <a:t>update with 2024/25 fishery/survey data</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800" dirty="0"/>
              <a:t>TCSAM02 25_02 model </a:t>
            </a:r>
          </a:p>
          <a:p>
            <a:pPr marL="742950" lvl="1" indent="-285750">
              <a:buFont typeface="Arial" panose="020B0604020202020204" pitchFamily="34" charset="0"/>
              <a:buChar char="•"/>
            </a:pPr>
            <a:r>
              <a:rPr lang="en-US" sz="2400" dirty="0"/>
              <a:t>with SBS-derived NMFS survey capture probabilities</a:t>
            </a:r>
            <a:endParaRPr lang="en-US" sz="2800" dirty="0"/>
          </a:p>
          <a:p>
            <a:endParaRPr lang="en-US" sz="2000" dirty="0"/>
          </a:p>
          <a:p>
            <a:pPr marL="285750" indent="-285750">
              <a:buFont typeface="Arial" panose="020B0604020202020204" pitchFamily="34" charset="0"/>
              <a:buChar char="•"/>
            </a:pPr>
            <a:r>
              <a:rPr lang="en-US" sz="2800" dirty="0"/>
              <a:t>GMACS G25_05</a:t>
            </a:r>
            <a:endParaRPr lang="en-US" sz="2400" dirty="0"/>
          </a:p>
          <a:p>
            <a:pPr marL="742950" lvl="1" indent="-285750">
              <a:buFont typeface="Arial" panose="020B0604020202020204" pitchFamily="34" charset="0"/>
              <a:buChar char="•"/>
            </a:pPr>
            <a:r>
              <a:rPr lang="en-US" sz="2400" dirty="0"/>
              <a:t>resolve scaling differences with TCSAM02 model</a:t>
            </a:r>
          </a:p>
          <a:p>
            <a:pPr marL="742950" lvl="1" indent="-285750">
              <a:buFont typeface="Arial" panose="020B0604020202020204" pitchFamily="34" charset="0"/>
              <a:buChar char="•"/>
            </a:pPr>
            <a:r>
              <a:rPr lang="en-US" sz="2400" dirty="0"/>
              <a:t>provide complete analysis </a:t>
            </a:r>
          </a:p>
          <a:p>
            <a:pPr marL="1200150" lvl="2" indent="-285750">
              <a:buFont typeface="Arial" panose="020B0604020202020204" pitchFamily="34" charset="0"/>
              <a:buChar char="•"/>
            </a:pPr>
            <a:r>
              <a:rPr lang="en-US" sz="2400" dirty="0"/>
              <a:t>management quantities, </a:t>
            </a:r>
          </a:p>
          <a:p>
            <a:pPr marL="1200150" lvl="2" indent="-285750">
              <a:buFont typeface="Arial" panose="020B0604020202020204" pitchFamily="34" charset="0"/>
              <a:buChar char="•"/>
            </a:pPr>
            <a:r>
              <a:rPr lang="en-US" sz="2400" dirty="0"/>
              <a:t>retrospective patterns, </a:t>
            </a:r>
            <a:r>
              <a:rPr lang="en-US" sz="2400" dirty="0" err="1"/>
              <a:t>etc</a:t>
            </a:r>
            <a:endParaRPr lang="en-US" sz="2400" dirty="0"/>
          </a:p>
        </p:txBody>
      </p:sp>
    </p:spTree>
    <p:extLst>
      <p:ext uri="{BB962C8B-B14F-4D97-AF65-F5344CB8AC3E}">
        <p14:creationId xmlns:p14="http://schemas.microsoft.com/office/powerpoint/2010/main" val="1313444049"/>
      </p:ext>
    </p:extLst>
  </p:cSld>
  <p:clrMapOvr>
    <a:masterClrMapping/>
  </p:clrMapOvr>
</p:sld>
</file>

<file path=ppt/theme/theme1.xml><?xml version="1.0" encoding="utf-8"?>
<a:theme xmlns:a="http://schemas.openxmlformats.org/drawingml/2006/main" name="NOAA_Fisheries">
  <a:themeElements>
    <a:clrScheme name="Custom 11">
      <a:dk1>
        <a:sysClr val="windowText" lastClr="000000"/>
      </a:dk1>
      <a:lt1>
        <a:sysClr val="window" lastClr="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annerCrab.2019SAFE.CPTMeeting.Presentation.pptx" id="{C07FF72A-A7FA-5944-985E-CB62F0F337AD}" vid="{470F256F-5A14-804C-905B-CD7FB444AA38}"/>
    </a:ext>
  </a:extLst>
</a:theme>
</file>

<file path=ppt/theme/theme2.xml><?xml version="1.0" encoding="utf-8"?>
<a:theme xmlns:a="http://schemas.openxmlformats.org/drawingml/2006/main" name="NOAA Fisheries Content Slides">
  <a:themeElements>
    <a:clrScheme name="Custom 11">
      <a:dk1>
        <a:sysClr val="windowText" lastClr="000000"/>
      </a:dk1>
      <a:lt1>
        <a:sysClr val="window" lastClr="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annerCrab.2019SAFE.CPTMeeting.Presentation.pptx" id="{C07FF72A-A7FA-5944-985E-CB62F0F337AD}" vid="{3CE7A497-1B99-8F40-8A5A-0E3D0E28E34C}"/>
    </a:ext>
  </a:extLst>
</a:theme>
</file>

<file path=ppt/theme/theme3.xml><?xml version="1.0" encoding="utf-8"?>
<a:theme xmlns:a="http://schemas.openxmlformats.org/drawingml/2006/main" name="NOAA Divider Slides">
  <a:themeElements>
    <a:clrScheme name="Custom 11">
      <a:dk1>
        <a:sysClr val="windowText" lastClr="000000"/>
      </a:dk1>
      <a:lt1>
        <a:sysClr val="window" lastClr="FFFFFF"/>
      </a:lt1>
      <a:dk2>
        <a:srgbClr val="00467F"/>
      </a:dk2>
      <a:lt2>
        <a:srgbClr val="CCE7EA"/>
      </a:lt2>
      <a:accent1>
        <a:srgbClr val="008998"/>
      </a:accent1>
      <a:accent2>
        <a:srgbClr val="CC9C4A"/>
      </a:accent2>
      <a:accent3>
        <a:srgbClr val="EA7125"/>
      </a:accent3>
      <a:accent4>
        <a:srgbClr val="738539"/>
      </a:accent4>
      <a:accent5>
        <a:srgbClr val="9C552D"/>
      </a:accent5>
      <a:accent6>
        <a:srgbClr val="C0311A"/>
      </a:accent6>
      <a:hlink>
        <a:srgbClr val="0000FF"/>
      </a:hlink>
      <a:folHlink>
        <a:srgbClr val="800080"/>
      </a:folHlink>
    </a:clrScheme>
    <a:fontScheme name="Horizon">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annerCrab.2019SAFE.CPTMeeting.Presentation.pptx" id="{C07FF72A-A7FA-5944-985E-CB62F0F337AD}" vid="{1D527E59-2320-884A-9981-A0E29823F6D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NOAA_Fisheries</Template>
  <TotalTime>18932</TotalTime>
  <Words>1302</Words>
  <Application>Microsoft Macintosh PowerPoint</Application>
  <PresentationFormat>Widescreen</PresentationFormat>
  <Paragraphs>223</Paragraphs>
  <Slides>36</Slides>
  <Notes>35</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36</vt:i4>
      </vt:variant>
    </vt:vector>
  </HeadingPairs>
  <TitlesOfParts>
    <vt:vector size="43" baseType="lpstr">
      <vt:lpstr>Arial</vt:lpstr>
      <vt:lpstr>Arial Narrow</vt:lpstr>
      <vt:lpstr>Calibri</vt:lpstr>
      <vt:lpstr>Helvetica</vt:lpstr>
      <vt:lpstr>NOAA_Fisheries</vt:lpstr>
      <vt:lpstr>NOAA Fisheries Content Slides</vt:lpstr>
      <vt:lpstr>NOAA Divider Slides</vt:lpstr>
      <vt:lpstr>2026-05 Tanner Crab Report</vt:lpstr>
      <vt:lpstr>Topics</vt:lpstr>
      <vt:lpstr>CPT/SSC Comments</vt:lpstr>
      <vt:lpstr>CPT/SSC Comments</vt:lpstr>
      <vt:lpstr>Assessment Model Results with  “New” Maturity Workflow</vt:lpstr>
      <vt:lpstr>Male  Maturity  Ogives</vt:lpstr>
      <vt:lpstr>PowerPoint Presentation</vt:lpstr>
      <vt:lpstr>Fits to data</vt:lpstr>
      <vt:lpstr>Estimated quantities</vt:lpstr>
      <vt:lpstr>Management Quantities</vt:lpstr>
      <vt:lpstr>Progress toward a GMACS model for Tanner crab</vt:lpstr>
      <vt:lpstr>Tier 3 Assessment Model</vt:lpstr>
      <vt:lpstr>Assessment time frames: data</vt:lpstr>
      <vt:lpstr>Assessment time frames: model processes</vt:lpstr>
      <vt:lpstr>Population dynamics</vt:lpstr>
      <vt:lpstr>Fisheries</vt:lpstr>
      <vt:lpstr>Surveys</vt:lpstr>
      <vt:lpstr>Likelihoods</vt:lpstr>
      <vt:lpstr>GMACS Modifications To Match TCSAM02</vt:lpstr>
      <vt:lpstr>Natural Mortality</vt:lpstr>
      <vt:lpstr>Male growth</vt:lpstr>
      <vt:lpstr>Fully-selected Male Capture F’s</vt:lpstr>
      <vt:lpstr>Recruitment</vt:lpstr>
      <vt:lpstr>Population abundance-at-size for mature males</vt:lpstr>
      <vt:lpstr>Predicted total catch biomass, by fishery</vt:lpstr>
      <vt:lpstr>Predicted NMFS Survey Biomass</vt:lpstr>
      <vt:lpstr>Likelihood differences</vt:lpstr>
      <vt:lpstr>Likelihood differences</vt:lpstr>
      <vt:lpstr>Fits to NMFS survey male size comps</vt:lpstr>
      <vt:lpstr>Directed fishery “extended” total catch size comps</vt:lpstr>
      <vt:lpstr>Directed fishery “extended” total catch size comps</vt:lpstr>
      <vt:lpstr>Fits to directed fishery total catch size comps </vt:lpstr>
      <vt:lpstr>Management  Quantities</vt:lpstr>
      <vt:lpstr>Wrap-up</vt:lpstr>
      <vt:lpstr>TCSAM02  Models </vt:lpstr>
      <vt:lpstr>Proposed Tier 3 models for September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2021 Tanner Crab Stock Assessment</dc:title>
  <dc:creator>William Stockhausen</dc:creator>
  <cp:lastModifiedBy>William Stockhausen</cp:lastModifiedBy>
  <cp:revision>168</cp:revision>
  <cp:lastPrinted>2019-09-09T15:27:44Z</cp:lastPrinted>
  <dcterms:created xsi:type="dcterms:W3CDTF">2021-09-13T01:24:40Z</dcterms:created>
  <dcterms:modified xsi:type="dcterms:W3CDTF">2026-05-12T13:26:03Z</dcterms:modified>
</cp:coreProperties>
</file>